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7" r:id="rId2"/>
    <p:sldId id="266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943007" y="1879890"/>
            <a:ext cx="430598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אנימציה מובנת</a:t>
            </a: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(מוכנה מראש)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4ED8EE-7E2E-1CE4-9A3B-10EF0D55B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0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58B18A-36CB-F420-A2E6-0E632B05D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EF8599-76D3-FEA5-9150-9C10E6A85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6990A12A-7E4B-FB24-791D-314F8299CE44}"/>
              </a:ext>
            </a:extLst>
          </p:cNvPr>
          <p:cNvSpPr/>
          <p:nvPr/>
        </p:nvSpPr>
        <p:spPr>
          <a:xfrm>
            <a:off x="1323790" y="508158"/>
            <a:ext cx="9639177" cy="545380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אנימציה הקיימת בשפת </a:t>
            </a:r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Java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אותה ניתן להפעיל ע"י פעולות מוכנות.</a:t>
            </a:r>
          </a:p>
          <a:p>
            <a:pPr algn="ctr" rtl="1">
              <a:lnSpc>
                <a:spcPct val="150000"/>
              </a:lnSpc>
            </a:pPr>
            <a:endParaRPr lang="he-IL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זה לא אנימציה "אמיתית" כמו בסרטים מצוירים,</a:t>
            </a:r>
          </a:p>
          <a:p>
            <a:pPr algn="ctr" rtl="1">
              <a:lnSpc>
                <a:spcPct val="150000"/>
              </a:lnSpc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אבל היא די פשוטה בהפעלה</a:t>
            </a:r>
          </a:p>
          <a:p>
            <a:pPr algn="ctr" rtl="1">
              <a:lnSpc>
                <a:spcPct val="150000"/>
              </a:lnSpc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וגם דורשת מספיק הבנת תכנות מתלמיד.</a:t>
            </a:r>
          </a:p>
        </p:txBody>
      </p:sp>
    </p:spTree>
    <p:extLst>
      <p:ext uri="{BB962C8B-B14F-4D97-AF65-F5344CB8AC3E}">
        <p14:creationId xmlns:p14="http://schemas.microsoft.com/office/powerpoint/2010/main" val="67439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D296D4-9C54-0186-EE37-7AB39481D531}"/>
              </a:ext>
            </a:extLst>
          </p:cNvPr>
          <p:cNvSpPr txBox="1"/>
          <p:nvPr/>
        </p:nvSpPr>
        <p:spPr>
          <a:xfrm>
            <a:off x="2981232" y="1037678"/>
            <a:ext cx="6728124" cy="60047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algn="ctr" rtl="1">
              <a:lnSpc>
                <a:spcPct val="150000"/>
              </a:lnSpc>
              <a:defRPr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defRPr>
            </a:lvl1pPr>
          </a:lstStyle>
          <a:p>
            <a:r>
              <a:rPr lang="he-IL" sz="3600" u="sng" dirty="0"/>
              <a:t>סוגי האנימציה הזאת </a:t>
            </a:r>
          </a:p>
          <a:p>
            <a:r>
              <a:rPr lang="he-IL" sz="3600" u="sng" dirty="0"/>
              <a:t>הן ממשות תופעות בסיסיות כגון: </a:t>
            </a:r>
          </a:p>
          <a:p>
            <a:r>
              <a:rPr lang="he-IL" sz="3200" dirty="0">
                <a:solidFill>
                  <a:schemeClr val="bg1"/>
                </a:solidFill>
              </a:rPr>
              <a:t>תנועה (</a:t>
            </a:r>
            <a:r>
              <a:rPr lang="en-US" sz="3200" dirty="0">
                <a:solidFill>
                  <a:schemeClr val="bg1"/>
                </a:solidFill>
              </a:rPr>
              <a:t>translate</a:t>
            </a:r>
            <a:r>
              <a:rPr lang="he-IL" sz="3200" dirty="0">
                <a:solidFill>
                  <a:schemeClr val="bg1"/>
                </a:solidFill>
              </a:rPr>
              <a:t>)</a:t>
            </a:r>
          </a:p>
          <a:p>
            <a:r>
              <a:rPr lang="he-IL" sz="3200" dirty="0">
                <a:solidFill>
                  <a:schemeClr val="bg1"/>
                </a:solidFill>
              </a:rPr>
              <a:t>סיבוב (</a:t>
            </a:r>
            <a:r>
              <a:rPr lang="en-US" sz="3200" dirty="0">
                <a:solidFill>
                  <a:schemeClr val="bg1"/>
                </a:solidFill>
              </a:rPr>
              <a:t>rotate</a:t>
            </a:r>
            <a:r>
              <a:rPr lang="he-IL" sz="3200" dirty="0">
                <a:solidFill>
                  <a:schemeClr val="bg1"/>
                </a:solidFill>
              </a:rPr>
              <a:t>)</a:t>
            </a:r>
          </a:p>
          <a:p>
            <a:r>
              <a:rPr lang="he-IL" sz="3200" dirty="0">
                <a:solidFill>
                  <a:schemeClr val="bg1"/>
                </a:solidFill>
              </a:rPr>
              <a:t>שקיפות (</a:t>
            </a:r>
            <a:r>
              <a:rPr lang="en-US" sz="3200" dirty="0">
                <a:solidFill>
                  <a:schemeClr val="bg1"/>
                </a:solidFill>
              </a:rPr>
              <a:t>alpha</a:t>
            </a:r>
            <a:r>
              <a:rPr lang="he-IL" sz="3200" dirty="0">
                <a:solidFill>
                  <a:schemeClr val="bg1"/>
                </a:solidFill>
              </a:rPr>
              <a:t>)</a:t>
            </a:r>
          </a:p>
          <a:p>
            <a:r>
              <a:rPr lang="he-IL" sz="3200" dirty="0">
                <a:solidFill>
                  <a:schemeClr val="bg1"/>
                </a:solidFill>
              </a:rPr>
              <a:t>ממדים (</a:t>
            </a:r>
            <a:r>
              <a:rPr lang="en-US" sz="3200" dirty="0">
                <a:solidFill>
                  <a:schemeClr val="bg1"/>
                </a:solidFill>
              </a:rPr>
              <a:t>scale</a:t>
            </a:r>
            <a:r>
              <a:rPr lang="he-IL" sz="3200" dirty="0">
                <a:solidFill>
                  <a:schemeClr val="bg1"/>
                </a:solidFill>
              </a:rPr>
              <a:t>)</a:t>
            </a:r>
            <a:r>
              <a:rPr lang="he-IL" sz="3600" dirty="0"/>
              <a:t> </a:t>
            </a:r>
          </a:p>
          <a:p>
            <a:r>
              <a:rPr lang="he-IL" sz="3600" dirty="0"/>
              <a:t>ועוד כמה (כולל שילובים של כמה סוגים)</a:t>
            </a:r>
            <a:endParaRPr lang="en-US" sz="3600" dirty="0"/>
          </a:p>
          <a:p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F8D309-21D8-2C05-02A4-3F363BAE9F79}"/>
              </a:ext>
            </a:extLst>
          </p:cNvPr>
          <p:cNvSpPr/>
          <p:nvPr/>
        </p:nvSpPr>
        <p:spPr>
          <a:xfrm>
            <a:off x="4252659" y="22020"/>
            <a:ext cx="235994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0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 Pro Semibold" panose="02040702050405020303" pitchFamily="18" charset="0"/>
                <a:cs typeface="Guttman Drogolin" panose="02010401010101010101" pitchFamily="2" charset="-79"/>
              </a:rPr>
              <a:t>הסבר כללי</a:t>
            </a:r>
            <a:endParaRPr lang="en-US" sz="4000" b="0" u="sng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 Pro Semibold" panose="02040702050405020303" pitchFamily="18" charset="0"/>
              <a:cs typeface="Guttman Drogolin" panose="02010401010101010101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6D5D89-F9BE-678B-E191-18C397F5D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EC5DE1-B358-1E8C-A53A-33BDA9D95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4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F8D309-21D8-2C05-02A4-3F363BAE9F79}"/>
              </a:ext>
            </a:extLst>
          </p:cNvPr>
          <p:cNvSpPr/>
          <p:nvPr/>
        </p:nvSpPr>
        <p:spPr>
          <a:xfrm>
            <a:off x="3181056" y="22020"/>
            <a:ext cx="45031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אנימציית תנועה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0C61B9-B9E4-6DEA-8BBB-D8634898C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631" y="3192759"/>
            <a:ext cx="5730737" cy="472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EBCB70-D749-941B-71BD-0CCFE24F1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78" y="2997761"/>
            <a:ext cx="8095874" cy="667479"/>
          </a:xfrm>
          <a:prstGeom prst="rect">
            <a:avLst/>
          </a:prstGeom>
        </p:spPr>
      </p:pic>
      <p:sp>
        <p:nvSpPr>
          <p:cNvPr id="10" name="הסבר מלבני מעוגל 2">
            <a:extLst>
              <a:ext uri="{FF2B5EF4-FFF2-40B4-BE49-F238E27FC236}">
                <a16:creationId xmlns:a16="http://schemas.microsoft.com/office/drawing/2014/main" id="{3D5D6332-B585-3F6A-7E0A-987645674B56}"/>
              </a:ext>
            </a:extLst>
          </p:cNvPr>
          <p:cNvSpPr/>
          <p:nvPr/>
        </p:nvSpPr>
        <p:spPr>
          <a:xfrm>
            <a:off x="1251333" y="1977505"/>
            <a:ext cx="1154545" cy="528320"/>
          </a:xfrm>
          <a:prstGeom prst="wedgeRoundRectCallout">
            <a:avLst>
              <a:gd name="adj1" fmla="val 88414"/>
              <a:gd name="adj2" fmla="val 196807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רכיב</a:t>
            </a:r>
          </a:p>
        </p:txBody>
      </p:sp>
      <p:sp>
        <p:nvSpPr>
          <p:cNvPr id="11" name="הסבר מלבני מעוגל 9">
            <a:extLst>
              <a:ext uri="{FF2B5EF4-FFF2-40B4-BE49-F238E27FC236}">
                <a16:creationId xmlns:a16="http://schemas.microsoft.com/office/drawing/2014/main" id="{765F45A7-E0E4-BE77-50FA-7D56D07D2644}"/>
              </a:ext>
            </a:extLst>
          </p:cNvPr>
          <p:cNvSpPr/>
          <p:nvPr/>
        </p:nvSpPr>
        <p:spPr>
          <a:xfrm>
            <a:off x="3029693" y="1281085"/>
            <a:ext cx="1714268" cy="696420"/>
          </a:xfrm>
          <a:prstGeom prst="wedgeRoundRectCallout">
            <a:avLst>
              <a:gd name="adj1" fmla="val -7438"/>
              <a:gd name="adj2" fmla="val 232687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הפעלת אנימציה מובנת</a:t>
            </a:r>
          </a:p>
        </p:txBody>
      </p:sp>
      <p:sp>
        <p:nvSpPr>
          <p:cNvPr id="12" name="הסבר מלבני מעוגל 10">
            <a:extLst>
              <a:ext uri="{FF2B5EF4-FFF2-40B4-BE49-F238E27FC236}">
                <a16:creationId xmlns:a16="http://schemas.microsoft.com/office/drawing/2014/main" id="{951E449D-5BBD-0844-17B7-AD91CA33F989}"/>
              </a:ext>
            </a:extLst>
          </p:cNvPr>
          <p:cNvSpPr/>
          <p:nvPr/>
        </p:nvSpPr>
        <p:spPr>
          <a:xfrm>
            <a:off x="6864466" y="1160369"/>
            <a:ext cx="3637286" cy="1134596"/>
          </a:xfrm>
          <a:prstGeom prst="wedgeRoundRectCallout">
            <a:avLst>
              <a:gd name="adj1" fmla="val -70927"/>
              <a:gd name="adj2" fmla="val 135007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/>
              <a:t>תנועה על ציר </a:t>
            </a:r>
            <a:r>
              <a:rPr lang="en-US" dirty="0"/>
              <a:t>Y</a:t>
            </a:r>
            <a:r>
              <a:rPr lang="he-IL" dirty="0"/>
              <a:t> (אנכי)</a:t>
            </a:r>
          </a:p>
          <a:p>
            <a:pPr algn="ctr" rtl="1"/>
            <a:r>
              <a:rPr lang="he-IL" dirty="0"/>
              <a:t>כולל קבועת מרחק תנוע</a:t>
            </a:r>
          </a:p>
          <a:p>
            <a:pPr algn="ctr" rtl="1"/>
            <a:r>
              <a:rPr lang="he-IL" dirty="0"/>
              <a:t>מהמיקום התחלתי של הרכיב</a:t>
            </a:r>
          </a:p>
        </p:txBody>
      </p:sp>
      <p:sp>
        <p:nvSpPr>
          <p:cNvPr id="13" name="הסבר מלבני מעוגל 11">
            <a:extLst>
              <a:ext uri="{FF2B5EF4-FFF2-40B4-BE49-F238E27FC236}">
                <a16:creationId xmlns:a16="http://schemas.microsoft.com/office/drawing/2014/main" id="{DE23C795-7C03-B806-D74C-1BD9CC8FA46D}"/>
              </a:ext>
            </a:extLst>
          </p:cNvPr>
          <p:cNvSpPr/>
          <p:nvPr/>
        </p:nvSpPr>
        <p:spPr>
          <a:xfrm>
            <a:off x="5468472" y="4905323"/>
            <a:ext cx="1562616" cy="528320"/>
          </a:xfrm>
          <a:prstGeom prst="wedgeRoundRectCallout">
            <a:avLst>
              <a:gd name="adj1" fmla="val 118287"/>
              <a:gd name="adj2" fmla="val -310052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זמן ביצוע (תנוע)</a:t>
            </a:r>
          </a:p>
        </p:txBody>
      </p:sp>
      <p:sp>
        <p:nvSpPr>
          <p:cNvPr id="14" name="הסבר מלבני מעוגל 11">
            <a:extLst>
              <a:ext uri="{FF2B5EF4-FFF2-40B4-BE49-F238E27FC236}">
                <a16:creationId xmlns:a16="http://schemas.microsoft.com/office/drawing/2014/main" id="{23DD04B0-1232-DBE2-8252-C00D1EFDA085}"/>
              </a:ext>
            </a:extLst>
          </p:cNvPr>
          <p:cNvSpPr/>
          <p:nvPr/>
        </p:nvSpPr>
        <p:spPr>
          <a:xfrm>
            <a:off x="9003693" y="5197408"/>
            <a:ext cx="1287789" cy="528320"/>
          </a:xfrm>
          <a:prstGeom prst="wedgeRoundRectCallout">
            <a:avLst>
              <a:gd name="adj1" fmla="val -8500"/>
              <a:gd name="adj2" fmla="val -352473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לבצע!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E6F979-6AFE-DD5E-BC0D-43F4FC2AA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1EE3A1-CADE-CE05-7BCC-62EA1086E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1C6BF8-1B79-AF98-FB2A-2427B7D29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470" y="3333816"/>
            <a:ext cx="8071880" cy="5970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F8D309-21D8-2C05-02A4-3F363BAE9F79}"/>
              </a:ext>
            </a:extLst>
          </p:cNvPr>
          <p:cNvSpPr/>
          <p:nvPr/>
        </p:nvSpPr>
        <p:spPr>
          <a:xfrm>
            <a:off x="3659551" y="22020"/>
            <a:ext cx="354616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0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 Pro Semibold" panose="02040702050405020303" pitchFamily="18" charset="0"/>
                <a:cs typeface="Guttman Drogolin" panose="02010401010101010101" pitchFamily="2" charset="-79"/>
              </a:rPr>
              <a:t>אנימציית תנועה</a:t>
            </a:r>
            <a:endParaRPr lang="en-US" sz="4000" b="0" u="sng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 Pro Semibold" panose="02040702050405020303" pitchFamily="18" charset="0"/>
              <a:cs typeface="Guttman Drogolin" panose="02010401010101010101" pitchFamily="2" charset="-79"/>
            </a:endParaRPr>
          </a:p>
        </p:txBody>
      </p:sp>
      <p:sp>
        <p:nvSpPr>
          <p:cNvPr id="10" name="הסבר מלבני מעוגל 2">
            <a:extLst>
              <a:ext uri="{FF2B5EF4-FFF2-40B4-BE49-F238E27FC236}">
                <a16:creationId xmlns:a16="http://schemas.microsoft.com/office/drawing/2014/main" id="{3D5D6332-B585-3F6A-7E0A-987645674B56}"/>
              </a:ext>
            </a:extLst>
          </p:cNvPr>
          <p:cNvSpPr/>
          <p:nvPr/>
        </p:nvSpPr>
        <p:spPr>
          <a:xfrm>
            <a:off x="1251333" y="1977505"/>
            <a:ext cx="1154545" cy="528320"/>
          </a:xfrm>
          <a:prstGeom prst="wedgeRoundRectCallout">
            <a:avLst>
              <a:gd name="adj1" fmla="val 93073"/>
              <a:gd name="adj2" fmla="val 252803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רכיב</a:t>
            </a:r>
          </a:p>
        </p:txBody>
      </p:sp>
      <p:sp>
        <p:nvSpPr>
          <p:cNvPr id="11" name="הסבר מלבני מעוגל 9">
            <a:extLst>
              <a:ext uri="{FF2B5EF4-FFF2-40B4-BE49-F238E27FC236}">
                <a16:creationId xmlns:a16="http://schemas.microsoft.com/office/drawing/2014/main" id="{765F45A7-E0E4-BE77-50FA-7D56D07D2644}"/>
              </a:ext>
            </a:extLst>
          </p:cNvPr>
          <p:cNvSpPr/>
          <p:nvPr/>
        </p:nvSpPr>
        <p:spPr>
          <a:xfrm>
            <a:off x="3029693" y="1281085"/>
            <a:ext cx="1714268" cy="696420"/>
          </a:xfrm>
          <a:prstGeom prst="wedgeRoundRectCallout">
            <a:avLst>
              <a:gd name="adj1" fmla="val -117"/>
              <a:gd name="adj2" fmla="val 279028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הפעלת אנימציה מובנת</a:t>
            </a:r>
          </a:p>
        </p:txBody>
      </p:sp>
      <p:sp>
        <p:nvSpPr>
          <p:cNvPr id="12" name="הסבר מלבני מעוגל 10">
            <a:extLst>
              <a:ext uri="{FF2B5EF4-FFF2-40B4-BE49-F238E27FC236}">
                <a16:creationId xmlns:a16="http://schemas.microsoft.com/office/drawing/2014/main" id="{951E449D-5BBD-0844-17B7-AD91CA33F989}"/>
              </a:ext>
            </a:extLst>
          </p:cNvPr>
          <p:cNvSpPr/>
          <p:nvPr/>
        </p:nvSpPr>
        <p:spPr>
          <a:xfrm>
            <a:off x="6864466" y="1160369"/>
            <a:ext cx="3637286" cy="1219200"/>
          </a:xfrm>
          <a:prstGeom prst="wedgeRoundRectCallout">
            <a:avLst>
              <a:gd name="adj1" fmla="val -79553"/>
              <a:gd name="adj2" fmla="val 149713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/>
              <a:t>לבצע סיבוב</a:t>
            </a:r>
          </a:p>
          <a:p>
            <a:pPr algn="ctr" rtl="1"/>
            <a:r>
              <a:rPr lang="he-IL" dirty="0"/>
              <a:t>סביב מרכז הרכיב</a:t>
            </a:r>
          </a:p>
          <a:p>
            <a:pPr algn="ctr" rtl="1"/>
            <a:r>
              <a:rPr lang="he-IL" dirty="0"/>
              <a:t>בכיוון השעון</a:t>
            </a:r>
          </a:p>
          <a:p>
            <a:pPr algn="ctr" rtl="1"/>
            <a:r>
              <a:rPr lang="he-IL" dirty="0"/>
              <a:t>כולל קביעת גודל זווית הסיבוב</a:t>
            </a:r>
          </a:p>
        </p:txBody>
      </p:sp>
      <p:sp>
        <p:nvSpPr>
          <p:cNvPr id="13" name="הסבר מלבני מעוגל 11">
            <a:extLst>
              <a:ext uri="{FF2B5EF4-FFF2-40B4-BE49-F238E27FC236}">
                <a16:creationId xmlns:a16="http://schemas.microsoft.com/office/drawing/2014/main" id="{DE23C795-7C03-B806-D74C-1BD9CC8FA46D}"/>
              </a:ext>
            </a:extLst>
          </p:cNvPr>
          <p:cNvSpPr/>
          <p:nvPr/>
        </p:nvSpPr>
        <p:spPr>
          <a:xfrm>
            <a:off x="5127813" y="5234436"/>
            <a:ext cx="1562616" cy="528320"/>
          </a:xfrm>
          <a:prstGeom prst="wedgeRoundRectCallout">
            <a:avLst>
              <a:gd name="adj1" fmla="val 118287"/>
              <a:gd name="adj2" fmla="val -310052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זמן ביצוע (תנוע)</a:t>
            </a:r>
          </a:p>
        </p:txBody>
      </p:sp>
      <p:sp>
        <p:nvSpPr>
          <p:cNvPr id="14" name="הסבר מלבני מעוגל 11">
            <a:extLst>
              <a:ext uri="{FF2B5EF4-FFF2-40B4-BE49-F238E27FC236}">
                <a16:creationId xmlns:a16="http://schemas.microsoft.com/office/drawing/2014/main" id="{23DD04B0-1232-DBE2-8252-C00D1EFDA085}"/>
              </a:ext>
            </a:extLst>
          </p:cNvPr>
          <p:cNvSpPr/>
          <p:nvPr/>
        </p:nvSpPr>
        <p:spPr>
          <a:xfrm>
            <a:off x="9030587" y="5460018"/>
            <a:ext cx="1287789" cy="528320"/>
          </a:xfrm>
          <a:prstGeom prst="wedgeRoundRectCallout">
            <a:avLst>
              <a:gd name="adj1" fmla="val -8500"/>
              <a:gd name="adj2" fmla="val -352473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לבצע!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727892-79C1-1881-BBC3-85D7B2BDE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35A7EF-CC53-76B0-493B-FB5A04638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47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356A8A-2501-E157-DAC5-0B022564E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146" y="3360472"/>
            <a:ext cx="8776639" cy="667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EABBF-7B80-9A2A-4EFD-641A7875B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700" y="0"/>
            <a:ext cx="3457300" cy="667479"/>
          </a:xfrm>
          <a:prstGeom prst="rect">
            <a:avLst/>
          </a:prstGeom>
        </p:spPr>
      </p:pic>
      <p:pic>
        <p:nvPicPr>
          <p:cNvPr id="1028" name="Picture 4" descr="Top Android Studio Alternatives in 2022">
            <a:extLst>
              <a:ext uri="{FF2B5EF4-FFF2-40B4-BE49-F238E27FC236}">
                <a16:creationId xmlns:a16="http://schemas.microsoft.com/office/drawing/2014/main" id="{D03DCF6D-E629-0D29-D281-C6A5AA690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77" y="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F8D309-21D8-2C05-02A4-3F363BAE9F79}"/>
              </a:ext>
            </a:extLst>
          </p:cNvPr>
          <p:cNvSpPr/>
          <p:nvPr/>
        </p:nvSpPr>
        <p:spPr>
          <a:xfrm>
            <a:off x="3659551" y="22020"/>
            <a:ext cx="354616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0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 Pro Semibold" panose="02040702050405020303" pitchFamily="18" charset="0"/>
                <a:cs typeface="Guttman Drogolin" panose="02010401010101010101" pitchFamily="2" charset="-79"/>
              </a:rPr>
              <a:t>אנימציית תנועה</a:t>
            </a:r>
            <a:endParaRPr lang="en-US" sz="4000" b="0" u="sng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 Pro Semibold" panose="02040702050405020303" pitchFamily="18" charset="0"/>
              <a:cs typeface="Guttman Drogolin" panose="02010401010101010101" pitchFamily="2" charset="-79"/>
            </a:endParaRPr>
          </a:p>
        </p:txBody>
      </p:sp>
      <p:sp>
        <p:nvSpPr>
          <p:cNvPr id="10" name="הסבר מלבני מעוגל 2">
            <a:extLst>
              <a:ext uri="{FF2B5EF4-FFF2-40B4-BE49-F238E27FC236}">
                <a16:creationId xmlns:a16="http://schemas.microsoft.com/office/drawing/2014/main" id="{3D5D6332-B585-3F6A-7E0A-987645674B56}"/>
              </a:ext>
            </a:extLst>
          </p:cNvPr>
          <p:cNvSpPr/>
          <p:nvPr/>
        </p:nvSpPr>
        <p:spPr>
          <a:xfrm>
            <a:off x="1251333" y="1977505"/>
            <a:ext cx="1154545" cy="528320"/>
          </a:xfrm>
          <a:prstGeom prst="wedgeRoundRectCallout">
            <a:avLst>
              <a:gd name="adj1" fmla="val 93073"/>
              <a:gd name="adj2" fmla="val 252803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רכיב</a:t>
            </a:r>
          </a:p>
        </p:txBody>
      </p:sp>
      <p:sp>
        <p:nvSpPr>
          <p:cNvPr id="11" name="הסבר מלבני מעוגל 9">
            <a:extLst>
              <a:ext uri="{FF2B5EF4-FFF2-40B4-BE49-F238E27FC236}">
                <a16:creationId xmlns:a16="http://schemas.microsoft.com/office/drawing/2014/main" id="{765F45A7-E0E4-BE77-50FA-7D56D07D2644}"/>
              </a:ext>
            </a:extLst>
          </p:cNvPr>
          <p:cNvSpPr/>
          <p:nvPr/>
        </p:nvSpPr>
        <p:spPr>
          <a:xfrm>
            <a:off x="3029693" y="1281085"/>
            <a:ext cx="1714268" cy="696420"/>
          </a:xfrm>
          <a:prstGeom prst="wedgeRoundRectCallout">
            <a:avLst>
              <a:gd name="adj1" fmla="val -117"/>
              <a:gd name="adj2" fmla="val 279028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הפעלת אנימציה מובנת</a:t>
            </a:r>
          </a:p>
        </p:txBody>
      </p:sp>
      <p:sp>
        <p:nvSpPr>
          <p:cNvPr id="12" name="הסבר מלבני מעוגל 10">
            <a:extLst>
              <a:ext uri="{FF2B5EF4-FFF2-40B4-BE49-F238E27FC236}">
                <a16:creationId xmlns:a16="http://schemas.microsoft.com/office/drawing/2014/main" id="{951E449D-5BBD-0844-17B7-AD91CA33F989}"/>
              </a:ext>
            </a:extLst>
          </p:cNvPr>
          <p:cNvSpPr/>
          <p:nvPr/>
        </p:nvSpPr>
        <p:spPr>
          <a:xfrm>
            <a:off x="6864466" y="1160369"/>
            <a:ext cx="3637286" cy="1219200"/>
          </a:xfrm>
          <a:prstGeom prst="wedgeRoundRectCallout">
            <a:avLst>
              <a:gd name="adj1" fmla="val -79553"/>
              <a:gd name="adj2" fmla="val 149713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/>
              <a:t>לשנות רמת השקיפות</a:t>
            </a:r>
          </a:p>
          <a:p>
            <a:pPr algn="ctr" rtl="1"/>
            <a:r>
              <a:rPr lang="he-IL" dirty="0"/>
              <a:t>מהרמת השקיפות ההתחלתית</a:t>
            </a:r>
          </a:p>
          <a:p>
            <a:pPr algn="ctr" rtl="1"/>
            <a:r>
              <a:rPr lang="he-IL" dirty="0"/>
              <a:t>כולל קביעת רמת השקיפות בסוף</a:t>
            </a:r>
          </a:p>
        </p:txBody>
      </p:sp>
      <p:sp>
        <p:nvSpPr>
          <p:cNvPr id="13" name="הסבר מלבני מעוגל 11">
            <a:extLst>
              <a:ext uri="{FF2B5EF4-FFF2-40B4-BE49-F238E27FC236}">
                <a16:creationId xmlns:a16="http://schemas.microsoft.com/office/drawing/2014/main" id="{DE23C795-7C03-B806-D74C-1BD9CC8FA46D}"/>
              </a:ext>
            </a:extLst>
          </p:cNvPr>
          <p:cNvSpPr/>
          <p:nvPr/>
        </p:nvSpPr>
        <p:spPr>
          <a:xfrm>
            <a:off x="5127813" y="5234436"/>
            <a:ext cx="1562616" cy="528320"/>
          </a:xfrm>
          <a:prstGeom prst="wedgeRoundRectCallout">
            <a:avLst>
              <a:gd name="adj1" fmla="val 118287"/>
              <a:gd name="adj2" fmla="val -310052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זמן ביצוע (תנוע)</a:t>
            </a:r>
          </a:p>
        </p:txBody>
      </p:sp>
      <p:sp>
        <p:nvSpPr>
          <p:cNvPr id="14" name="הסבר מלבני מעוגל 11">
            <a:extLst>
              <a:ext uri="{FF2B5EF4-FFF2-40B4-BE49-F238E27FC236}">
                <a16:creationId xmlns:a16="http://schemas.microsoft.com/office/drawing/2014/main" id="{23DD04B0-1232-DBE2-8252-C00D1EFDA085}"/>
              </a:ext>
            </a:extLst>
          </p:cNvPr>
          <p:cNvSpPr/>
          <p:nvPr/>
        </p:nvSpPr>
        <p:spPr>
          <a:xfrm>
            <a:off x="9030587" y="5460018"/>
            <a:ext cx="1287789" cy="528320"/>
          </a:xfrm>
          <a:prstGeom prst="wedgeRoundRectCallout">
            <a:avLst>
              <a:gd name="adj1" fmla="val -8500"/>
              <a:gd name="adj2" fmla="val -352473"/>
              <a:gd name="adj3" fmla="val 1666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לבצע!</a:t>
            </a:r>
          </a:p>
        </p:txBody>
      </p:sp>
    </p:spTree>
    <p:extLst>
      <p:ext uri="{BB962C8B-B14F-4D97-AF65-F5344CB8AC3E}">
        <p14:creationId xmlns:p14="http://schemas.microsoft.com/office/powerpoint/2010/main" val="33777759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835</TotalTime>
  <Words>152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Assistant</vt:lpstr>
      <vt:lpstr>Georgia Pro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99</cp:revision>
  <dcterms:created xsi:type="dcterms:W3CDTF">2019-01-05T16:01:25Z</dcterms:created>
  <dcterms:modified xsi:type="dcterms:W3CDTF">2024-07-01T11:38:05Z</dcterms:modified>
</cp:coreProperties>
</file>