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78" r:id="rId1"/>
  </p:sldMasterIdLst>
  <p:sldIdLst>
    <p:sldId id="256" r:id="rId2"/>
    <p:sldId id="339" r:id="rId3"/>
    <p:sldId id="348" r:id="rId4"/>
    <p:sldId id="340" r:id="rId5"/>
    <p:sldId id="341" r:id="rId6"/>
    <p:sldId id="342" r:id="rId7"/>
    <p:sldId id="343" r:id="rId8"/>
    <p:sldId id="344" r:id="rId9"/>
    <p:sldId id="345" r:id="rId10"/>
    <p:sldId id="346" r:id="rId11"/>
    <p:sldId id="347" r:id="rId12"/>
    <p:sldId id="349" r:id="rId13"/>
    <p:sldId id="350" r:id="rId14"/>
    <p:sldId id="351" r:id="rId15"/>
    <p:sldId id="352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7-02T07:48:27.60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32,'17'1,"0"1,0 1,20 5,-17-4,37 5,15-8,-51-2,0 1,0 1,0 0,32 8,-10-1,0-1,0-3,0-1,79-6,-23 0,447 4,-534-1,-1 1,1 1,-1 0,0 1,1 0,-2 1,17 7,15 5,-16-10,-1-1,1-1,0-2,0-1,0-1,34-3,14 0,1401 3,-1450-2,1-1,-1 0,-1-2,30-10,-29 7,1 2,0 1,49-4,-75 9,35 0,0-2,65-11,-47 1,1 2,0 2,74-1,-65 11,-27-1,0 0,1-3,64-10,-41 3,1 2,0 2,106 7,-52 0,6731-2,-6816 2,1 1,-1 2,51 13,-50-9,0-2,0-2,41 3,617-8,-312-2,-320 1,-33 0,0 0,0 1,0 2,0 0,0 2,0 0,24 9,-39-9,173 58,-148-55,-1-2,58 2,-31-3,19 8,6 2,17 0,-69-8,51 2,0-9,-49 0,-1 1,1 2,50 8,-49-4,1-2,62 0,1 0,-78-1,37 10,-28-5,54 14,-55-13,-1-1,2-2,-1-1,36 2,-40-5,1 1,-1 2,45 13,-45-11,0 0,1-2,44 4,-39-9,10 0,60 9,-29-1,131-2,-24-3,-73 10,-67-6,56 0,476-8,-554 0,-1-1,0-1,0 0,0-2,21-7,-19 5,1 1,0 1,25-3,265 4,-164 6,-111-4,-1-2,1-1,-1-2,-1-2,1 0,32-16,-40 18,1 1,0 1,0 1,0 2,0 0,54 5,-47-1,0-1,0-2,60-10,43-29,-72 20,-37 14,0 1,0 2,0 1,0 1,46 5,2-2,-63-2,16 2,0-2,0-2,0 0,0-2,-1-1,32-10,-39 8,1 1,0 0,0 2,1 0,30 0,-30 4</inkml:trace>
</inkml:ink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r">
              <a:defRPr sz="48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r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E748D9F-4EFE-4FE5-BF7F-6AC227598A2D}" type="datetimeFigureOut">
              <a:rPr lang="he-IL" smtClean="0"/>
              <a:t>כ"ו/סיון/תשפ"ד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89983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כ"ו/סיון/תשפ"ד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84221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כ"ו/סיון/תשפ"ד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94365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כ"ו/סיון/תשפ"ד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95710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כ"ו/סיון/תשפ"ד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84200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כ"ו/סיון/תשפ"ד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6590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כ"ו/סיון/תשפ"ד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56835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כ"ו/סיון/תשפ"ד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60387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כ"ו/סיון/תשפ"ד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2273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כ"ו/סיון/תשפ"ד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20142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כ"ו/סיון/תשפ"ד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691995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כ"ו/סיון/תשפ"ד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9414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כ"ו/סיון/תשפ"ד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067393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עמוד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כ"ו/סיון/תשפ"ד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154330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עמודת 3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כ"ו/סיון/תשפ"ד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613565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כ"ו/סיון/תשפ"ד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874836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כ"ו/סיון/תשפ"ד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15639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alphaModFix amt="5000"/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48D9F-4EFE-4FE5-BF7F-6AC227598A2D}" type="datetimeFigureOut">
              <a:rPr lang="he-IL" smtClean="0"/>
              <a:t>כ"ו/סיון/תשפ"ד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168003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/>
          <p:cNvSpPr/>
          <p:nvPr/>
        </p:nvSpPr>
        <p:spPr>
          <a:xfrm>
            <a:off x="3760223" y="1791679"/>
            <a:ext cx="5702202" cy="313932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6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hmulik CLM" panose="02000603000000000000" pitchFamily="2" charset="-79"/>
                <a:cs typeface="Shmulik CLM" panose="02000603000000000000" pitchFamily="2" charset="-79"/>
              </a:rPr>
              <a:t>תיבת דו-שיח:</a:t>
            </a:r>
          </a:p>
          <a:p>
            <a:pPr algn="ctr" rtl="1"/>
            <a:endParaRPr lang="he-IL" sz="6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hmulik CLM" panose="02000603000000000000" pitchFamily="2" charset="-79"/>
              <a:cs typeface="Shmulik CLM" panose="02000603000000000000" pitchFamily="2" charset="-79"/>
            </a:endParaRPr>
          </a:p>
          <a:p>
            <a:pPr algn="ctr" rtl="1"/>
            <a:r>
              <a:rPr lang="en-US" sz="66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Shmulik CLM" panose="02000603000000000000" pitchFamily="2" charset="-79"/>
              </a:rPr>
              <a:t>AlertDialog</a:t>
            </a:r>
            <a:endParaRPr lang="he-IL" sz="6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  <a:cs typeface="Shmulik CLM" panose="02000603000000000000" pitchFamily="2" charset="-79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BA6995-93F8-B5D8-1FF4-3C2EB4B499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D99BC38-E1AB-BC94-ADF8-7638FC6A04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211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/>
          <p:cNvSpPr/>
          <p:nvPr/>
        </p:nvSpPr>
        <p:spPr>
          <a:xfrm>
            <a:off x="5043429" y="56709"/>
            <a:ext cx="3814355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תיבת דו-שיח</a:t>
            </a:r>
            <a:endParaRPr lang="he-IL" sz="44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sp>
        <p:nvSpPr>
          <p:cNvPr id="7" name="מלבן 6"/>
          <p:cNvSpPr/>
          <p:nvPr/>
        </p:nvSpPr>
        <p:spPr>
          <a:xfrm>
            <a:off x="1502228" y="1791679"/>
            <a:ext cx="9953898" cy="38318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>
              <a:lnSpc>
                <a:spcPct val="150000"/>
              </a:lnSpc>
            </a:pPr>
            <a:r>
              <a:rPr lang="he-IL" sz="5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בעזרתו ניתן לצור דו-שיח</a:t>
            </a:r>
          </a:p>
          <a:p>
            <a:pPr algn="ctr" rtl="1">
              <a:lnSpc>
                <a:spcPct val="150000"/>
              </a:lnSpc>
            </a:pPr>
            <a:r>
              <a:rPr lang="he-IL" sz="5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ברור ומועיל</a:t>
            </a:r>
          </a:p>
          <a:p>
            <a:pPr algn="ctr" rtl="1">
              <a:lnSpc>
                <a:spcPct val="150000"/>
              </a:lnSpc>
            </a:pPr>
            <a:r>
              <a:rPr lang="he-IL" sz="5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בין אפליקציה לבין משתמש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3B74115-C83C-542C-F908-67E80403D3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5D4067D-F766-1CDB-53F5-121A8CABE9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384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/>
          <p:cNvSpPr/>
          <p:nvPr/>
        </p:nvSpPr>
        <p:spPr>
          <a:xfrm>
            <a:off x="5043429" y="56709"/>
            <a:ext cx="3814355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תיבת דו-שיח</a:t>
            </a:r>
            <a:endParaRPr lang="he-IL" sz="44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sp>
        <p:nvSpPr>
          <p:cNvPr id="7" name="מלבן 6"/>
          <p:cNvSpPr/>
          <p:nvPr/>
        </p:nvSpPr>
        <p:spPr>
          <a:xfrm>
            <a:off x="1502228" y="1791679"/>
            <a:ext cx="9953898" cy="434888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>
              <a:lnSpc>
                <a:spcPct val="150000"/>
              </a:lnSpc>
            </a:pPr>
            <a:r>
              <a:rPr lang="he-IL" sz="54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אינו רכיב סטטי</a:t>
            </a:r>
            <a:r>
              <a:rPr lang="he-IL" sz="5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שקיים באוסף </a:t>
            </a:r>
            <a:r>
              <a:rPr lang="en-US" sz="5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Palette</a:t>
            </a:r>
            <a:endParaRPr lang="he-IL" sz="5400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>
              <a:lnSpc>
                <a:spcPct val="150000"/>
              </a:lnSpc>
            </a:pPr>
            <a:r>
              <a:rPr lang="he-IL" sz="5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אותו מוסיפים בקובץ </a:t>
            </a:r>
            <a:r>
              <a:rPr lang="en-US" sz="5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xml</a:t>
            </a:r>
            <a:endParaRPr lang="he-IL" sz="54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>
              <a:lnSpc>
                <a:spcPct val="150000"/>
              </a:lnSpc>
            </a:pPr>
            <a:endParaRPr lang="he-IL" sz="2800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>
              <a:lnSpc>
                <a:spcPct val="150000"/>
              </a:lnSpc>
            </a:pPr>
            <a:r>
              <a:rPr lang="he-IL" sz="5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מוסיפים אותו ע"י שפת </a:t>
            </a:r>
            <a:r>
              <a:rPr lang="en-US" sz="5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Java</a:t>
            </a:r>
            <a:endParaRPr lang="he-IL" sz="5400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B2F2DEC-2D00-29A5-91B0-1B77F59EEC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C940C2C-D44A-FB98-FA5E-4633F1FA6A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250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/>
          <p:cNvSpPr/>
          <p:nvPr/>
        </p:nvSpPr>
        <p:spPr>
          <a:xfrm>
            <a:off x="5043429" y="56709"/>
            <a:ext cx="3814355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תיבת דו-שיח</a:t>
            </a:r>
            <a:endParaRPr lang="he-IL" sz="44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sp>
        <p:nvSpPr>
          <p:cNvPr id="7" name="מלבן 6"/>
          <p:cNvSpPr/>
          <p:nvPr/>
        </p:nvSpPr>
        <p:spPr>
          <a:xfrm>
            <a:off x="1502228" y="1791679"/>
            <a:ext cx="9953898" cy="507831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>
              <a:lnSpc>
                <a:spcPct val="150000"/>
              </a:lnSpc>
            </a:pPr>
            <a:r>
              <a:rPr lang="he-IL" sz="5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קיימות כמה דרכים לצור תיבת דו-שיח</a:t>
            </a:r>
          </a:p>
          <a:p>
            <a:pPr algn="ctr" rtl="1">
              <a:lnSpc>
                <a:spcPct val="150000"/>
              </a:lnSpc>
            </a:pPr>
            <a:r>
              <a:rPr lang="he-IL" sz="5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אפשר גם להגיד שקיימות</a:t>
            </a:r>
          </a:p>
          <a:p>
            <a:pPr algn="ctr" rtl="1">
              <a:lnSpc>
                <a:spcPct val="150000"/>
              </a:lnSpc>
            </a:pPr>
            <a:r>
              <a:rPr lang="he-IL" sz="5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כמה אפשרויות</a:t>
            </a:r>
          </a:p>
          <a:p>
            <a:pPr algn="ctr" rtl="1">
              <a:lnSpc>
                <a:spcPct val="150000"/>
              </a:lnSpc>
            </a:pPr>
            <a:r>
              <a:rPr lang="he-IL" sz="5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להרכבת תיבת דו-שיח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2B0EAD1-1D47-DF25-B95A-18035A96A0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156FC86-F4E2-F01A-EF31-4DA762CE33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280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/>
          <p:cNvSpPr/>
          <p:nvPr/>
        </p:nvSpPr>
        <p:spPr>
          <a:xfrm>
            <a:off x="5043429" y="56709"/>
            <a:ext cx="3814355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תיבת דו-שיח</a:t>
            </a:r>
            <a:endParaRPr lang="he-IL" sz="44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sp>
        <p:nvSpPr>
          <p:cNvPr id="8" name="מלבן 7"/>
          <p:cNvSpPr/>
          <p:nvPr/>
        </p:nvSpPr>
        <p:spPr>
          <a:xfrm>
            <a:off x="1502228" y="1791679"/>
            <a:ext cx="9953898" cy="378565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he-IL" sz="40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יתרונות:</a:t>
            </a:r>
          </a:p>
          <a:p>
            <a:pPr marL="742950" indent="-742950" algn="r" rtl="1">
              <a:buFont typeface="+mj-lt"/>
              <a:buAutoNum type="arabicPeriod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מופיעה זמן לא מוגבל</a:t>
            </a:r>
          </a:p>
          <a:p>
            <a:pPr marL="742950" indent="-742950" algn="r" rtl="1">
              <a:buFont typeface="+mj-lt"/>
              <a:buAutoNum type="arabicPeriod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ניתן "לחייב" משתמש לבחור</a:t>
            </a:r>
          </a:p>
          <a:p>
            <a:pPr marL="742950" indent="-742950" algn="r" rtl="1">
              <a:buFont typeface="+mj-lt"/>
              <a:buAutoNum type="arabicPeriod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חלקי תקן רבים ופשוטים</a:t>
            </a:r>
          </a:p>
          <a:p>
            <a:pPr marL="742950" indent="-742950" algn="r" rtl="1">
              <a:buFont typeface="+mj-lt"/>
              <a:buAutoNum type="arabicPeriod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אפשרות להוסיף רכיב נוסף</a:t>
            </a:r>
          </a:p>
          <a:p>
            <a:pPr marL="742950" indent="-742950" algn="r" rtl="1">
              <a:buFont typeface="+mj-lt"/>
              <a:buAutoNum type="arabicPeriod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אפשרות לעצב "לפי רצון לקוח"</a:t>
            </a:r>
          </a:p>
        </p:txBody>
      </p:sp>
      <p:pic>
        <p:nvPicPr>
          <p:cNvPr id="3" name="תמונה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2229" y="826149"/>
            <a:ext cx="3303042" cy="586840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937BDB6-F28C-CF83-A819-151603960D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7BEE848-040B-C1AB-1458-F8947CFA5A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7642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/>
          <p:cNvSpPr/>
          <p:nvPr/>
        </p:nvSpPr>
        <p:spPr>
          <a:xfrm>
            <a:off x="5043429" y="56709"/>
            <a:ext cx="3814355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תיבת דו-שיח</a:t>
            </a:r>
            <a:endParaRPr lang="he-IL" sz="44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sp>
        <p:nvSpPr>
          <p:cNvPr id="8" name="מלבן 7"/>
          <p:cNvSpPr/>
          <p:nvPr/>
        </p:nvSpPr>
        <p:spPr>
          <a:xfrm>
            <a:off x="1502228" y="1791679"/>
            <a:ext cx="9953898" cy="267765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he-IL" sz="40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שלבי יצירה</a:t>
            </a:r>
            <a:r>
              <a:rPr lang="he-IL" sz="28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(אחת מהאפשרויות)</a:t>
            </a:r>
            <a:r>
              <a:rPr lang="he-IL" sz="40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:</a:t>
            </a:r>
          </a:p>
          <a:p>
            <a:pPr marL="742950" indent="-742950" algn="r" rtl="1">
              <a:buFont typeface="+mj-lt"/>
              <a:buAutoNum type="arabicPeriod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יוצרים "בונה" (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Builder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</a:t>
            </a:r>
          </a:p>
          <a:p>
            <a:pPr marL="742950" indent="-742950" algn="r" rtl="1">
              <a:buFont typeface="+mj-lt"/>
              <a:buAutoNum type="arabicPeriod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מוסיפים ל"בונה" חלקים ותכונות</a:t>
            </a:r>
          </a:p>
          <a:p>
            <a:pPr marL="742950" indent="-742950" algn="r" rtl="1">
              <a:buFont typeface="+mj-lt"/>
              <a:buAutoNum type="arabicPeriod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גורמים ל"בונה" להיווצר ולהופיע</a:t>
            </a:r>
          </a:p>
        </p:txBody>
      </p:sp>
      <p:pic>
        <p:nvPicPr>
          <p:cNvPr id="7" name="תמונה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2229" y="826149"/>
            <a:ext cx="3303042" cy="586840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5F43861-E017-F5EA-CC79-F248CFA91F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99D316E-6DFC-EA42-4A71-3BFC600C63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509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/>
          <p:cNvSpPr/>
          <p:nvPr/>
        </p:nvSpPr>
        <p:spPr>
          <a:xfrm>
            <a:off x="5043429" y="56709"/>
            <a:ext cx="3814355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תיבת דו-שיח</a:t>
            </a:r>
            <a:endParaRPr lang="he-IL" sz="44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3" name="תמונה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016" y="2560754"/>
            <a:ext cx="8954015" cy="548205"/>
          </a:xfrm>
          <a:prstGeom prst="rect">
            <a:avLst/>
          </a:prstGeom>
        </p:spPr>
      </p:pic>
      <p:sp>
        <p:nvSpPr>
          <p:cNvPr id="9" name="הסבר מלבני מעוגל 8"/>
          <p:cNvSpPr/>
          <p:nvPr/>
        </p:nvSpPr>
        <p:spPr>
          <a:xfrm>
            <a:off x="1554480" y="1236354"/>
            <a:ext cx="4599294" cy="734458"/>
          </a:xfrm>
          <a:prstGeom prst="wedgeRoundRectCallout">
            <a:avLst>
              <a:gd name="adj1" fmla="val 28392"/>
              <a:gd name="adj2" fmla="val 132829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Gveret Levin AlefAlefAlef" panose="00000500000000000000" pitchFamily="50" charset="-79"/>
                <a:cs typeface="Gveret Levin AlefAlefAlef" panose="00000500000000000000" pitchFamily="50" charset="-79"/>
              </a:rPr>
              <a:t>יצירת "בונה" (</a:t>
            </a:r>
            <a:r>
              <a:rPr lang="en-US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Gveret Levin AlefAlefAlef" panose="00000500000000000000" pitchFamily="50" charset="-79"/>
                <a:cs typeface="Gveret Levin AlefAlefAlef" panose="00000500000000000000" pitchFamily="50" charset="-79"/>
              </a:rPr>
              <a:t> </a:t>
            </a:r>
            <a:r>
              <a:rPr lang="en-US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onsolas" panose="020B0609020204030204" pitchFamily="49" charset="0"/>
                <a:cs typeface="Gveret Levin AlefAlefAlef" panose="00000500000000000000" pitchFamily="50" charset="-79"/>
              </a:rPr>
              <a:t>Builder</a:t>
            </a:r>
            <a:r>
              <a:rPr lang="en-US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Gveret Levin AlefAlefAlef" panose="00000500000000000000" pitchFamily="50" charset="-79"/>
                <a:cs typeface="Gveret Levin AlefAlefAlef" panose="00000500000000000000" pitchFamily="50" charset="-79"/>
              </a:rPr>
              <a:t> </a:t>
            </a: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Gveret Levin AlefAlefAlef" panose="00000500000000000000" pitchFamily="50" charset="-79"/>
                <a:cs typeface="Gveret Levin AlefAlefAlef" panose="00000500000000000000" pitchFamily="50" charset="-79"/>
              </a:rPr>
              <a:t>)</a:t>
            </a:r>
          </a:p>
        </p:txBody>
      </p:sp>
      <p:pic>
        <p:nvPicPr>
          <p:cNvPr id="10" name="תמונה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7554" y="5537563"/>
            <a:ext cx="2994851" cy="601980"/>
          </a:xfrm>
          <a:prstGeom prst="rect">
            <a:avLst/>
          </a:prstGeom>
        </p:spPr>
      </p:pic>
      <p:sp>
        <p:nvSpPr>
          <p:cNvPr id="11" name="הסבר מלבני מעוגל 10"/>
          <p:cNvSpPr/>
          <p:nvPr/>
        </p:nvSpPr>
        <p:spPr>
          <a:xfrm>
            <a:off x="6153774" y="3500846"/>
            <a:ext cx="4132960" cy="1189644"/>
          </a:xfrm>
          <a:prstGeom prst="wedgeRoundRectCallout">
            <a:avLst>
              <a:gd name="adj1" fmla="val -50177"/>
              <a:gd name="adj2" fmla="val 133217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Gveret Levin AlefAlefAlef" panose="00000500000000000000" pitchFamily="50" charset="-79"/>
                <a:cs typeface="Gveret Levin AlefAlefAlef" panose="00000500000000000000" pitchFamily="50" charset="-79"/>
              </a:rPr>
              <a:t>יוצרים "בונה" על כל חלקיו</a:t>
            </a:r>
          </a:p>
          <a:p>
            <a:pPr algn="ctr" rtl="1"/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Gveret Levin AlefAlefAlef" panose="00000500000000000000" pitchFamily="50" charset="-79"/>
                <a:cs typeface="Gveret Levin AlefAlefAlef" panose="00000500000000000000" pitchFamily="50" charset="-79"/>
              </a:rPr>
              <a:t>וגורמים לתיבה להופיע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76C960E-B0DF-C783-7B5E-AFA5BED3EA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54BD620-7852-E74F-BCE0-84360C3481F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7174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/>
          <p:cNvSpPr/>
          <p:nvPr/>
        </p:nvSpPr>
        <p:spPr>
          <a:xfrm>
            <a:off x="5043429" y="56709"/>
            <a:ext cx="3814355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תיבת דו-שיח</a:t>
            </a:r>
            <a:endParaRPr lang="he-IL" sz="44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sp>
        <p:nvSpPr>
          <p:cNvPr id="9" name="הסבר מלבני מעוגל 8"/>
          <p:cNvSpPr/>
          <p:nvPr/>
        </p:nvSpPr>
        <p:spPr>
          <a:xfrm>
            <a:off x="1554480" y="1236354"/>
            <a:ext cx="4599294" cy="734458"/>
          </a:xfrm>
          <a:prstGeom prst="wedgeRoundRectCallout">
            <a:avLst>
              <a:gd name="adj1" fmla="val 28392"/>
              <a:gd name="adj2" fmla="val 132829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Gveret Levin AlefAlefAlef" panose="00000500000000000000" pitchFamily="50" charset="-79"/>
                <a:cs typeface="Gveret Levin AlefAlefAlef" panose="00000500000000000000" pitchFamily="50" charset="-79"/>
              </a:rPr>
              <a:t>תכונה: כותרת</a:t>
            </a:r>
          </a:p>
        </p:txBody>
      </p:sp>
      <p:pic>
        <p:nvPicPr>
          <p:cNvPr id="2" name="תמונה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2597059"/>
            <a:ext cx="5168704" cy="773158"/>
          </a:xfrm>
          <a:prstGeom prst="rect">
            <a:avLst/>
          </a:prstGeom>
        </p:spPr>
      </p:pic>
      <p:pic>
        <p:nvPicPr>
          <p:cNvPr id="7" name="תמונה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1359" y="5275428"/>
            <a:ext cx="5370547" cy="628983"/>
          </a:xfrm>
          <a:prstGeom prst="rect">
            <a:avLst/>
          </a:prstGeom>
        </p:spPr>
      </p:pic>
      <p:sp>
        <p:nvSpPr>
          <p:cNvPr id="12" name="הסבר מלבני מעוגל 11"/>
          <p:cNvSpPr/>
          <p:nvPr/>
        </p:nvSpPr>
        <p:spPr>
          <a:xfrm>
            <a:off x="4650959" y="3876023"/>
            <a:ext cx="4599294" cy="734458"/>
          </a:xfrm>
          <a:prstGeom prst="wedgeRoundRectCallout">
            <a:avLst>
              <a:gd name="adj1" fmla="val 28392"/>
              <a:gd name="adj2" fmla="val 132829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Gveret Levin AlefAlefAlef" panose="00000500000000000000" pitchFamily="50" charset="-79"/>
                <a:cs typeface="Gveret Levin AlefAlefAlef" panose="00000500000000000000" pitchFamily="50" charset="-79"/>
              </a:rPr>
              <a:t>תכונה: הודעה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5792FA-E5DA-BDA3-2D16-F4DDE62927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5EB1161-966B-1BF8-FEFF-FEF95539D80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6056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2974" y="5275429"/>
            <a:ext cx="4240731" cy="764722"/>
          </a:xfrm>
          <a:prstGeom prst="rect">
            <a:avLst/>
          </a:prstGeom>
        </p:spPr>
      </p:pic>
      <p:sp>
        <p:nvSpPr>
          <p:cNvPr id="12" name="הסבר מלבני מעוגל 11"/>
          <p:cNvSpPr/>
          <p:nvPr/>
        </p:nvSpPr>
        <p:spPr>
          <a:xfrm>
            <a:off x="7883339" y="3576050"/>
            <a:ext cx="4051236" cy="1144660"/>
          </a:xfrm>
          <a:prstGeom prst="wedgeRoundRectCallout">
            <a:avLst>
              <a:gd name="adj1" fmla="val -39643"/>
              <a:gd name="adj2" fmla="val 108864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Gveret Levin AlefAlefAlef" panose="00000500000000000000" pitchFamily="50" charset="-79"/>
                <a:cs typeface="Gveret Levin AlefAlefAlef" panose="00000500000000000000" pitchFamily="50" charset="-79"/>
              </a:rPr>
              <a:t>תכונה: ביטול הופעה ע"י לחיצה בחוץ</a:t>
            </a:r>
          </a:p>
        </p:txBody>
      </p:sp>
      <p:sp>
        <p:nvSpPr>
          <p:cNvPr id="5" name="מלבן 4"/>
          <p:cNvSpPr/>
          <p:nvPr/>
        </p:nvSpPr>
        <p:spPr>
          <a:xfrm>
            <a:off x="5043429" y="56709"/>
            <a:ext cx="3814355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תיבת דו-שיח</a:t>
            </a:r>
            <a:endParaRPr lang="he-IL" sz="44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sp>
        <p:nvSpPr>
          <p:cNvPr id="9" name="הסבר מלבני מעוגל 8"/>
          <p:cNvSpPr/>
          <p:nvPr/>
        </p:nvSpPr>
        <p:spPr>
          <a:xfrm>
            <a:off x="1554480" y="1236354"/>
            <a:ext cx="4599294" cy="734458"/>
          </a:xfrm>
          <a:prstGeom prst="wedgeRoundRectCallout">
            <a:avLst>
              <a:gd name="adj1" fmla="val 28392"/>
              <a:gd name="adj2" fmla="val 132829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Gveret Levin AlefAlefAlef" panose="00000500000000000000" pitchFamily="50" charset="-79"/>
                <a:cs typeface="Gveret Levin AlefAlefAlef" panose="00000500000000000000" pitchFamily="50" charset="-79"/>
              </a:rPr>
              <a:t>תכונה: תמונה קטנה</a:t>
            </a:r>
          </a:p>
        </p:txBody>
      </p:sp>
      <p:pic>
        <p:nvPicPr>
          <p:cNvPr id="8" name="תמונה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0114" y="2635758"/>
            <a:ext cx="4904577" cy="575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017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/>
          <p:cNvSpPr/>
          <p:nvPr/>
        </p:nvSpPr>
        <p:spPr>
          <a:xfrm>
            <a:off x="5043429" y="56709"/>
            <a:ext cx="3814355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תיבת דו-שיח</a:t>
            </a:r>
            <a:endParaRPr lang="he-IL" sz="44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sp>
        <p:nvSpPr>
          <p:cNvPr id="7" name="מלבן 6"/>
          <p:cNvSpPr/>
          <p:nvPr/>
        </p:nvSpPr>
        <p:spPr>
          <a:xfrm>
            <a:off x="1463039" y="1364188"/>
            <a:ext cx="9953898" cy="549381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>
              <a:lnSpc>
                <a:spcPct val="150000"/>
              </a:lnSpc>
            </a:pPr>
            <a:r>
              <a:rPr lang="he-IL" sz="5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יש אפשרות (תקן) להוסיף עד 3 לחצנים</a:t>
            </a:r>
          </a:p>
          <a:p>
            <a:pPr marL="914400" indent="-914400" algn="r" rtl="1">
              <a:buFont typeface="+mj-lt"/>
              <a:buAutoNum type="arabicPeriod"/>
            </a:pPr>
            <a:r>
              <a:rPr lang="he-IL" sz="5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"חיובי" (</a:t>
            </a:r>
            <a:r>
              <a:rPr lang="en-US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PositiveButton</a:t>
            </a:r>
            <a:r>
              <a:rPr lang="he-IL" sz="5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</a:t>
            </a:r>
          </a:p>
          <a:p>
            <a:pPr marL="914400" indent="-914400" algn="r" rtl="1">
              <a:buFont typeface="+mj-lt"/>
              <a:buAutoNum type="arabicPeriod"/>
            </a:pPr>
            <a:r>
              <a:rPr lang="he-IL" sz="5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"שלילי" (</a:t>
            </a:r>
            <a:r>
              <a:rPr lang="en-US" sz="4400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NegativeButton</a:t>
            </a:r>
            <a:r>
              <a:rPr lang="he-IL" sz="5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</a:t>
            </a:r>
          </a:p>
          <a:p>
            <a:pPr marL="914400" indent="-914400" algn="r" rtl="1">
              <a:buFont typeface="+mj-lt"/>
              <a:buAutoNum type="arabicPeriod"/>
            </a:pPr>
            <a:r>
              <a:rPr lang="he-IL" sz="5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"ניטראלי" (</a:t>
            </a:r>
            <a:r>
              <a:rPr lang="en-US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NeutralButton</a:t>
            </a:r>
            <a:r>
              <a:rPr lang="he-IL" sz="5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</a:t>
            </a:r>
          </a:p>
          <a:p>
            <a:pPr marL="914400" indent="-914400" algn="r" rtl="1">
              <a:buFont typeface="+mj-lt"/>
              <a:buAutoNum type="arabicPeriod"/>
            </a:pPr>
            <a:endParaRPr lang="he-IL" sz="5400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5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Assistant" panose="00000500000000000000" pitchFamily="2" charset="-79"/>
                <a:cs typeface="+mj-cs"/>
              </a:rPr>
              <a:t>שמות לא משמעותיים!</a:t>
            </a:r>
            <a:endParaRPr lang="he-IL" sz="48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Assistant" panose="00000500000000000000" pitchFamily="2" charset="-79"/>
              <a:cs typeface="+mj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EF44F3A-1DDE-6E97-4B39-0AA95D4EDD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E3CB620-4A9C-4B28-1F35-9773B5E02D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1435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תמונה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366" y="2894919"/>
            <a:ext cx="9926421" cy="2395538"/>
          </a:xfrm>
          <a:prstGeom prst="rect">
            <a:avLst/>
          </a:prstGeom>
        </p:spPr>
      </p:pic>
      <p:sp>
        <p:nvSpPr>
          <p:cNvPr id="5" name="מלבן 4"/>
          <p:cNvSpPr/>
          <p:nvPr/>
        </p:nvSpPr>
        <p:spPr>
          <a:xfrm>
            <a:off x="5043429" y="56709"/>
            <a:ext cx="3814355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תיבת דו-שיח</a:t>
            </a:r>
            <a:endParaRPr lang="he-IL" sz="44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sp>
        <p:nvSpPr>
          <p:cNvPr id="9" name="הסבר מלבני מעוגל 8"/>
          <p:cNvSpPr/>
          <p:nvPr/>
        </p:nvSpPr>
        <p:spPr>
          <a:xfrm>
            <a:off x="718456" y="1077590"/>
            <a:ext cx="2757431" cy="1074818"/>
          </a:xfrm>
          <a:prstGeom prst="wedgeRoundRectCallout">
            <a:avLst>
              <a:gd name="adj1" fmla="val 28392"/>
              <a:gd name="adj2" fmla="val 132829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Gveret Levin AlefAlefAlef" panose="00000500000000000000" pitchFamily="50" charset="-79"/>
                <a:cs typeface="Gveret Levin AlefAlefAlef" panose="00000500000000000000" pitchFamily="50" charset="-79"/>
              </a:rPr>
              <a:t>לחצן "חיובי"</a:t>
            </a:r>
          </a:p>
        </p:txBody>
      </p:sp>
      <p:sp>
        <p:nvSpPr>
          <p:cNvPr id="10" name="הסבר מלבני מעוגל 9"/>
          <p:cNvSpPr/>
          <p:nvPr/>
        </p:nvSpPr>
        <p:spPr>
          <a:xfrm>
            <a:off x="4721638" y="1031252"/>
            <a:ext cx="2757431" cy="1074818"/>
          </a:xfrm>
          <a:prstGeom prst="wedgeRoundRectCallout">
            <a:avLst>
              <a:gd name="adj1" fmla="val -32720"/>
              <a:gd name="adj2" fmla="val 141336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Gveret Levin AlefAlefAlef" panose="00000500000000000000" pitchFamily="50" charset="-79"/>
                <a:cs typeface="Gveret Levin AlefAlefAlef" panose="00000500000000000000" pitchFamily="50" charset="-79"/>
              </a:rPr>
              <a:t>כיתוב על הלחצן</a:t>
            </a:r>
          </a:p>
        </p:txBody>
      </p:sp>
      <p:sp>
        <p:nvSpPr>
          <p:cNvPr id="11" name="הסבר מלבני מעוגל 10"/>
          <p:cNvSpPr/>
          <p:nvPr/>
        </p:nvSpPr>
        <p:spPr>
          <a:xfrm>
            <a:off x="9006255" y="1449133"/>
            <a:ext cx="2757431" cy="1074818"/>
          </a:xfrm>
          <a:prstGeom prst="wedgeRoundRectCallout">
            <a:avLst>
              <a:gd name="adj1" fmla="val -37457"/>
              <a:gd name="adj2" fmla="val 106091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Gveret Levin AlefAlefAlef" panose="00000500000000000000" pitchFamily="50" charset="-79"/>
                <a:cs typeface="Gveret Levin AlefAlefAlef" panose="00000500000000000000" pitchFamily="50" charset="-79"/>
              </a:rPr>
              <a:t>"מאזין" ללחיצה</a:t>
            </a:r>
          </a:p>
        </p:txBody>
      </p:sp>
      <p:sp>
        <p:nvSpPr>
          <p:cNvPr id="13" name="הסבר מלבני מעוגל 12"/>
          <p:cNvSpPr/>
          <p:nvPr/>
        </p:nvSpPr>
        <p:spPr>
          <a:xfrm>
            <a:off x="718456" y="5495559"/>
            <a:ext cx="3663550" cy="1074818"/>
          </a:xfrm>
          <a:prstGeom prst="wedgeRoundRectCallout">
            <a:avLst>
              <a:gd name="adj1" fmla="val 31732"/>
              <a:gd name="adj2" fmla="val -177087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Gveret Levin AlefAlefAlef" panose="00000500000000000000" pitchFamily="50" charset="-79"/>
                <a:cs typeface="Gveret Levin AlefAlefAlef" panose="00000500000000000000" pitchFamily="50" charset="-79"/>
              </a:rPr>
              <a:t>פעולת חובה ל"מאזין"</a:t>
            </a:r>
          </a:p>
        </p:txBody>
      </p:sp>
      <p:sp>
        <p:nvSpPr>
          <p:cNvPr id="14" name="הסבר מלבני מעוגל 13"/>
          <p:cNvSpPr/>
          <p:nvPr/>
        </p:nvSpPr>
        <p:spPr>
          <a:xfrm>
            <a:off x="6721420" y="5541897"/>
            <a:ext cx="3663550" cy="1074818"/>
          </a:xfrm>
          <a:prstGeom prst="wedgeRoundRectCallout">
            <a:avLst>
              <a:gd name="adj1" fmla="val -67036"/>
              <a:gd name="adj2" fmla="val -164933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Gveret Levin AlefAlefAlef" panose="00000500000000000000" pitchFamily="50" charset="-79"/>
                <a:cs typeface="Gveret Levin AlefAlefAlef" panose="00000500000000000000" pitchFamily="50" charset="-79"/>
              </a:rPr>
              <a:t>מקום </a:t>
            </a:r>
            <a:r>
              <a:rPr lang="he-IL" sz="280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Gveret Levin AlefAlefAlef" panose="00000500000000000000" pitchFamily="50" charset="-79"/>
                <a:cs typeface="Gveret Levin AlefAlefAlef" panose="00000500000000000000" pitchFamily="50" charset="-79"/>
              </a:rPr>
              <a:t>לכתיבת פקודות</a:t>
            </a:r>
            <a:endParaRPr lang="he-IL" sz="28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3">
                  <a:lumMod val="50000"/>
                </a:schemeClr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Gveret Levin AlefAlefAlef" panose="00000500000000000000" pitchFamily="50" charset="-79"/>
              <a:cs typeface="Gveret Levin AlefAlefAlef" panose="00000500000000000000" pitchFamily="50" charset="-79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42B58AC-2337-590E-E8E5-0B058CECA478}"/>
                  </a:ext>
                </a:extLst>
              </p14:cNvPr>
              <p14:cNvContentPartPr/>
              <p14:nvPr/>
            </p14:nvContentPartPr>
            <p14:xfrm>
              <a:off x="2261137" y="4265621"/>
              <a:ext cx="6852600" cy="1594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42B58AC-2337-590E-E8E5-0B058CECA47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07137" y="4157621"/>
                <a:ext cx="6960240" cy="375120"/>
              </a:xfrm>
              <a:prstGeom prst="rect">
                <a:avLst/>
              </a:prstGeom>
            </p:spPr>
          </p:pic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A4E50BCD-0947-7848-64D8-C07CC91F84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7702E60-6215-0C4A-782E-1A7556EBE2D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5623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/>
          <p:cNvSpPr/>
          <p:nvPr/>
        </p:nvSpPr>
        <p:spPr>
          <a:xfrm>
            <a:off x="5043429" y="56709"/>
            <a:ext cx="3814355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תיבת דו-שיח</a:t>
            </a:r>
            <a:endParaRPr lang="he-IL" sz="44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sp>
        <p:nvSpPr>
          <p:cNvPr id="7" name="מלבן 6"/>
          <p:cNvSpPr/>
          <p:nvPr/>
        </p:nvSpPr>
        <p:spPr>
          <a:xfrm>
            <a:off x="1502228" y="1800644"/>
            <a:ext cx="9953898" cy="507831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>
              <a:lnSpc>
                <a:spcPct val="150000"/>
              </a:lnSpc>
            </a:pPr>
            <a:r>
              <a:rPr lang="he-IL" sz="5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ניתן באופן די פשוט</a:t>
            </a:r>
          </a:p>
          <a:p>
            <a:pPr algn="ctr" rtl="1">
              <a:lnSpc>
                <a:spcPct val="150000"/>
              </a:lnSpc>
            </a:pPr>
            <a:r>
              <a:rPr lang="he-IL" sz="5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להוסיף (ע"י פקודות של שפת </a:t>
            </a:r>
            <a:r>
              <a:rPr lang="en-US" sz="5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Java</a:t>
            </a:r>
            <a:r>
              <a:rPr lang="he-IL" sz="5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</a:t>
            </a:r>
          </a:p>
          <a:p>
            <a:pPr algn="ctr" rtl="1">
              <a:lnSpc>
                <a:spcPct val="150000"/>
              </a:lnSpc>
            </a:pPr>
            <a:r>
              <a:rPr lang="he-IL" sz="5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להוסיף לתיבת דו-שיח</a:t>
            </a:r>
          </a:p>
          <a:p>
            <a:pPr algn="ctr" rtl="1">
              <a:lnSpc>
                <a:spcPct val="150000"/>
              </a:lnSpc>
            </a:pPr>
            <a:r>
              <a:rPr lang="he-IL" sz="54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רכיב אחד בלבד(!)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B899299-0075-216F-DB3C-2D4E0CAFF3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63A5C4E-B9E1-0E6E-56D7-7799B639DC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3479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222" y="2732480"/>
            <a:ext cx="9381159" cy="2646403"/>
          </a:xfrm>
          <a:prstGeom prst="rect">
            <a:avLst/>
          </a:prstGeom>
        </p:spPr>
      </p:pic>
      <p:sp>
        <p:nvSpPr>
          <p:cNvPr id="5" name="מלבן 4"/>
          <p:cNvSpPr/>
          <p:nvPr/>
        </p:nvSpPr>
        <p:spPr>
          <a:xfrm>
            <a:off x="5043429" y="56709"/>
            <a:ext cx="3814355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תיבת דו-שיח</a:t>
            </a:r>
            <a:endParaRPr lang="he-IL" sz="44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sp>
        <p:nvSpPr>
          <p:cNvPr id="9" name="הסבר מלבני מעוגל 8"/>
          <p:cNvSpPr/>
          <p:nvPr/>
        </p:nvSpPr>
        <p:spPr>
          <a:xfrm>
            <a:off x="718456" y="1077590"/>
            <a:ext cx="2757431" cy="1074818"/>
          </a:xfrm>
          <a:prstGeom prst="wedgeRoundRectCallout">
            <a:avLst>
              <a:gd name="adj1" fmla="val 28866"/>
              <a:gd name="adj2" fmla="val 115814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Gveret Levin AlefAlefAlef" panose="00000500000000000000" pitchFamily="50" charset="-79"/>
                <a:cs typeface="Gveret Levin AlefAlefAlef" panose="00000500000000000000" pitchFamily="50" charset="-79"/>
              </a:rPr>
              <a:t>יצירת  רכיב</a:t>
            </a:r>
          </a:p>
        </p:txBody>
      </p:sp>
      <p:sp>
        <p:nvSpPr>
          <p:cNvPr id="13" name="הסבר מלבני מעוגל 12"/>
          <p:cNvSpPr/>
          <p:nvPr/>
        </p:nvSpPr>
        <p:spPr>
          <a:xfrm>
            <a:off x="1045027" y="5737840"/>
            <a:ext cx="4545876" cy="1074818"/>
          </a:xfrm>
          <a:prstGeom prst="wedgeRoundRectCallout">
            <a:avLst>
              <a:gd name="adj1" fmla="val -7923"/>
              <a:gd name="adj2" fmla="val -111458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Gveret Levin AlefAlefAlef" panose="00000500000000000000" pitchFamily="50" charset="-79"/>
                <a:cs typeface="Gveret Levin AlefAlefAlef" panose="00000500000000000000" pitchFamily="50" charset="-79"/>
              </a:rPr>
              <a:t>הוספת  רכיב  לתיבת דו-שיח</a:t>
            </a:r>
          </a:p>
        </p:txBody>
      </p:sp>
      <p:sp>
        <p:nvSpPr>
          <p:cNvPr id="14" name="הסבר מלבני מעוגל 13"/>
          <p:cNvSpPr/>
          <p:nvPr/>
        </p:nvSpPr>
        <p:spPr>
          <a:xfrm>
            <a:off x="8249774" y="5267577"/>
            <a:ext cx="3663550" cy="1074818"/>
          </a:xfrm>
          <a:prstGeom prst="wedgeRoundRectCallout">
            <a:avLst>
              <a:gd name="adj1" fmla="val -37441"/>
              <a:gd name="adj2" fmla="val -164933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Gveret Levin AlefAlefAlef" panose="00000500000000000000" pitchFamily="50" charset="-79"/>
                <a:cs typeface="Gveret Levin AlefAlefAlef" panose="00000500000000000000" pitchFamily="50" charset="-79"/>
              </a:rPr>
              <a:t>תכונות  הרכיב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A66AE3D-A4A2-7620-0AA8-32E9CDD213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BE0D4AB-455E-8648-5C01-897A3A4282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6129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/>
          <p:cNvSpPr/>
          <p:nvPr/>
        </p:nvSpPr>
        <p:spPr>
          <a:xfrm>
            <a:off x="5043429" y="56709"/>
            <a:ext cx="3814355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תיבת דו-שיח</a:t>
            </a:r>
            <a:endParaRPr lang="he-IL" sz="44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sp>
        <p:nvSpPr>
          <p:cNvPr id="9" name="הסבר מלבני מעוגל 8"/>
          <p:cNvSpPr/>
          <p:nvPr/>
        </p:nvSpPr>
        <p:spPr>
          <a:xfrm>
            <a:off x="4090921" y="1785513"/>
            <a:ext cx="2757431" cy="1074818"/>
          </a:xfrm>
          <a:prstGeom prst="wedgeRoundRectCallout">
            <a:avLst>
              <a:gd name="adj1" fmla="val 28866"/>
              <a:gd name="adj2" fmla="val 115814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Gveret Levin AlefAlefAlef" panose="00000500000000000000" pitchFamily="50" charset="-79"/>
                <a:cs typeface="Gveret Levin AlefAlefAlef" panose="00000500000000000000" pitchFamily="50" charset="-79"/>
              </a:rPr>
              <a:t>יוצרים תיבה ומציגים אותה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A66AE3D-A4A2-7620-0AA8-32E9CDD213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BE0D4AB-455E-8648-5C01-897A3A4282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E183D1C-BDE0-CDC2-D339-D6AE8085FF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9636" y="3800129"/>
            <a:ext cx="3447976" cy="395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3836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/>
          <p:cNvSpPr/>
          <p:nvPr/>
        </p:nvSpPr>
        <p:spPr>
          <a:xfrm>
            <a:off x="5043429" y="56709"/>
            <a:ext cx="3814355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תיבת דו-שיח</a:t>
            </a:r>
            <a:endParaRPr lang="he-IL" sz="44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sp>
        <p:nvSpPr>
          <p:cNvPr id="9" name="הסבר מלבני מעוגל 8"/>
          <p:cNvSpPr/>
          <p:nvPr/>
        </p:nvSpPr>
        <p:spPr>
          <a:xfrm>
            <a:off x="69336" y="1697022"/>
            <a:ext cx="2757431" cy="1074818"/>
          </a:xfrm>
          <a:prstGeom prst="wedgeRoundRectCallout">
            <a:avLst>
              <a:gd name="adj1" fmla="val 61314"/>
              <a:gd name="adj2" fmla="val 113985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Gveret Levin AlefAlefAlef" panose="00000500000000000000" pitchFamily="50" charset="-79"/>
                <a:cs typeface="Gveret Levin AlefAlefAlef" panose="00000500000000000000" pitchFamily="50" charset="-79"/>
              </a:rPr>
              <a:t>דוגמת קוד מלא</a:t>
            </a:r>
          </a:p>
          <a:p>
            <a:pPr algn="ctr" rtl="1"/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Gveret Levin AlefAlefAlef" panose="00000500000000000000" pitchFamily="50" charset="-79"/>
                <a:cs typeface="Gveret Levin AlefAlefAlef" panose="00000500000000000000" pitchFamily="50" charset="-79"/>
              </a:rPr>
              <a:t>(עם 2 לחצנים)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A66AE3D-A4A2-7620-0AA8-32E9CDD213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BE0D4AB-455E-8648-5C01-897A3A4282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5FA3D0-9A70-AC4E-9030-55C9DA21D4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7879" y="1077590"/>
            <a:ext cx="8912950" cy="5548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32367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מעגל">
  <a:themeElements>
    <a:clrScheme name="מעגל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מעגל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מעגל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מצגת2" id="{CEC1E900-383C-44C1-AD2B-1FF75F44A406}" vid="{6AAC7F4E-C601-427E-B924-CEA218F4B0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daatech2019</Template>
  <TotalTime>557</TotalTime>
  <Words>244</Words>
  <Application>Microsoft Office PowerPoint</Application>
  <PresentationFormat>Widescreen</PresentationFormat>
  <Paragraphs>66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Assistant</vt:lpstr>
      <vt:lpstr>Consolas</vt:lpstr>
      <vt:lpstr>Gveret Levin AlefAlefAlef</vt:lpstr>
      <vt:lpstr>Shmulik CLM</vt:lpstr>
      <vt:lpstr>Tw Cen MT</vt:lpstr>
      <vt:lpstr>מעגל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Fraiman</dc:creator>
  <cp:lastModifiedBy>Ze'ev Fraiman</cp:lastModifiedBy>
  <cp:revision>97</cp:revision>
  <dcterms:created xsi:type="dcterms:W3CDTF">2019-01-05T16:01:25Z</dcterms:created>
  <dcterms:modified xsi:type="dcterms:W3CDTF">2024-07-02T08:00:53Z</dcterms:modified>
</cp:coreProperties>
</file>