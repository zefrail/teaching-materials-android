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58" r:id="rId3"/>
    <p:sldId id="411" r:id="rId4"/>
    <p:sldId id="412" r:id="rId5"/>
    <p:sldId id="413" r:id="rId6"/>
    <p:sldId id="414" r:id="rId7"/>
    <p:sldId id="415" r:id="rId8"/>
    <p:sldId id="416" r:id="rId9"/>
    <p:sldId id="41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0T06:27:16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6567 326 13264 0 0,'0'0'2378'0'0,"-5"-3"-1441"0"0,-12-6-75 0 0,0 0 22 0 0,1 0 0 0 0,-36-11 0 0 0,-130-24 359 0 0,-206-56 668 0 0,244 62-1090 0 0,-249-33 0 0 0,236 56-462 0 0,-1 7 1 0 0,-185 14-1 0 0,-376 41 171 0 0,-17 10-73 0 0,606-41-321 0 0,1 4 1 0 0,1 7-1 0 0,2 5 1 0 0,-174 68-1 0 0,174-46 8 0 0,3 5-1 0 0,2 6 0 0 0,-135 95 1 0 0,-98 131 71 0 0,333-273-204 0 0,-73 71 51 0 0,4 4 0 0 0,-86 116 0 0 0,-137 223 64 0 0,205-270-89 0 0,7 4-1 0 0,7 4 0 0 0,7 5 1 0 0,-97 285-1 0 0,135-310-14 0 0,8 2 0 0 0,-24 171 1 0 0,53-237-15 0 0,4 1 1 0 0,5 1-1 0 0,2-1 0 0 0,5 1 1 0 0,20 117-1 0 0,-5-114 3 0 0,4-2 0 0 0,3 0 1 0 0,4-1-1 0 0,75 148 0 0 0,-52-139-1 0 0,4-2 0 0 0,5-2 0 0 0,120 139 0 0 0,256 212 20 0 0,-326-348-23 0 0,3-5-1 0 0,159 93 0 0 0,-129-103-2 0 0,3-6 0 0 0,275 95 0 0 0,335 55 14 0 0,-502-154-8 0 0,1175 267 82 0 0,-1146-291-69 0 0,1-12 0 0 0,2-12 0 0 0,1-13 0 0 0,368-35 0 0 0,56-58 14 0 0,-5-31 0 0 0,702-209 0 0 0,-1207 266-24 0 0,316-131 0 0 0,-462 161-11 0 0,-1-2-1 0 0,-1-3 1 0 0,-2-2-1 0 0,74-62 1 0 0,-91 64-2 0 0,-1-2 0 0 0,-1-1-1 0 0,-2-2 1 0 0,-2-1 0 0 0,-1-1 0 0 0,34-63 0 0 0,-40 57 0 0 0,-1-2 0 0 0,-2 0 1 0 0,-2-1-1 0 0,-3-1 0 0 0,-1-1 0 0 0,-3 0 0 0 0,-2 0 0 0 0,4-85 0 0 0,-10 30 8 0 0,-4-1 0 0 0,-5 1 0 0 0,-5 0 0 0 0,-5 0-1 0 0,-37-135 1 0 0,-8 41-4 0 0,-8 2 0 0 0,-9 3 1 0 0,-114-202-1 0 0,111 253-3 0 0,-7 4 0 0 0,-5 4 0 0 0,-6 3 1 0 0,-171-173-1 0 0,-222-130 13 0 0,-35 42 6 0 0,278 220-7 0 0,-319-163 0 0 0,351 227 2 0 0,-451-158 0 0 0,491 215-2 0 0,-2 9-1 0 0,-1 6 1 0 0,-216-14-1 0 0,155 37-13 0 0,-469 32 0 0 0,546-2-3730 0 0,132-13-14890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0T06:27:22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8965 1164 17687 0 0,'-138'-111'2916'0'0,"-264"-162"-1"0"0,-186-37-1451 0 0,390 224-1353 0 0,-3 8-1 0 0,-4 9 1 0 0,-2 9 0 0 0,-3 9-1 0 0,-429-47 1 0 0,298 77-55 0 0,1 15 1 0 0,-1 14-1 0 0,-366 57 0 0 0,407-18 27 0 0,3 13-1 0 0,2 12 0 0 0,-437 170 1 0 0,509-147 31 0 0,-234 137 1 0 0,-182 173 188 0 0,484-292-177 0 0,5 8 1 0 0,6 6 0 0 0,6 6 0 0 0,-166 205 0 0 0,218-229-52 0 0,5 5-1 0 0,5 3 1 0 0,-73 152-1 0 0,108-181-29 0 0,3 2-1 0 0,5 1 1 0 0,3 2-1 0 0,5 1 1 0 0,-20 138-1 0 0,39-174-23 0 0,3-1 0 0 0,2 1 0 0 0,3 0 0 0 0,2-1 0 0 0,3 1-1 0 0,2-1 1 0 0,34 110 0 0 0,24 35 25 0 0,8-3 0 0 0,10-3 1 0 0,139 236-1 0 0,-123-266-6 0 0,8-5 0 0 0,6-5 0 0 0,245 255 0 0 0,-218-277-2 0 0,246 181 0 0 0,197 66 9 0 0,102-25-7 0 0,28-56-16 0 0,553 175 17 0 0,-368-177-25 0 0,24-84-9 0 0,-405-140 9 0 0,2-22 0 0 0,738-23 0 0 0,-1004-39 0 0 0,-1-12 0 0 0,-1-11 0 0 0,262-69 0 0 0,-389 67 4 0 0,236-97-1 0 0,-282 95-6 0 0,-1-4-1 0 0,-3-3 1 0 0,130-98-1 0 0,-130 79 6 0 0,-2-3 0 0 0,80-93 0 0 0,-116 114-8 0 0,-2-1 0 0 0,-3-2-1 0 0,-1-2 1 0 0,-3 0 0 0 0,26-64-1 0 0,-26 39 8 0 0,-3-2-1 0 0,-3-1 0 0 0,-5 0 0 0 0,-2-2 0 0 0,-4 0 0 0 0,2-92 0 0 0,-12 45 12 0 0,-6 0-1 0 0,-5 1 1 0 0,-30-148-1 0 0,12 150-5 0 0,-6 2 0 0 0,-5 1 0 0 0,-6 2-1 0 0,-73-145 1 0 0,-279-427 45 0 0,-24 64-50 0 0,159 268-6 0 0,-278-360-7 0 0,423 584-3 0 0,-6 4-1 0 0,-248-203 1 0 0,167 179-22 0 0,-298-173 0 0 0,111 124-127 0 0,251 139-3585 0 0,107 50-14505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.xml"/><Relationship Id="rId4" Type="http://schemas.openxmlformats.org/officeDocument/2006/relationships/image" Target="../media/image7.png"/><Relationship Id="rId9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.xml"/><Relationship Id="rId4" Type="http://schemas.openxmlformats.org/officeDocument/2006/relationships/image" Target="../media/image9.png"/><Relationship Id="rId9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883506" y="1230800"/>
            <a:ext cx="4860625" cy="31393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קליטת נתונים</a:t>
            </a:r>
          </a:p>
          <a:p>
            <a:pPr algn="ctr" rtl="1"/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en-US" sz="6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EditText</a:t>
            </a:r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A6995-93F8-B5D8-1FF4-3C2EB4B49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99BC38-E1AB-BC94-ADF8-7638FC6A0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904569" y="1129439"/>
            <a:ext cx="10264876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קליטת הנתונים היא דרך מאוד טבעית ונפוצה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המאפשרת למשתמש ואפליקציה "לנהל דו-שיח"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בהתאם לצורך המשתמש ויכולות האפליקציה.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מערכת אנדרואיד מכילה מספר לא קטן שלרכיבים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שבעזרתם ניתן לקלוט נתונים מהמשתמש.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הרכיב ה"טבעי" ביותר הוא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0" name="מלבן 9"/>
          <p:cNvSpPr/>
          <p:nvPr/>
        </p:nvSpPr>
        <p:spPr>
          <a:xfrm>
            <a:off x="5786846" y="56709"/>
            <a:ext cx="473367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"קליטת נתונים"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387BD2-9ABE-F049-8DD9-74CD0B53B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07406C-F969-10B0-7D54-E9A109520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3" name="מלבן 6">
            <a:extLst>
              <a:ext uri="{FF2B5EF4-FFF2-40B4-BE49-F238E27FC236}">
                <a16:creationId xmlns:a16="http://schemas.microsoft.com/office/drawing/2014/main" id="{E9C2FB00-E62B-45F4-0941-4D52C69B1A39}"/>
              </a:ext>
            </a:extLst>
          </p:cNvPr>
          <p:cNvSpPr/>
          <p:nvPr/>
        </p:nvSpPr>
        <p:spPr>
          <a:xfrm>
            <a:off x="2512648" y="1145810"/>
            <a:ext cx="7114448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כל הרכיבים מסוג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נראים, בעצם, אותו דבר:</a:t>
            </a:r>
          </a:p>
          <a:p>
            <a:pPr algn="ctr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חלון מלבני בו ניתן להקליד נתונים</a:t>
            </a:r>
          </a:p>
        </p:txBody>
      </p:sp>
      <p:sp>
        <p:nvSpPr>
          <p:cNvPr id="6" name="מלבן 7">
            <a:extLst>
              <a:ext uri="{FF2B5EF4-FFF2-40B4-BE49-F238E27FC236}">
                <a16:creationId xmlns:a16="http://schemas.microsoft.com/office/drawing/2014/main" id="{7B75451B-A623-D52D-8390-061ED35F85BD}"/>
              </a:ext>
            </a:extLst>
          </p:cNvPr>
          <p:cNvSpPr/>
          <p:nvPr/>
        </p:nvSpPr>
        <p:spPr>
          <a:xfrm>
            <a:off x="1674852" y="4215594"/>
            <a:ext cx="8717845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אז מה ההבדל?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הבדל הוא בסוג המקלדת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המוצגת בזמן הזנת נתונים </a:t>
            </a:r>
          </a:p>
        </p:txBody>
      </p:sp>
      <p:sp>
        <p:nvSpPr>
          <p:cNvPr id="7" name="מלבן 9">
            <a:extLst>
              <a:ext uri="{FF2B5EF4-FFF2-40B4-BE49-F238E27FC236}">
                <a16:creationId xmlns:a16="http://schemas.microsoft.com/office/drawing/2014/main" id="{54B7B8A6-6CE0-C281-BD51-60B179FD0CCF}"/>
              </a:ext>
            </a:extLst>
          </p:cNvPr>
          <p:cNvSpPr/>
          <p:nvPr/>
        </p:nvSpPr>
        <p:spPr>
          <a:xfrm>
            <a:off x="5786846" y="56709"/>
            <a:ext cx="411840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"קליטת נתונים"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F4DFD1-34CB-3E34-E5FF-80043449B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5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4230799" y="1860436"/>
            <a:ext cx="7368143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קיימת תכונה אשר קובעת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איזה סוג מקלדת מתאימה ל"סוג הנתונים".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בנוסף לכך חלק מהרכיבים נראים קצת שונה האחרים: למשל, כמו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password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או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multiline text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תמונה 1">
            <a:extLst>
              <a:ext uri="{FF2B5EF4-FFF2-40B4-BE49-F238E27FC236}">
                <a16:creationId xmlns:a16="http://schemas.microsoft.com/office/drawing/2014/main" id="{519C95CC-F092-CFD4-1D31-A38388670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00" y="826149"/>
            <a:ext cx="3114878" cy="5484893"/>
          </a:xfrm>
          <a:prstGeom prst="rect">
            <a:avLst/>
          </a:prstGeom>
        </p:spPr>
      </p:pic>
      <p:sp>
        <p:nvSpPr>
          <p:cNvPr id="6" name="מלבן 9">
            <a:extLst>
              <a:ext uri="{FF2B5EF4-FFF2-40B4-BE49-F238E27FC236}">
                <a16:creationId xmlns:a16="http://schemas.microsoft.com/office/drawing/2014/main" id="{2405420C-143B-2E58-C3A5-211AEE15B0DE}"/>
              </a:ext>
            </a:extLst>
          </p:cNvPr>
          <p:cNvSpPr/>
          <p:nvPr/>
        </p:nvSpPr>
        <p:spPr>
          <a:xfrm>
            <a:off x="5855670" y="56709"/>
            <a:ext cx="411840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"קליטת נתונים"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18256F-0C35-B41A-6169-F03AC2B9B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23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תמונה 1">
            <a:extLst>
              <a:ext uri="{FF2B5EF4-FFF2-40B4-BE49-F238E27FC236}">
                <a16:creationId xmlns:a16="http://schemas.microsoft.com/office/drawing/2014/main" id="{18C2ECCD-640A-C797-7B55-34A74768B0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23" y="717667"/>
            <a:ext cx="3357971" cy="5969726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2182C3F-06AF-38A7-F9CD-7D383E15D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455" y="2216630"/>
            <a:ext cx="6118656" cy="2498718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594F2E19-BEDB-503B-C60A-E68DF53164AB}"/>
              </a:ext>
            </a:extLst>
          </p:cNvPr>
          <p:cNvSpPr/>
          <p:nvPr/>
        </p:nvSpPr>
        <p:spPr>
          <a:xfrm>
            <a:off x="6341806" y="5246777"/>
            <a:ext cx="3764047" cy="1144191"/>
          </a:xfrm>
          <a:prstGeom prst="wedgeRoundRectCallout">
            <a:avLst>
              <a:gd name="adj1" fmla="val -38134"/>
              <a:gd name="adj2" fmla="val -15058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000" dirty="0">
                <a:solidFill>
                  <a:srgbClr val="002060"/>
                </a:solidFill>
              </a:rPr>
              <a:t>התכונה </a:t>
            </a:r>
            <a:r>
              <a:rPr lang="en-US" sz="2000" dirty="0" err="1">
                <a:solidFill>
                  <a:srgbClr val="002060"/>
                </a:solidFill>
              </a:rPr>
              <a:t>inputType</a:t>
            </a:r>
            <a:r>
              <a:rPr lang="he-IL" sz="2000" dirty="0">
                <a:solidFill>
                  <a:srgbClr val="002060"/>
                </a:solidFill>
              </a:rPr>
              <a:t>  היא שקובעת סוג המקלדת המופיע כאשר מתחילים לרשום נתונים</a:t>
            </a:r>
            <a:endParaRPr lang="en-US" sz="20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024517D-4F7C-F29E-DDA6-ADD1FFAE9CA0}"/>
                  </a:ext>
                </a:extLst>
              </p14:cNvPr>
              <p14:cNvContentPartPr/>
              <p14:nvPr/>
            </p14:nvContentPartPr>
            <p14:xfrm>
              <a:off x="535435" y="3738798"/>
              <a:ext cx="3887640" cy="2583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024517D-4F7C-F29E-DDA6-ADD1FFAE9C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6435" y="3729798"/>
                <a:ext cx="3905280" cy="26006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מלבן 9">
            <a:extLst>
              <a:ext uri="{FF2B5EF4-FFF2-40B4-BE49-F238E27FC236}">
                <a16:creationId xmlns:a16="http://schemas.microsoft.com/office/drawing/2014/main" id="{5DE18F0A-165F-E08A-4A00-3471928C3B3A}"/>
              </a:ext>
            </a:extLst>
          </p:cNvPr>
          <p:cNvSpPr/>
          <p:nvPr/>
        </p:nvSpPr>
        <p:spPr>
          <a:xfrm>
            <a:off x="5855670" y="56709"/>
            <a:ext cx="411840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"קליטת נתונים"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0E924B-D6F7-6F37-B879-A2CAD27F56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11" name="מלבן 9">
            <a:extLst>
              <a:ext uri="{FF2B5EF4-FFF2-40B4-BE49-F238E27FC236}">
                <a16:creationId xmlns:a16="http://schemas.microsoft.com/office/drawing/2014/main" id="{2ACE4684-AFFA-A008-1C62-F6DFB5C61229}"/>
              </a:ext>
            </a:extLst>
          </p:cNvPr>
          <p:cNvSpPr/>
          <p:nvPr/>
        </p:nvSpPr>
        <p:spPr>
          <a:xfrm>
            <a:off x="6008070" y="209109"/>
            <a:ext cx="411840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"קליטת נתונים"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F58E8E-CEBB-6EAD-968D-94289F7E6D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184191" y="15240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41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תמונה 1">
            <a:extLst>
              <a:ext uri="{FF2B5EF4-FFF2-40B4-BE49-F238E27FC236}">
                <a16:creationId xmlns:a16="http://schemas.microsoft.com/office/drawing/2014/main" id="{035FFC8D-4D2F-B015-B43A-AD999E8FD7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34" y="1016317"/>
            <a:ext cx="3348434" cy="5952771"/>
          </a:xfrm>
          <a:prstGeom prst="rect">
            <a:avLst/>
          </a:prstGeom>
        </p:spPr>
      </p:pic>
      <p:pic>
        <p:nvPicPr>
          <p:cNvPr id="7" name="תמונה 2">
            <a:extLst>
              <a:ext uri="{FF2B5EF4-FFF2-40B4-BE49-F238E27FC236}">
                <a16:creationId xmlns:a16="http://schemas.microsoft.com/office/drawing/2014/main" id="{49B50CD3-5957-5EF1-8C71-710CD2E6F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855" y="2231911"/>
            <a:ext cx="6040211" cy="23941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18F26B7-E6BC-1783-921F-FA5E2098EC2D}"/>
                  </a:ext>
                </a:extLst>
              </p14:cNvPr>
              <p14:cNvContentPartPr/>
              <p14:nvPr/>
            </p14:nvContentPartPr>
            <p14:xfrm>
              <a:off x="263635" y="3807918"/>
              <a:ext cx="4313880" cy="3052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18F26B7-E6BC-1783-921F-FA5E2098EC2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4635" y="3799278"/>
                <a:ext cx="4331520" cy="3069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מלבן 9">
            <a:extLst>
              <a:ext uri="{FF2B5EF4-FFF2-40B4-BE49-F238E27FC236}">
                <a16:creationId xmlns:a16="http://schemas.microsoft.com/office/drawing/2014/main" id="{641CF0E1-C172-1462-2433-0A1996105966}"/>
              </a:ext>
            </a:extLst>
          </p:cNvPr>
          <p:cNvSpPr/>
          <p:nvPr/>
        </p:nvSpPr>
        <p:spPr>
          <a:xfrm>
            <a:off x="5855670" y="56709"/>
            <a:ext cx="411840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"קליטת נתונים"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B398BF-1166-6C55-33B5-B3CB025899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10F49957-41C3-24FA-2E91-0E41B3C5083B}"/>
              </a:ext>
            </a:extLst>
          </p:cNvPr>
          <p:cNvSpPr/>
          <p:nvPr/>
        </p:nvSpPr>
        <p:spPr>
          <a:xfrm>
            <a:off x="6341806" y="5246777"/>
            <a:ext cx="3764047" cy="1144191"/>
          </a:xfrm>
          <a:prstGeom prst="wedgeRoundRectCallout">
            <a:avLst>
              <a:gd name="adj1" fmla="val -38134"/>
              <a:gd name="adj2" fmla="val -15058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000" dirty="0">
                <a:solidFill>
                  <a:srgbClr val="002060"/>
                </a:solidFill>
              </a:rPr>
              <a:t>התכונה </a:t>
            </a:r>
            <a:r>
              <a:rPr lang="en-US" sz="2000" dirty="0" err="1">
                <a:solidFill>
                  <a:srgbClr val="002060"/>
                </a:solidFill>
              </a:rPr>
              <a:t>inputType</a:t>
            </a:r>
            <a:r>
              <a:rPr lang="he-IL" sz="2000" dirty="0">
                <a:solidFill>
                  <a:srgbClr val="002060"/>
                </a:solidFill>
              </a:rPr>
              <a:t>  היא שקובעת סוג המקלדת המופיע כאשר מתחילים לרשום נתונים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36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3" name="מלבן 5">
            <a:extLst>
              <a:ext uri="{FF2B5EF4-FFF2-40B4-BE49-F238E27FC236}">
                <a16:creationId xmlns:a16="http://schemas.microsoft.com/office/drawing/2014/main" id="{45BE87A3-C332-B92C-6FBB-435054756AF5}"/>
              </a:ext>
            </a:extLst>
          </p:cNvPr>
          <p:cNvSpPr/>
          <p:nvPr/>
        </p:nvSpPr>
        <p:spPr>
          <a:xfrm>
            <a:off x="1802676" y="1012724"/>
            <a:ext cx="776747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כמה המלצות ממני 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(לא משמעותיות, אבל </a:t>
            </a:r>
            <a:r>
              <a:rPr lang="he-IL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הכל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לטובה)</a:t>
            </a:r>
          </a:p>
        </p:txBody>
      </p:sp>
      <p:sp>
        <p:nvSpPr>
          <p:cNvPr id="6" name="מלבן 6">
            <a:extLst>
              <a:ext uri="{FF2B5EF4-FFF2-40B4-BE49-F238E27FC236}">
                <a16:creationId xmlns:a16="http://schemas.microsoft.com/office/drawing/2014/main" id="{9AFEFACC-6070-4D4D-90F7-93BB22C5E053}"/>
              </a:ext>
            </a:extLst>
          </p:cNvPr>
          <p:cNvSpPr/>
          <p:nvPr/>
        </p:nvSpPr>
        <p:spPr>
          <a:xfrm>
            <a:off x="1273700" y="2696861"/>
            <a:ext cx="10054242" cy="41611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לקבוע 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צבע רקע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ל-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(עדיף לבן)</a:t>
            </a:r>
          </a:p>
          <a:p>
            <a:pPr marL="571500" indent="-5715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לקבוע 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מרווח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חיצוני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margin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 בינו לבין הרכיבים אחרים</a:t>
            </a:r>
          </a:p>
          <a:p>
            <a:pPr marL="571500" indent="-5715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לקבוע 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מרווח פנימי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padding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 בין טקסט הנקלט לבין גבולות של רכיב עצמו</a:t>
            </a:r>
          </a:p>
          <a:p>
            <a:pPr marL="571500" indent="-5715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לא להשתמש בתכונה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text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אלא בתכונה </a:t>
            </a:r>
            <a:r>
              <a:rPr lang="en-US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hint</a:t>
            </a:r>
            <a:endParaRPr lang="he-IL" sz="36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7" name="מלבן 9">
            <a:extLst>
              <a:ext uri="{FF2B5EF4-FFF2-40B4-BE49-F238E27FC236}">
                <a16:creationId xmlns:a16="http://schemas.microsoft.com/office/drawing/2014/main" id="{E9DB1CBF-9930-548E-2C2F-05C2F3C17289}"/>
              </a:ext>
            </a:extLst>
          </p:cNvPr>
          <p:cNvSpPr/>
          <p:nvPr/>
        </p:nvSpPr>
        <p:spPr>
          <a:xfrm>
            <a:off x="5855670" y="56709"/>
            <a:ext cx="411840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"קליטת נתונים"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950FA5-0C0E-7388-549F-1FC801294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982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8459908" y="2933428"/>
            <a:ext cx="317427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רואים הבדל, נכון?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תמונה 1">
            <a:extLst>
              <a:ext uri="{FF2B5EF4-FFF2-40B4-BE49-F238E27FC236}">
                <a16:creationId xmlns:a16="http://schemas.microsoft.com/office/drawing/2014/main" id="{6997025C-0615-71A1-F5F2-310508F2C9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29" y="1091102"/>
            <a:ext cx="3174274" cy="5643154"/>
          </a:xfrm>
          <a:prstGeom prst="rect">
            <a:avLst/>
          </a:prstGeom>
        </p:spPr>
      </p:pic>
      <p:pic>
        <p:nvPicPr>
          <p:cNvPr id="6" name="תמונה 2">
            <a:extLst>
              <a:ext uri="{FF2B5EF4-FFF2-40B4-BE49-F238E27FC236}">
                <a16:creationId xmlns:a16="http://schemas.microsoft.com/office/drawing/2014/main" id="{DD4F9D2F-A6D6-6E4D-C28B-C4115AAC73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634" y="1091102"/>
            <a:ext cx="3174274" cy="5643154"/>
          </a:xfrm>
          <a:prstGeom prst="rect">
            <a:avLst/>
          </a:prstGeom>
        </p:spPr>
      </p:pic>
      <p:sp>
        <p:nvSpPr>
          <p:cNvPr id="7" name="מלבן 9">
            <a:extLst>
              <a:ext uri="{FF2B5EF4-FFF2-40B4-BE49-F238E27FC236}">
                <a16:creationId xmlns:a16="http://schemas.microsoft.com/office/drawing/2014/main" id="{587EDD06-6545-6C3A-37B6-CCCA512C4E22}"/>
              </a:ext>
            </a:extLst>
          </p:cNvPr>
          <p:cNvSpPr/>
          <p:nvPr/>
        </p:nvSpPr>
        <p:spPr>
          <a:xfrm>
            <a:off x="5855670" y="56709"/>
            <a:ext cx="411840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"קליטת נתונים"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6F64DD-E8F0-D90D-DED2-29F12DEEFE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24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3" name="מלבן 5">
            <a:extLst>
              <a:ext uri="{FF2B5EF4-FFF2-40B4-BE49-F238E27FC236}">
                <a16:creationId xmlns:a16="http://schemas.microsoft.com/office/drawing/2014/main" id="{31457928-C853-9E34-65E7-E17F33BF561E}"/>
              </a:ext>
            </a:extLst>
          </p:cNvPr>
          <p:cNvSpPr/>
          <p:nvPr/>
        </p:nvSpPr>
        <p:spPr>
          <a:xfrm>
            <a:off x="2109157" y="1615826"/>
            <a:ext cx="915806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דוגמה: קליטת מחרוזת</a:t>
            </a:r>
          </a:p>
        </p:txBody>
      </p:sp>
      <p:pic>
        <p:nvPicPr>
          <p:cNvPr id="6" name="תמונה 2">
            <a:extLst>
              <a:ext uri="{FF2B5EF4-FFF2-40B4-BE49-F238E27FC236}">
                <a16:creationId xmlns:a16="http://schemas.microsoft.com/office/drawing/2014/main" id="{0F24A728-3574-F5D9-5613-97F3CF9E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641" y="2388597"/>
            <a:ext cx="7013751" cy="1040403"/>
          </a:xfrm>
          <a:prstGeom prst="rect">
            <a:avLst/>
          </a:prstGeom>
        </p:spPr>
      </p:pic>
      <p:sp>
        <p:nvSpPr>
          <p:cNvPr id="7" name="מלבן 9">
            <a:extLst>
              <a:ext uri="{FF2B5EF4-FFF2-40B4-BE49-F238E27FC236}">
                <a16:creationId xmlns:a16="http://schemas.microsoft.com/office/drawing/2014/main" id="{C999F1EC-C95C-A390-524F-599A9D83FA8B}"/>
              </a:ext>
            </a:extLst>
          </p:cNvPr>
          <p:cNvSpPr/>
          <p:nvPr/>
        </p:nvSpPr>
        <p:spPr>
          <a:xfrm>
            <a:off x="5855670" y="56709"/>
            <a:ext cx="411840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"קליטת נתונים"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AE3AFC-56C2-8DC4-3A91-70C2BE4FB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63142E-482B-6C07-4623-2923F3E15F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965" y="5140772"/>
            <a:ext cx="4961385" cy="886402"/>
          </a:xfrm>
          <a:prstGeom prst="rect">
            <a:avLst/>
          </a:prstGeom>
        </p:spPr>
      </p:pic>
      <p:sp>
        <p:nvSpPr>
          <p:cNvPr id="11" name="מלבן 5">
            <a:extLst>
              <a:ext uri="{FF2B5EF4-FFF2-40B4-BE49-F238E27FC236}">
                <a16:creationId xmlns:a16="http://schemas.microsoft.com/office/drawing/2014/main" id="{5C38C060-DB93-2A8C-E273-9CE14FC9012E}"/>
              </a:ext>
            </a:extLst>
          </p:cNvPr>
          <p:cNvSpPr/>
          <p:nvPr/>
        </p:nvSpPr>
        <p:spPr>
          <a:xfrm>
            <a:off x="1981338" y="3973929"/>
            <a:ext cx="915806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דוגמה: קליטת מחרוזת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והמרת </a:t>
            </a:r>
            <a:r>
              <a:rPr lang="he-IL" sz="36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ערכו למספר שלם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872858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758</TotalTime>
  <Words>225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Assistant</vt:lpstr>
      <vt:lpstr>Consolas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121</cp:revision>
  <dcterms:created xsi:type="dcterms:W3CDTF">2019-01-05T16:01:25Z</dcterms:created>
  <dcterms:modified xsi:type="dcterms:W3CDTF">2024-07-02T18:04:04Z</dcterms:modified>
</cp:coreProperties>
</file>