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318" r:id="rId3"/>
    <p:sldId id="325" r:id="rId4"/>
    <p:sldId id="319" r:id="rId5"/>
    <p:sldId id="324" r:id="rId6"/>
    <p:sldId id="320" r:id="rId7"/>
    <p:sldId id="321" r:id="rId8"/>
    <p:sldId id="322" r:id="rId9"/>
    <p:sldId id="323" r:id="rId10"/>
    <p:sldId id="336" r:id="rId11"/>
    <p:sldId id="330" r:id="rId12"/>
    <p:sldId id="337" r:id="rId13"/>
    <p:sldId id="334" r:id="rId14"/>
    <p:sldId id="33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א'/אלול/תשפ"ד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א'/אלול/תשפ"ד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א'/אלול/תשפ"ד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א'/אלול/תשפ"ד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א'/אלול/תשפ"ד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א'/אלול/תשפ"ד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א'/אלול/תשפ"ד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א'/אלול/תשפ"ד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א'/אלול/תשפ"ד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א'/אלול/תשפ"ד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א'/אלול/תשפ"ד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א'/אלול/תשפ"ד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א'/אלול/תשפ"ד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א'/אלול/תשפ"ד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א'/אלול/תשפ"ד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א'/אלול/תשפ"ד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א'/אלול/תשפ"ד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dirty="0"/>
              <a:t>ערוך סגנונות טקסט של תבנית בסיס</a:t>
            </a:r>
          </a:p>
          <a:p>
            <a:pPr lvl="1"/>
            <a:r>
              <a:rPr lang="he-IL" dirty="0"/>
              <a:t>רמה שניה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  <a:cs typeface="Assistant" pitchFamily="2" charset="-79"/>
              </a:defRPr>
            </a:lvl1pPr>
          </a:lstStyle>
          <a:p>
            <a:fld id="{5E748D9F-4EFE-4FE5-BF7F-6AC227598A2D}" type="datetimeFigureOut">
              <a:rPr lang="he-IL" smtClean="0"/>
              <a:pPr/>
              <a:t>א'/אלול/תשפ"ד</a:t>
            </a:fld>
            <a:endParaRPr lang="he-I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  <a:cs typeface="Assistant" pitchFamily="2" charset="-79"/>
              </a:defRPr>
            </a:lvl1pPr>
          </a:lstStyle>
          <a:p>
            <a:endParaRPr lang="he-I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  <a:cs typeface="Assistant" pitchFamily="2" charset="-79"/>
              </a:defRPr>
            </a:lvl1pPr>
          </a:lstStyle>
          <a:p>
            <a:fld id="{4B562934-B4D1-4DE2-88B1-01B939A996EC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ssistant" pitchFamily="2" charset="-79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ssistant" pitchFamily="2" charset="-79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ssistant" pitchFamily="2" charset="-79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ssistant" pitchFamily="2" charset="-79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ssistant" pitchFamily="2" charset="-79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4028349" y="1970337"/>
            <a:ext cx="3183885" cy="286232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חיישנים</a:t>
            </a:r>
            <a:endParaRPr lang="en-US" sz="6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rtl="1"/>
            <a:endParaRPr lang="en-US" sz="6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rtl="1"/>
            <a:r>
              <a:rPr lang="en-US" sz="6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sensors</a:t>
            </a:r>
            <a:endParaRPr lang="he-IL" sz="6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5F9163-D3BC-2580-6740-CB36DD0DE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274A25-4815-C6FA-9F9E-F5BBAFEA7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8A149F-0169-ECF3-6C44-3633D60A567A}"/>
              </a:ext>
            </a:extLst>
          </p:cNvPr>
          <p:cNvSpPr/>
          <p:nvPr/>
        </p:nvSpPr>
        <p:spPr>
          <a:xfrm>
            <a:off x="8923917" y="-74237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64175" y="1598115"/>
            <a:ext cx="973644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חיישנים הם מרכיבים אלקטרוניים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שמזהים ומודדים מאפיינים פיזיים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כגון תנועה, אור, טמפרטורה וקול (ועוד הרבה...).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למכשירי אנדרואיד יש מגוון חיישנים מובנים,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המשמשים לספק נתונים לאפליקציות.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7500E9-79C1-048D-83E1-C15FA5BB7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DECD46-CDE5-EC63-5E74-889643466A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F7EAC2-E50E-66D2-F0D5-BE2D692EA291}"/>
              </a:ext>
            </a:extLst>
          </p:cNvPr>
          <p:cNvSpPr/>
          <p:nvPr/>
        </p:nvSpPr>
        <p:spPr>
          <a:xfrm>
            <a:off x="8923917" y="-74237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3730627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46787" y="1340777"/>
            <a:ext cx="9409471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חיישני תקן שקיימים בכל מכשירים</a:t>
            </a:r>
          </a:p>
          <a:p>
            <a:pPr algn="ctr" rtl="1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(די פשוט לכתות קוד עבורם)</a:t>
            </a:r>
          </a:p>
          <a:p>
            <a:pPr algn="ctr" rtl="1"/>
            <a:endParaRPr lang="he-IL" sz="36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חיישנים מובנים "תלויי יצרן"</a:t>
            </a:r>
          </a:p>
          <a:p>
            <a:pPr algn="ctr" rtl="1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(די קשי לכתוב קוד עבורם)</a:t>
            </a:r>
          </a:p>
          <a:p>
            <a:pPr algn="ctr" rtl="1"/>
            <a:endParaRPr lang="he-IL" sz="36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חיישנים חיצוניים </a:t>
            </a:r>
          </a:p>
          <a:p>
            <a:pPr algn="ctr" rtl="1"/>
            <a:r>
              <a:rPr lang="he-IL" sz="36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(הם מגיעים עם קודים משלהם)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658DEE-CB17-8AFD-0549-B83F3EE70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CEF6EB-F885-4946-950F-AE9D3931E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909582-DC41-47FC-B76A-EE9713E779A7}"/>
              </a:ext>
            </a:extLst>
          </p:cNvPr>
          <p:cNvSpPr/>
          <p:nvPr/>
        </p:nvSpPr>
        <p:spPr>
          <a:xfrm>
            <a:off x="8923917" y="-74237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3993055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93672" y="1018011"/>
            <a:ext cx="10257554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למכשירי אנדרואיד יש מגוון חיישנים, כולל: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1943100" lvl="3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מד תאוצה: מודד תאוצה והטיה</a:t>
            </a:r>
          </a:p>
          <a:p>
            <a:pPr marL="1943100" lvl="3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ג'ירוסקופ: מודד סיבוב ומהירות זוויתית</a:t>
            </a:r>
          </a:p>
          <a:p>
            <a:pPr marL="1943100" lvl="3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מגנומטר: מודד את השדה המגנטי</a:t>
            </a:r>
          </a:p>
          <a:p>
            <a:pPr marL="1943100" lvl="3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חיישן קירבה: מזהה כאשר חפץ נמצא ליד המכשיר</a:t>
            </a:r>
          </a:p>
          <a:p>
            <a:pPr marL="1943100" lvl="3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חיישן אור: מודד את רמות האור הסביבה</a:t>
            </a:r>
          </a:p>
          <a:p>
            <a:pPr marL="1943100" lvl="3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D7815C-B951-6F92-6C11-E3FEB3274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D0B6DB-86ED-349A-C2B0-8460DDC917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6F39CA6-FF6C-B51C-58F4-1C2D1D041F31}"/>
              </a:ext>
            </a:extLst>
          </p:cNvPr>
          <p:cNvSpPr/>
          <p:nvPr/>
        </p:nvSpPr>
        <p:spPr>
          <a:xfrm>
            <a:off x="8923917" y="-74237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2169249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44511" y="1558785"/>
            <a:ext cx="9736443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לפני שנעבור על מספר דוגמאות,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חשוב לציין כמה עובדות בעייתיות 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הקשורות לשימוש בחיישנים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בפרויקט לבגרות: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רוב החיישנים הם די ספציפיים ולא קל למצוא איך לשלב אותם באפליקציה "כללית"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לא בטוח שחיישן הדרוש כן קיים בכל מכשיר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יכולות של חלק מהחיישנים הן יחסית מוגבלות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1DB376-8FEB-AD6A-B96E-DF65AFF99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C54048-5466-9F15-61B1-4E77466893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C896EF-EBE5-7D68-26D1-794E49ECEF44}"/>
              </a:ext>
            </a:extLst>
          </p:cNvPr>
          <p:cNvSpPr/>
          <p:nvPr/>
        </p:nvSpPr>
        <p:spPr>
          <a:xfrm>
            <a:off x="8923917" y="-74237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1854373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93672" y="1018011"/>
            <a:ext cx="973644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Motion Sensors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Environmental Sensors</a:t>
            </a:r>
            <a:endParaRPr lang="ru-RU" sz="2800" dirty="0">
              <a:solidFill>
                <a:srgbClr val="273239"/>
              </a:solidFill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Position Sensors 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Ambient Light Sensor</a:t>
            </a:r>
            <a:endParaRPr lang="ru-RU" sz="2800" dirty="0">
              <a:solidFill>
                <a:srgbClr val="273239"/>
              </a:solidFill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Proximity Sensor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Accelerometer Sensor</a:t>
            </a:r>
            <a:endParaRPr lang="ru-RU" sz="2800" dirty="0">
              <a:solidFill>
                <a:srgbClr val="273239"/>
              </a:solidFill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Gyroscope Sensor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Barometer Sensor</a:t>
            </a:r>
            <a:endParaRPr lang="ru-RU" sz="2800" dirty="0">
              <a:solidFill>
                <a:srgbClr val="273239"/>
              </a:solidFill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Compass Sensor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Pedometer Sensor</a:t>
            </a:r>
            <a:endParaRPr lang="ru-RU" sz="2800" dirty="0">
              <a:solidFill>
                <a:srgbClr val="273239"/>
              </a:solidFill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Hall Sensor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ru-RU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273239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urw-din"/>
                <a:cs typeface="Assistant" panose="00000500000000000000" pitchFamily="2" charset="-79"/>
              </a:rPr>
              <a:t>…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67E41D-A21B-F444-ABBA-036DBA1CE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BA9E19-28DE-2328-2433-424F1E3D5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337C34D-613D-E66A-BAEE-94ACAC8899FD}"/>
              </a:ext>
            </a:extLst>
          </p:cNvPr>
          <p:cNvSpPr/>
          <p:nvPr/>
        </p:nvSpPr>
        <p:spPr>
          <a:xfrm>
            <a:off x="8923917" y="-74237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4203686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164362" y="1639583"/>
            <a:ext cx="973644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באמולטור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יש אפשרות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לבצע הדמיית שימוש בחלק מחיישנים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("הפופולריים", נפוצים)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על מנת להגיע לחיישנים של </a:t>
            </a:r>
            <a:r>
              <a:rPr lang="he-IL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אמולטור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יש לפתוח לוח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Extended controls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ולבחור ב-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Virtual sensors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39F95C-96AB-97DB-125D-8FE48B3C0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A616A4-E26B-E5F4-8EB3-04B8F8FA7F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BC7371-08F3-BCE4-FFC8-DDECB9E093EB}"/>
              </a:ext>
            </a:extLst>
          </p:cNvPr>
          <p:cNvSpPr/>
          <p:nvPr/>
        </p:nvSpPr>
        <p:spPr>
          <a:xfrm>
            <a:off x="8923917" y="-74237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3486240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95348" y="1374696"/>
            <a:ext cx="97364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קיימים שתי תת-לוחיות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6657CF-DAE5-92B0-25D6-E7541FF52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37" y="2379405"/>
            <a:ext cx="5443937" cy="43148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DA6E28-82F8-A74C-089D-8032CB81B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314" y="2379406"/>
            <a:ext cx="5443937" cy="43148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C8D000-1CC7-A5BA-A28E-0681F07DA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B6442D-7099-21B9-05D3-6EA691B5EB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48E6550-4C92-F3CA-CD61-944F36A43DD3}"/>
              </a:ext>
            </a:extLst>
          </p:cNvPr>
          <p:cNvSpPr/>
          <p:nvPr/>
        </p:nvSpPr>
        <p:spPr>
          <a:xfrm>
            <a:off x="8923917" y="-74237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3711822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039711" y="1647276"/>
            <a:ext cx="97364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גישה לשימוש בחיישנים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מתאפשרת דרך עצם מסוג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SensorManager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אשר יוצר גישה לשירות מערכתית</a:t>
            </a:r>
          </a:p>
          <a:p>
            <a:pPr algn="ctr" rtl="1"/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SENSOR_SERVICE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C29302-19E4-B4E1-B867-0874B1886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8" y="5030249"/>
            <a:ext cx="11911323" cy="4954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E98B07-593B-8E68-ADB0-3632A4049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9AE400-203A-424C-752A-AB7DFF2810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CCCAB0A-F3FC-9EC7-7356-25618D91C019}"/>
              </a:ext>
            </a:extLst>
          </p:cNvPr>
          <p:cNvSpPr/>
          <p:nvPr/>
        </p:nvSpPr>
        <p:spPr>
          <a:xfrm>
            <a:off x="8923917" y="-74237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786467-BAB5-C919-DDEC-04744137B5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4714" y="4012822"/>
            <a:ext cx="3739683" cy="49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76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888750" y="1861891"/>
            <a:ext cx="97364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אחר כך בעזרת</a:t>
            </a:r>
          </a:p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SensorManager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ניתן לגשת לטיפול בחיישן מסוים (הדרוש),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למשל: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E98B07-593B-8E68-ADB0-3632A4049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9AE400-203A-424C-752A-AB7DFF2810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CCCAB0A-F3FC-9EC7-7356-25618D91C019}"/>
              </a:ext>
            </a:extLst>
          </p:cNvPr>
          <p:cNvSpPr/>
          <p:nvPr/>
        </p:nvSpPr>
        <p:spPr>
          <a:xfrm>
            <a:off x="8923917" y="-74237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20A5C7-4D36-1681-0261-AF4F53041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798" y="5398457"/>
            <a:ext cx="9262403" cy="4596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CF6AEB-A48B-B34A-4540-105EA805F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9027" y="4239041"/>
            <a:ext cx="3615888" cy="76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99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164362" y="279706"/>
            <a:ext cx="97364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גישה לביצועיי החיישנים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מקבלים בעזרת מאזין</a:t>
            </a:r>
          </a:p>
          <a:p>
            <a:pPr algn="ctr" rtl="1"/>
            <a:r>
              <a:rPr lang="en-US" sz="3600" b="1" i="0" dirty="0" err="1">
                <a:solidFill>
                  <a:srgbClr val="374151"/>
                </a:solidFill>
                <a:effectLst/>
                <a:latin typeface="Söhne"/>
              </a:rPr>
              <a:t>SensorEventListener</a:t>
            </a:r>
            <a:r>
              <a:rPr lang="en-US" sz="36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endParaRPr lang="he-IL" sz="3600" b="0" i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אשר משמש לטיפול באירועי חיישן וקבלת נתוני חיישן.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41F5A9-474F-3676-29F9-354F0C7E0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8FBE6E-6FBE-D64F-AA87-A76890F1C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42678C5-6B20-43EE-0C0F-D5FA0490D6E6}"/>
              </a:ext>
            </a:extLst>
          </p:cNvPr>
          <p:cNvSpPr/>
          <p:nvPr/>
        </p:nvSpPr>
        <p:spPr>
          <a:xfrm>
            <a:off x="8923917" y="-74237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7E3187-6D61-EFBB-A470-85EC56258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9144" y="3515917"/>
            <a:ext cx="6453711" cy="32486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5C2FE6-50D5-684F-D8D1-6AAFFA911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705" y="2500253"/>
            <a:ext cx="3659963" cy="88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243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95348" y="1970854"/>
            <a:ext cx="973644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כל זה רק(!!!) מכין חיישן לפעילות,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אבל עדיין לא מאפשר לא לפעול.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כדי לקבל תוצאות מהחיישן,</a:t>
            </a:r>
          </a:p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חובה(!!!)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להעבירו למצב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"פעיל"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  <a:p>
            <a:pPr algn="ctr" rtl="1"/>
            <a:endParaRPr lang="he-IL" sz="36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כדי להפסיק שימוש בחיישן,</a:t>
            </a:r>
          </a:p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חובה(!!!)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להעבירו למצב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"לא פעיל"</a:t>
            </a:r>
            <a:endParaRPr lang="he-IL" sz="36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41F5A9-474F-3676-29F9-354F0C7E0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8FBE6E-6FBE-D64F-AA87-A76890F1C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42678C5-6B20-43EE-0C0F-D5FA0490D6E6}"/>
              </a:ext>
            </a:extLst>
          </p:cNvPr>
          <p:cNvSpPr/>
          <p:nvPr/>
        </p:nvSpPr>
        <p:spPr>
          <a:xfrm>
            <a:off x="8923917" y="-74237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3269066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1016317"/>
            <a:ext cx="97364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כדי להעביר חיישן למצב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"פעיל"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צריך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"לרשום"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אותו לשימוש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2C31D-9B37-6320-437B-B2A207DEF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750" y="4026642"/>
            <a:ext cx="7382114" cy="1074612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54CC5CC1-3D2E-E606-231B-3D8B7308A7AB}"/>
              </a:ext>
            </a:extLst>
          </p:cNvPr>
          <p:cNvSpPr/>
          <p:nvPr/>
        </p:nvSpPr>
        <p:spPr>
          <a:xfrm>
            <a:off x="8367252" y="2645168"/>
            <a:ext cx="2733366" cy="619141"/>
          </a:xfrm>
          <a:prstGeom prst="wedgeRoundRectCallout">
            <a:avLst>
              <a:gd name="adj1" fmla="val -49874"/>
              <a:gd name="adj2" fmla="val 19720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משתנה מסוג "מאזין"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A6FEFE61-AA42-58E8-5A5A-F3E9E7E4B291}"/>
              </a:ext>
            </a:extLst>
          </p:cNvPr>
          <p:cNvSpPr/>
          <p:nvPr/>
        </p:nvSpPr>
        <p:spPr>
          <a:xfrm>
            <a:off x="496530" y="5554016"/>
            <a:ext cx="2733366" cy="619141"/>
          </a:xfrm>
          <a:prstGeom prst="wedgeRoundRectCallout">
            <a:avLst>
              <a:gd name="adj1" fmla="val 68472"/>
              <a:gd name="adj2" fmla="val -20615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משתנה מסוג "חיישן"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40CD8877-61B8-5BD1-83A9-29902FDBB426}"/>
              </a:ext>
            </a:extLst>
          </p:cNvPr>
          <p:cNvSpPr/>
          <p:nvPr/>
        </p:nvSpPr>
        <p:spPr>
          <a:xfrm>
            <a:off x="7492181" y="5841683"/>
            <a:ext cx="2733366" cy="619141"/>
          </a:xfrm>
          <a:prstGeom prst="wedgeRoundRectCallout">
            <a:avLst>
              <a:gd name="adj1" fmla="val -47715"/>
              <a:gd name="adj2" fmla="val -16963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זמן המתנה לתגובה</a:t>
            </a:r>
            <a:endParaRPr lang="en-US" sz="2000" b="1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92567A-7FD0-EEFC-5BD5-4EB9006EE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E2F0B3-A3D3-66DE-8C5F-2376B0E2B9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9E01E63-ABF3-39A9-3ADF-FAD16116E04E}"/>
              </a:ext>
            </a:extLst>
          </p:cNvPr>
          <p:cNvSpPr/>
          <p:nvPr/>
        </p:nvSpPr>
        <p:spPr>
          <a:xfrm>
            <a:off x="8923917" y="-74237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3224221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1528502"/>
            <a:ext cx="97364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כדי להעביר חיישן למצב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"לא פעיל"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צריך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"לבטל רישום"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שלו לשימוש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92567A-7FD0-EEFC-5BD5-4EB9006EE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E2F0B3-A3D3-66DE-8C5F-2376B0E2B9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9E01E63-ABF3-39A9-3ADF-FAD16116E04E}"/>
              </a:ext>
            </a:extLst>
          </p:cNvPr>
          <p:cNvSpPr/>
          <p:nvPr/>
        </p:nvSpPr>
        <p:spPr>
          <a:xfrm>
            <a:off x="8923917" y="-74237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05523D-3ABB-2FD1-DEDF-B2A13DCD4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6966" y="4129169"/>
            <a:ext cx="7863616" cy="44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5834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4945</TotalTime>
  <Words>358</Words>
  <Application>Microsoft Office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Assistant</vt:lpstr>
      <vt:lpstr>Segoe UI Semibold</vt:lpstr>
      <vt:lpstr>Söhne</vt:lpstr>
      <vt:lpstr>Tahoma</vt:lpstr>
      <vt:lpstr>Tw Cen MT</vt:lpstr>
      <vt:lpstr>urw-din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438</cp:revision>
  <dcterms:created xsi:type="dcterms:W3CDTF">2019-01-05T16:01:25Z</dcterms:created>
  <dcterms:modified xsi:type="dcterms:W3CDTF">2024-09-04T15:13:56Z</dcterms:modified>
</cp:coreProperties>
</file>