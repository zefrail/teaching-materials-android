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1"/>
  </p:sldMasterIdLst>
  <p:sldIdLst>
    <p:sldId id="257" r:id="rId2"/>
    <p:sldId id="258" r:id="rId3"/>
    <p:sldId id="265" r:id="rId4"/>
    <p:sldId id="266" r:id="rId5"/>
    <p:sldId id="268" r:id="rId6"/>
    <p:sldId id="267" r:id="rId7"/>
    <p:sldId id="269" r:id="rId8"/>
    <p:sldId id="270" r:id="rId9"/>
    <p:sldId id="271" r:id="rId10"/>
    <p:sldId id="259" r:id="rId11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70" d="100"/>
          <a:sy n="70" d="100"/>
        </p:scale>
        <p:origin x="138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חבר ישר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כותרת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9" name="כותרת משנה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he-IL" smtClean="0"/>
              <a:t>לחץ כדי לערוך סגנון כותרת משנה של תבנית בסיס</a:t>
            </a:r>
            <a:endParaRPr kumimoji="0" lang="en-US"/>
          </a:p>
        </p:txBody>
      </p:sp>
      <p:sp>
        <p:nvSpPr>
          <p:cNvPr id="16" name="מציין מיקום של תאריך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ט"ו/סיון/תשע"ו</a:t>
            </a:fld>
            <a:endParaRPr lang="he-IL"/>
          </a:p>
        </p:txBody>
      </p:sp>
      <p:sp>
        <p:nvSpPr>
          <p:cNvPr id="2" name="מציין מיקום של כותרת תחתונה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5" name="מציין מיקום של מספר שקופית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כותרת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27" name="מציין מיקום תוכן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25" name="מציין מיקום של תאריך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ט"ו/סיון/תשע"ו</a:t>
            </a:fld>
            <a:endParaRPr lang="he-IL"/>
          </a:p>
        </p:txBody>
      </p:sp>
      <p:sp>
        <p:nvSpPr>
          <p:cNvPr id="19" name="מציין מיקום של כותרת תחתונה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he-IL"/>
          </a:p>
        </p:txBody>
      </p:sp>
      <p:sp>
        <p:nvSpPr>
          <p:cNvPr id="16" name="מציין מיקום של מספר שקופית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חבר ישר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מציין מיקום טקסט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</p:txBody>
      </p:sp>
      <p:sp>
        <p:nvSpPr>
          <p:cNvPr id="19" name="מציין מיקום של תאריך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ט"ו/סיון/תשע"ו</a:t>
            </a:fld>
            <a:endParaRPr lang="he-IL"/>
          </a:p>
        </p:txBody>
      </p:sp>
      <p:sp>
        <p:nvSpPr>
          <p:cNvPr id="11" name="מציין מיקום של כותרת תחתונה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מציין מיקום של מספר שקופית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כותרת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14" name="מציין מיקום תוכן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13" name="מציין מיקום תוכן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21" name="מציין מיקום של תאריך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ט"ו/סיון/תשע"ו</a:t>
            </a:fld>
            <a:endParaRPr lang="he-IL"/>
          </a:p>
        </p:txBody>
      </p:sp>
      <p:sp>
        <p:nvSpPr>
          <p:cNvPr id="10" name="מציין מיקום של כותרת תחתונה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1" name="מציין מיקום של מספר שקופית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כותרת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13" name="מציין מיקום טקסט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</p:txBody>
      </p:sp>
      <p:sp>
        <p:nvSpPr>
          <p:cNvPr id="25" name="מציין מיקום טקסט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28" name="מציין מיקום תוכן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10" name="מציין מיקום של תאריך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ט"ו/סיון/תשע"ו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מחבר ישר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כותרת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12" name="מציין מיקום של תאריך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ט"ו/סיון/תשע"ו</a:t>
            </a:fld>
            <a:endParaRPr lang="he-IL"/>
          </a:p>
        </p:txBody>
      </p:sp>
      <p:sp>
        <p:nvSpPr>
          <p:cNvPr id="21" name="מציין מיקום של כותרת תחתונה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ndro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ט"ו/סיון/תשע"ו</a:t>
            </a:fld>
            <a:endParaRPr lang="he-IL"/>
          </a:p>
        </p:txBody>
      </p:sp>
      <p:sp>
        <p:nvSpPr>
          <p:cNvPr id="24" name="מציין מיקום של כותרת תחתונה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1457325" cy="1011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1457325" cy="1011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חבר ישר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כותרת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26" name="מציין מיקום טקסט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</p:txBody>
      </p:sp>
      <p:sp>
        <p:nvSpPr>
          <p:cNvPr id="14" name="מציין מיקום תוכן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25" name="מציין מיקום של תאריך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ט"ו/סיון/תשע"ו</a:t>
            </a:fld>
            <a:endParaRPr lang="he-IL"/>
          </a:p>
        </p:txBody>
      </p:sp>
      <p:sp>
        <p:nvSpPr>
          <p:cNvPr id="29" name="מציין מיקום של כותרת תחתונה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ציין מיקום של תמונה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he-IL" smtClean="0"/>
              <a:t>לחץ על הסמל כדי להוסיף תמונה</a:t>
            </a:r>
            <a:endParaRPr kumimoji="0" lang="en-US" dirty="0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ט"ו/סיון/תשע"ו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1" name="מציין מיקום של מספר שקופית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  <p:sp>
        <p:nvSpPr>
          <p:cNvPr id="17" name="כותרת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26" name="מציין מיקום טקסט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ט"ו/סיון/תשע"ו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ט"ו/סיון/תשע"ו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חבר ישר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מציין מיקום טקסט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kumimoji="0" lang="he-IL" smtClean="0"/>
              <a:t>רמה שנייה</a:t>
            </a:r>
          </a:p>
          <a:p>
            <a:pPr lvl="2" eaLnBrk="1" latinLnBrk="0" hangingPunct="1"/>
            <a:r>
              <a:rPr kumimoji="0" lang="he-IL" smtClean="0"/>
              <a:t>רמה שלישית</a:t>
            </a:r>
          </a:p>
          <a:p>
            <a:pPr lvl="3" eaLnBrk="1" latinLnBrk="0" hangingPunct="1"/>
            <a:r>
              <a:rPr kumimoji="0" lang="he-IL" smtClean="0"/>
              <a:t>רמה רביעית</a:t>
            </a:r>
          </a:p>
          <a:p>
            <a:pPr lvl="4" eaLnBrk="1" latinLnBrk="0" hangingPunct="1"/>
            <a:r>
              <a:rPr kumimoji="0" lang="he-IL" smtClean="0"/>
              <a:t>רמה חמישית</a:t>
            </a:r>
            <a:endParaRPr kumimoji="0" lang="en-US"/>
          </a:p>
        </p:txBody>
      </p:sp>
      <p:sp>
        <p:nvSpPr>
          <p:cNvPr id="11" name="מציין מיקום של תאריך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ABEDE9E9-CF75-485B-9437-3A9A6DC7300A}" type="datetimeFigureOut">
              <a:rPr lang="he-IL" smtClean="0"/>
              <a:t>ט"ו/סיון/תשע"ו</a:t>
            </a:fld>
            <a:endParaRPr lang="he-IL"/>
          </a:p>
        </p:txBody>
      </p:sp>
      <p:sp>
        <p:nvSpPr>
          <p:cNvPr id="28" name="מציין מיקום של כותרת תחתונה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  <p:sp>
        <p:nvSpPr>
          <p:cNvPr id="10" name="מציין מיקום של כותרת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9" name="מחבר ישר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מחבר ישר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1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r" rtl="1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r" rtl="1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r" rtl="1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r" rtl="1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r" rtl="1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r" rtl="1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r" rtl="1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r" rtl="1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r" rtl="1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developer.android.com/reference/android/widget/TextView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43608" y="2204864"/>
            <a:ext cx="748883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קיימים תכונות רבות למרכיב </a:t>
            </a: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TextView</a:t>
            </a:r>
            <a:endParaRPr lang="he-IL" sz="3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4149080"/>
            <a:ext cx="7488832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תכונות האלה ניתן לתת למרכיב או דרך קביעתן בקובץ </a:t>
            </a: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he-IL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-- או דרך שימוש בפעולות תקניות בקובץ </a:t>
            </a: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he-IL" sz="3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1822580" y="519623"/>
            <a:ext cx="6518131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8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uttman Frank" panose="02010401010101010101" pitchFamily="2" charset="-79"/>
                <a:ea typeface="+mj-ea"/>
                <a:cs typeface="Guttman Frank" panose="02010401010101010101" pitchFamily="2" charset="-79"/>
              </a:rPr>
              <a:t>מרכיב </a:t>
            </a:r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eorgia" panose="02040502050405020303" pitchFamily="18" charset="0"/>
                <a:ea typeface="+mj-ea"/>
                <a:cs typeface="Guttman Frank" panose="02010401010101010101" pitchFamily="2" charset="-79"/>
              </a:rPr>
              <a:t>TextView</a:t>
            </a:r>
            <a:endParaRPr lang="he-IL" sz="6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C0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Georgia" panose="02040502050405020303" pitchFamily="18" charset="0"/>
              <a:ea typeface="+mj-ea"/>
              <a:cs typeface="Guttman Frank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95380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107504" y="3244334"/>
            <a:ext cx="51251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err="1">
                <a:solidFill>
                  <a:srgbClr val="7F007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android:textSize</a:t>
            </a:r>
            <a:r>
              <a:rPr lang="en-US" sz="2800" b="1" u="sng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=</a:t>
            </a:r>
            <a:r>
              <a:rPr lang="en-US" sz="2800" b="1" i="1" u="sng" dirty="0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"10dp"</a:t>
            </a:r>
            <a:endParaRPr lang="he-IL" sz="2800" b="1" dirty="0"/>
          </a:p>
        </p:txBody>
      </p:sp>
      <p:sp>
        <p:nvSpPr>
          <p:cNvPr id="4" name="הסבר חץ למטה 3"/>
          <p:cNvSpPr/>
          <p:nvPr/>
        </p:nvSpPr>
        <p:spPr>
          <a:xfrm>
            <a:off x="818618" y="1400002"/>
            <a:ext cx="2232248" cy="1844332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4800" dirty="0" smtClean="0">
                <a:latin typeface="Bodoni MT Black" panose="02070A03080606020203" pitchFamily="18" charset="0"/>
              </a:rPr>
              <a:t>XML</a:t>
            </a:r>
            <a:endParaRPr lang="he-IL" sz="4800" dirty="0">
              <a:latin typeface="Bodoni MT Black" panose="02070A03080606020203" pitchFamily="18" charset="0"/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4340980" y="5067565"/>
            <a:ext cx="46955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solidFill>
                  <a:srgbClr val="0000C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tv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.setTextSize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0000C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size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);</a:t>
            </a:r>
            <a:endParaRPr lang="he-IL" sz="2800" b="1" dirty="0"/>
          </a:p>
        </p:txBody>
      </p:sp>
      <p:sp>
        <p:nvSpPr>
          <p:cNvPr id="6" name="הסבר חץ למטה 5"/>
          <p:cNvSpPr/>
          <p:nvPr/>
        </p:nvSpPr>
        <p:spPr>
          <a:xfrm>
            <a:off x="6006145" y="3223233"/>
            <a:ext cx="2232248" cy="1844332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4800" dirty="0" smtClean="0">
                <a:latin typeface="Bodoni MT Black" panose="02070A03080606020203" pitchFamily="18" charset="0"/>
              </a:rPr>
              <a:t>Java</a:t>
            </a:r>
            <a:endParaRPr lang="he-IL" sz="4800" dirty="0">
              <a:latin typeface="Bodoni MT Black" panose="02070A03080606020203" pitchFamily="18" charset="0"/>
            </a:endParaRPr>
          </a:p>
        </p:txBody>
      </p:sp>
      <p:sp>
        <p:nvSpPr>
          <p:cNvPr id="7" name="הסבר אליפטי 6"/>
          <p:cNvSpPr/>
          <p:nvPr/>
        </p:nvSpPr>
        <p:spPr>
          <a:xfrm>
            <a:off x="292161" y="4249055"/>
            <a:ext cx="3429261" cy="1080120"/>
          </a:xfrm>
          <a:prstGeom prst="wedgeEllipseCallout">
            <a:avLst>
              <a:gd name="adj1" fmla="val 73933"/>
              <a:gd name="adj2" fmla="val 5239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משתנה מסוג </a:t>
            </a:r>
            <a:r>
              <a:rPr lang="en-US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TextView</a:t>
            </a:r>
            <a:endParaRPr lang="he-IL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הסבר אליפטי 7"/>
          <p:cNvSpPr/>
          <p:nvPr/>
        </p:nvSpPr>
        <p:spPr>
          <a:xfrm>
            <a:off x="4340980" y="5611886"/>
            <a:ext cx="2439306" cy="1080120"/>
          </a:xfrm>
          <a:prstGeom prst="wedgeEllipseCallout">
            <a:avLst>
              <a:gd name="adj1" fmla="val 112632"/>
              <a:gd name="adj2" fmla="val -5374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משתנה שמכיל גודל</a:t>
            </a:r>
            <a:endParaRPr lang="he-IL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4220783" y="3244334"/>
            <a:ext cx="702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uttman Frank" panose="02010401010101010101" pitchFamily="2" charset="-79"/>
                <a:cs typeface="Guttman Frank" panose="02010401010101010101" pitchFamily="2" charset="-79"/>
              </a:rPr>
              <a:t>מרכיב</a:t>
            </a:r>
            <a:endParaRPr lang="he-IL" dirty="0"/>
          </a:p>
        </p:txBody>
      </p:sp>
      <p:sp>
        <p:nvSpPr>
          <p:cNvPr id="10" name="מלבן 9"/>
          <p:cNvSpPr/>
          <p:nvPr/>
        </p:nvSpPr>
        <p:spPr>
          <a:xfrm>
            <a:off x="4220783" y="3244334"/>
            <a:ext cx="702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uttman Frank" panose="02010401010101010101" pitchFamily="2" charset="-79"/>
                <a:cs typeface="Guttman Frank" panose="02010401010101010101" pitchFamily="2" charset="-79"/>
              </a:rPr>
              <a:t>מרכיב</a:t>
            </a:r>
            <a:endParaRPr lang="he-IL" dirty="0"/>
          </a:p>
        </p:txBody>
      </p:sp>
      <p:sp>
        <p:nvSpPr>
          <p:cNvPr id="11" name="מלבן 10"/>
          <p:cNvSpPr/>
          <p:nvPr/>
        </p:nvSpPr>
        <p:spPr>
          <a:xfrm>
            <a:off x="4220783" y="3244334"/>
            <a:ext cx="702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uttman Frank" panose="02010401010101010101" pitchFamily="2" charset="-79"/>
                <a:cs typeface="Guttman Frank" panose="02010401010101010101" pitchFamily="2" charset="-79"/>
              </a:rPr>
              <a:t>מרכיב</a:t>
            </a:r>
            <a:endParaRPr lang="he-IL" dirty="0"/>
          </a:p>
        </p:txBody>
      </p:sp>
      <p:sp>
        <p:nvSpPr>
          <p:cNvPr id="12" name="מלבן 11"/>
          <p:cNvSpPr/>
          <p:nvPr/>
        </p:nvSpPr>
        <p:spPr>
          <a:xfrm>
            <a:off x="5652615" y="92587"/>
            <a:ext cx="3344185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60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uttman Frank" panose="02010401010101010101" pitchFamily="2" charset="-79"/>
                <a:ea typeface="+mj-ea"/>
                <a:cs typeface="Guttman Frank" panose="02010401010101010101" pitchFamily="2" charset="-79"/>
              </a:rPr>
              <a:t>גודל טקסט</a:t>
            </a:r>
            <a:endParaRPr lang="he-IL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C0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Georgia" panose="02040502050405020303" pitchFamily="18" charset="0"/>
              <a:ea typeface="+mj-ea"/>
              <a:cs typeface="Guttman Frank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05344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-92910" y="3274045"/>
            <a:ext cx="59843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err="1">
                <a:solidFill>
                  <a:srgbClr val="7F007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android:textColor</a:t>
            </a:r>
            <a:r>
              <a:rPr lang="en-US" sz="2800" b="1" u="sng" dirty="0">
                <a:solidFill>
                  <a:srgbClr val="7F007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="#00FF00"</a:t>
            </a:r>
            <a:endParaRPr lang="he-IL" sz="2800" b="1" u="sng" dirty="0">
              <a:solidFill>
                <a:srgbClr val="7F007F"/>
              </a:solidFill>
              <a:highlight>
                <a:srgbClr val="E8F2FE"/>
              </a:highlight>
              <a:latin typeface="Courier New" panose="02070309020205020404" pitchFamily="49" charset="0"/>
            </a:endParaRPr>
          </a:p>
        </p:txBody>
      </p:sp>
      <p:sp>
        <p:nvSpPr>
          <p:cNvPr id="4" name="הסבר חץ למטה 3"/>
          <p:cNvSpPr/>
          <p:nvPr/>
        </p:nvSpPr>
        <p:spPr>
          <a:xfrm>
            <a:off x="818618" y="1400002"/>
            <a:ext cx="2232248" cy="1844332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4800" dirty="0" smtClean="0">
                <a:latin typeface="Bodoni MT Black" panose="02070A03080606020203" pitchFamily="18" charset="0"/>
              </a:rPr>
              <a:t>XML</a:t>
            </a:r>
            <a:endParaRPr lang="he-IL" sz="4800" dirty="0">
              <a:latin typeface="Bodoni MT Black" panose="02070A03080606020203" pitchFamily="18" charset="0"/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3375113" y="4997909"/>
            <a:ext cx="57695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tv.setTextColor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(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Color.RED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)</a:t>
            </a:r>
            <a:endParaRPr lang="he-IL" sz="2800" b="1" dirty="0">
              <a:solidFill>
                <a:srgbClr val="000000"/>
              </a:solidFill>
              <a:highlight>
                <a:srgbClr val="E8F2FE"/>
              </a:highlight>
              <a:latin typeface="Courier New" panose="02070309020205020404" pitchFamily="49" charset="0"/>
            </a:endParaRPr>
          </a:p>
        </p:txBody>
      </p:sp>
      <p:sp>
        <p:nvSpPr>
          <p:cNvPr id="6" name="הסבר חץ למטה 5"/>
          <p:cNvSpPr/>
          <p:nvPr/>
        </p:nvSpPr>
        <p:spPr>
          <a:xfrm>
            <a:off x="6588224" y="3123866"/>
            <a:ext cx="2232248" cy="1844332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4800" dirty="0" smtClean="0">
                <a:latin typeface="Bodoni MT Black" panose="02070A03080606020203" pitchFamily="18" charset="0"/>
              </a:rPr>
              <a:t>Java</a:t>
            </a:r>
            <a:endParaRPr lang="he-IL" sz="4800" dirty="0">
              <a:latin typeface="Bodoni MT Black" panose="02070A03080606020203" pitchFamily="18" charset="0"/>
            </a:endParaRPr>
          </a:p>
        </p:txBody>
      </p:sp>
      <p:sp>
        <p:nvSpPr>
          <p:cNvPr id="7" name="הסבר אליפטי 6"/>
          <p:cNvSpPr/>
          <p:nvPr/>
        </p:nvSpPr>
        <p:spPr>
          <a:xfrm>
            <a:off x="26530" y="4221088"/>
            <a:ext cx="3024336" cy="1080120"/>
          </a:xfrm>
          <a:prstGeom prst="wedgeEllipseCallout">
            <a:avLst>
              <a:gd name="adj1" fmla="val 65359"/>
              <a:gd name="adj2" fmla="val 46074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משתנה מסוג </a:t>
            </a:r>
            <a:r>
              <a:rPr lang="en-US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TextView</a:t>
            </a:r>
            <a:endParaRPr lang="he-IL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הסבר אליפטי 7"/>
          <p:cNvSpPr/>
          <p:nvPr/>
        </p:nvSpPr>
        <p:spPr>
          <a:xfrm>
            <a:off x="3923928" y="5611886"/>
            <a:ext cx="2151274" cy="1080120"/>
          </a:xfrm>
          <a:prstGeom prst="wedgeEllipseCallout">
            <a:avLst>
              <a:gd name="adj1" fmla="val 112632"/>
              <a:gd name="adj2" fmla="val -5374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קבוע צבע</a:t>
            </a:r>
            <a:endParaRPr lang="he-IL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5703107" y="92587"/>
            <a:ext cx="3243197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60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uttman Frank" panose="02010401010101010101" pitchFamily="2" charset="-79"/>
                <a:ea typeface="+mj-ea"/>
                <a:cs typeface="Guttman Frank" panose="02010401010101010101" pitchFamily="2" charset="-79"/>
              </a:rPr>
              <a:t>צבע טקסט</a:t>
            </a:r>
            <a:endParaRPr lang="he-IL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C0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Georgia" panose="02040502050405020303" pitchFamily="18" charset="0"/>
              <a:ea typeface="+mj-ea"/>
              <a:cs typeface="Guttman Frank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32297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הסבר חץ למטה 3"/>
          <p:cNvSpPr/>
          <p:nvPr/>
        </p:nvSpPr>
        <p:spPr>
          <a:xfrm>
            <a:off x="818618" y="1400002"/>
            <a:ext cx="2232248" cy="1844332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4800" dirty="0" smtClean="0">
                <a:latin typeface="Bodoni MT Black" panose="02070A03080606020203" pitchFamily="18" charset="0"/>
              </a:rPr>
              <a:t>XML</a:t>
            </a:r>
            <a:endParaRPr lang="he-IL" sz="4800" dirty="0">
              <a:latin typeface="Bodoni MT Black" panose="02070A03080606020203" pitchFamily="18" charset="0"/>
            </a:endParaRPr>
          </a:p>
        </p:txBody>
      </p:sp>
      <p:sp>
        <p:nvSpPr>
          <p:cNvPr id="6" name="הסבר חץ למטה 5"/>
          <p:cNvSpPr/>
          <p:nvPr/>
        </p:nvSpPr>
        <p:spPr>
          <a:xfrm>
            <a:off x="6588224" y="3123866"/>
            <a:ext cx="2232248" cy="1844332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4800" dirty="0" smtClean="0">
                <a:latin typeface="Bodoni MT Black" panose="02070A03080606020203" pitchFamily="18" charset="0"/>
              </a:rPr>
              <a:t>Java</a:t>
            </a:r>
            <a:endParaRPr lang="he-IL" sz="4800" dirty="0">
              <a:latin typeface="Bodoni MT Black" panose="02070A03080606020203" pitchFamily="18" charset="0"/>
            </a:endParaRPr>
          </a:p>
        </p:txBody>
      </p:sp>
      <p:sp>
        <p:nvSpPr>
          <p:cNvPr id="7" name="הסבר אליפטי 6"/>
          <p:cNvSpPr/>
          <p:nvPr/>
        </p:nvSpPr>
        <p:spPr>
          <a:xfrm>
            <a:off x="-7998" y="4249055"/>
            <a:ext cx="3024336" cy="1080120"/>
          </a:xfrm>
          <a:prstGeom prst="wedgeEllipseCallout">
            <a:avLst>
              <a:gd name="adj1" fmla="val 95594"/>
              <a:gd name="adj2" fmla="val 48601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משתנה מסוג </a:t>
            </a:r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TextView</a:t>
            </a:r>
            <a:endParaRPr lang="he-IL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הסבר אליפטי 7"/>
          <p:cNvSpPr/>
          <p:nvPr/>
        </p:nvSpPr>
        <p:spPr>
          <a:xfrm>
            <a:off x="467544" y="5611886"/>
            <a:ext cx="5607658" cy="1080120"/>
          </a:xfrm>
          <a:prstGeom prst="wedgeEllipseCallout">
            <a:avLst>
              <a:gd name="adj1" fmla="val 87077"/>
              <a:gd name="adj2" fmla="val -65118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קבוע מצב (רואים=0, לא רואים=-1)</a:t>
            </a:r>
            <a:endParaRPr lang="he-IL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-123931" y="3244334"/>
            <a:ext cx="61991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solidFill>
                  <a:srgbClr val="7F007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android:visibility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=</a:t>
            </a:r>
            <a:r>
              <a:rPr lang="en-US" sz="2800" b="1" i="1" dirty="0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"visible"</a:t>
            </a:r>
            <a:endParaRPr lang="he-IL" sz="2800" b="1" dirty="0"/>
          </a:p>
        </p:txBody>
      </p:sp>
      <p:sp>
        <p:nvSpPr>
          <p:cNvPr id="10" name="מלבן 9"/>
          <p:cNvSpPr/>
          <p:nvPr/>
        </p:nvSpPr>
        <p:spPr>
          <a:xfrm>
            <a:off x="4362890" y="5039652"/>
            <a:ext cx="44807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solidFill>
                  <a:srgbClr val="0000C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tv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.setVisibility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(0);</a:t>
            </a:r>
            <a:endParaRPr lang="he-IL" sz="2800" b="1" dirty="0"/>
          </a:p>
        </p:txBody>
      </p:sp>
      <p:sp>
        <p:nvSpPr>
          <p:cNvPr id="11" name="מלבן 10"/>
          <p:cNvSpPr/>
          <p:nvPr/>
        </p:nvSpPr>
        <p:spPr>
          <a:xfrm>
            <a:off x="2051720" y="79960"/>
            <a:ext cx="6952545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60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uttman Frank" panose="02010401010101010101" pitchFamily="2" charset="-79"/>
                <a:ea typeface="+mj-ea"/>
                <a:cs typeface="Guttman Frank" panose="02010401010101010101" pitchFamily="2" charset="-79"/>
              </a:rPr>
              <a:t>האם </a:t>
            </a:r>
            <a:r>
              <a:rPr lang="he-IL" sz="6000" b="1" u="sng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uttman Frank" panose="02010401010101010101" pitchFamily="2" charset="-79"/>
                <a:ea typeface="+mj-ea"/>
                <a:cs typeface="Guttman Frank" panose="02010401010101010101" pitchFamily="2" charset="-79"/>
              </a:rPr>
              <a:t>רואעם</a:t>
            </a:r>
            <a:r>
              <a:rPr lang="he-IL" sz="60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uttman Frank" panose="02010401010101010101" pitchFamily="2" charset="-79"/>
                <a:ea typeface="+mj-ea"/>
                <a:cs typeface="Guttman Frank" panose="02010401010101010101" pitchFamily="2" charset="-79"/>
              </a:rPr>
              <a:t> את המרכיב</a:t>
            </a:r>
            <a:endParaRPr lang="he-IL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C0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Georgia" panose="02040502050405020303" pitchFamily="18" charset="0"/>
              <a:ea typeface="+mj-ea"/>
              <a:cs typeface="Guttman Frank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11547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הסבר חץ למטה 3"/>
          <p:cNvSpPr/>
          <p:nvPr/>
        </p:nvSpPr>
        <p:spPr>
          <a:xfrm>
            <a:off x="818618" y="1400002"/>
            <a:ext cx="2232248" cy="1844332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4800" dirty="0" smtClean="0">
                <a:latin typeface="Bodoni MT Black" panose="02070A03080606020203" pitchFamily="18" charset="0"/>
              </a:rPr>
              <a:t>XML</a:t>
            </a:r>
            <a:endParaRPr lang="he-IL" sz="4800" dirty="0">
              <a:latin typeface="Bodoni MT Black" panose="02070A03080606020203" pitchFamily="18" charset="0"/>
            </a:endParaRPr>
          </a:p>
        </p:txBody>
      </p:sp>
      <p:sp>
        <p:nvSpPr>
          <p:cNvPr id="6" name="הסבר חץ למטה 5"/>
          <p:cNvSpPr/>
          <p:nvPr/>
        </p:nvSpPr>
        <p:spPr>
          <a:xfrm>
            <a:off x="6588224" y="3123866"/>
            <a:ext cx="2232248" cy="1844332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4800" dirty="0" smtClean="0">
                <a:latin typeface="Bodoni MT Black" panose="02070A03080606020203" pitchFamily="18" charset="0"/>
              </a:rPr>
              <a:t>Java</a:t>
            </a:r>
            <a:endParaRPr lang="he-IL" sz="4800" dirty="0">
              <a:latin typeface="Bodoni MT Black" panose="02070A03080606020203" pitchFamily="18" charset="0"/>
            </a:endParaRPr>
          </a:p>
        </p:txBody>
      </p:sp>
      <p:sp>
        <p:nvSpPr>
          <p:cNvPr id="7" name="הסבר אליפטי 6"/>
          <p:cNvSpPr/>
          <p:nvPr/>
        </p:nvSpPr>
        <p:spPr>
          <a:xfrm>
            <a:off x="-7998" y="4249055"/>
            <a:ext cx="3024336" cy="1080120"/>
          </a:xfrm>
          <a:prstGeom prst="wedgeEllipseCallout">
            <a:avLst>
              <a:gd name="adj1" fmla="val 101460"/>
              <a:gd name="adj2" fmla="val 3722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משתנה מסוג </a:t>
            </a:r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TextView</a:t>
            </a:r>
            <a:endParaRPr lang="he-IL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הסבר אליפטי 7"/>
          <p:cNvSpPr/>
          <p:nvPr/>
        </p:nvSpPr>
        <p:spPr>
          <a:xfrm>
            <a:off x="4663603" y="5666070"/>
            <a:ext cx="2299773" cy="1080120"/>
          </a:xfrm>
          <a:prstGeom prst="wedgeEllipseCallout">
            <a:avLst>
              <a:gd name="adj1" fmla="val 87077"/>
              <a:gd name="adj2" fmla="val -65118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קבוע רוחב</a:t>
            </a:r>
            <a:endParaRPr lang="he-IL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מלבן 2"/>
          <p:cNvSpPr/>
          <p:nvPr/>
        </p:nvSpPr>
        <p:spPr>
          <a:xfrm>
            <a:off x="179512" y="3280240"/>
            <a:ext cx="44807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solidFill>
                  <a:srgbClr val="7F007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android:width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=</a:t>
            </a:r>
            <a:r>
              <a:rPr lang="en-US" sz="2800" b="1" i="1" dirty="0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"50dp"</a:t>
            </a:r>
            <a:endParaRPr lang="he-IL" sz="2800" b="1" dirty="0"/>
          </a:p>
        </p:txBody>
      </p:sp>
      <p:sp>
        <p:nvSpPr>
          <p:cNvPr id="5" name="מלבן 4"/>
          <p:cNvSpPr/>
          <p:nvPr/>
        </p:nvSpPr>
        <p:spPr>
          <a:xfrm>
            <a:off x="4499992" y="4901858"/>
            <a:ext cx="44807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solidFill>
                  <a:srgbClr val="0000C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tv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.setWidth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0000C0"/>
                </a:solidFill>
                <a:highlight>
                  <a:srgbClr val="D4D4D4"/>
                </a:highlight>
                <a:latin typeface="Courier New" panose="02070309020205020404" pitchFamily="49" charset="0"/>
              </a:rPr>
              <a:t>pixels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);</a:t>
            </a:r>
            <a:endParaRPr lang="he-IL" sz="2800" b="1" dirty="0"/>
          </a:p>
        </p:txBody>
      </p:sp>
      <p:sp>
        <p:nvSpPr>
          <p:cNvPr id="9" name="מלבן 8"/>
          <p:cNvSpPr/>
          <p:nvPr/>
        </p:nvSpPr>
        <p:spPr>
          <a:xfrm>
            <a:off x="5587691" y="92587"/>
            <a:ext cx="3474028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60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uttman Frank" panose="02010401010101010101" pitchFamily="2" charset="-79"/>
                <a:ea typeface="+mj-ea"/>
                <a:cs typeface="Guttman Frank" panose="02010401010101010101" pitchFamily="2" charset="-79"/>
              </a:rPr>
              <a:t>רוחב מרכיב</a:t>
            </a:r>
            <a:endParaRPr lang="he-IL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C0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Georgia" panose="02040502050405020303" pitchFamily="18" charset="0"/>
              <a:ea typeface="+mj-ea"/>
              <a:cs typeface="Guttman Frank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11217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-252536" y="2420888"/>
            <a:ext cx="903649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 err="1">
                <a:solidFill>
                  <a:srgbClr val="7F007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android:background</a:t>
            </a:r>
            <a:r>
              <a:rPr lang="en-US" sz="26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=</a:t>
            </a:r>
            <a:r>
              <a:rPr lang="en-US" sz="2600" b="1" i="1" dirty="0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"@</a:t>
            </a:r>
            <a:r>
              <a:rPr lang="en-US" sz="2600" b="1" i="1" dirty="0" err="1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drawable</a:t>
            </a:r>
            <a:r>
              <a:rPr lang="en-US" sz="2600" b="1" i="1" dirty="0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/</a:t>
            </a:r>
            <a:r>
              <a:rPr lang="en-US" sz="2600" b="1" i="1" dirty="0" err="1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ic_launcher</a:t>
            </a:r>
            <a:r>
              <a:rPr lang="en-US" sz="2600" b="1" i="1" dirty="0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"</a:t>
            </a:r>
            <a:endParaRPr lang="he-IL" sz="2600" b="1" dirty="0"/>
          </a:p>
        </p:txBody>
      </p:sp>
      <p:sp>
        <p:nvSpPr>
          <p:cNvPr id="11" name="מלבן 10"/>
          <p:cNvSpPr/>
          <p:nvPr/>
        </p:nvSpPr>
        <p:spPr>
          <a:xfrm>
            <a:off x="1979712" y="138499"/>
            <a:ext cx="195438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dirty="0">
                <a:latin typeface="Bodoni MT Black" panose="02070A03080606020203" pitchFamily="18" charset="0"/>
              </a:rPr>
              <a:t>XML</a:t>
            </a:r>
            <a:endParaRPr lang="he-IL" sz="5400" dirty="0">
              <a:latin typeface="Bodoni MT Black" panose="02070A03080606020203" pitchFamily="18" charset="0"/>
            </a:endParaRPr>
          </a:p>
        </p:txBody>
      </p:sp>
      <p:sp>
        <p:nvSpPr>
          <p:cNvPr id="12" name="הסבר אליפטי 11"/>
          <p:cNvSpPr/>
          <p:nvPr/>
        </p:nvSpPr>
        <p:spPr>
          <a:xfrm>
            <a:off x="323528" y="1079407"/>
            <a:ext cx="3024336" cy="1080120"/>
          </a:xfrm>
          <a:prstGeom prst="wedgeEllipseCallout">
            <a:avLst>
              <a:gd name="adj1" fmla="val 181335"/>
              <a:gd name="adj2" fmla="val 7766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קביעת התמונה כרקע למרכיב</a:t>
            </a:r>
            <a:endParaRPr lang="he-IL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מלבן 12"/>
          <p:cNvSpPr/>
          <p:nvPr/>
        </p:nvSpPr>
        <p:spPr>
          <a:xfrm>
            <a:off x="0" y="5036003"/>
            <a:ext cx="894117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 err="1">
                <a:solidFill>
                  <a:srgbClr val="7F007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android:drawableLeft</a:t>
            </a:r>
            <a:r>
              <a:rPr lang="en-US" sz="26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=</a:t>
            </a:r>
            <a:r>
              <a:rPr lang="en-US" sz="2600" b="1" i="1" dirty="0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"@</a:t>
            </a:r>
            <a:r>
              <a:rPr lang="en-US" sz="2600" b="1" i="1" dirty="0" err="1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drawable</a:t>
            </a:r>
            <a:r>
              <a:rPr lang="en-US" sz="2600" b="1" i="1" dirty="0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/</a:t>
            </a:r>
            <a:r>
              <a:rPr lang="en-US" sz="2600" b="1" i="1" dirty="0" err="1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ic_launcher</a:t>
            </a:r>
            <a:r>
              <a:rPr lang="en-US" sz="2600" b="1" i="1" dirty="0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"</a:t>
            </a:r>
            <a:endParaRPr lang="he-IL" sz="2600" b="1" dirty="0"/>
          </a:p>
        </p:txBody>
      </p:sp>
      <p:sp>
        <p:nvSpPr>
          <p:cNvPr id="14" name="הסבר אליפטי 13"/>
          <p:cNvSpPr/>
          <p:nvPr/>
        </p:nvSpPr>
        <p:spPr>
          <a:xfrm>
            <a:off x="323528" y="3557718"/>
            <a:ext cx="8783960" cy="1080120"/>
          </a:xfrm>
          <a:prstGeom prst="wedgeEllipseCallout">
            <a:avLst>
              <a:gd name="adj1" fmla="val 37342"/>
              <a:gd name="adj2" fmla="val 85244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קביעת התמונה כחלק מנתונים המופיעים במרכיב </a:t>
            </a:r>
          </a:p>
          <a:p>
            <a:pPr algn="ctr"/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(מצד שמאל לטקסט)</a:t>
            </a:r>
            <a:endParaRPr lang="he-IL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מלבן 7"/>
          <p:cNvSpPr/>
          <p:nvPr/>
        </p:nvSpPr>
        <p:spPr>
          <a:xfrm>
            <a:off x="4683141" y="92332"/>
            <a:ext cx="4253087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60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uttman Frank" panose="02010401010101010101" pitchFamily="2" charset="-79"/>
                <a:ea typeface="+mj-ea"/>
                <a:cs typeface="Guttman Frank" panose="02010401010101010101" pitchFamily="2" charset="-79"/>
              </a:rPr>
              <a:t>תכונות נוספות</a:t>
            </a:r>
            <a:endParaRPr lang="he-IL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C0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Georgia" panose="02040502050405020303" pitchFamily="18" charset="0"/>
              <a:ea typeface="+mj-ea"/>
              <a:cs typeface="Guttman Frank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19310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לבן 10"/>
          <p:cNvSpPr/>
          <p:nvPr/>
        </p:nvSpPr>
        <p:spPr>
          <a:xfrm>
            <a:off x="2063837" y="138499"/>
            <a:ext cx="178613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dirty="0" smtClean="0">
                <a:latin typeface="Bodoni MT Black" panose="02070A03080606020203" pitchFamily="18" charset="0"/>
              </a:rPr>
              <a:t>Java</a:t>
            </a:r>
            <a:endParaRPr lang="he-IL" sz="5400" dirty="0">
              <a:latin typeface="Bodoni MT Black" panose="02070A03080606020203" pitchFamily="18" charset="0"/>
            </a:endParaRPr>
          </a:p>
        </p:txBody>
      </p:sp>
      <p:sp>
        <p:nvSpPr>
          <p:cNvPr id="12" name="הסבר אליפטי 11"/>
          <p:cNvSpPr/>
          <p:nvPr/>
        </p:nvSpPr>
        <p:spPr>
          <a:xfrm>
            <a:off x="323528" y="1079407"/>
            <a:ext cx="4752528" cy="1080120"/>
          </a:xfrm>
          <a:prstGeom prst="wedgeEllipseCallout">
            <a:avLst>
              <a:gd name="adj1" fmla="val 38407"/>
              <a:gd name="adj2" fmla="val 8777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מחזירה צבע נוכחי של טקסט במרכיב (כמספר שלם)</a:t>
            </a:r>
            <a:endParaRPr lang="he-IL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1293737" y="2552263"/>
            <a:ext cx="68435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solidFill>
                  <a:srgbClr val="7F0055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 t=</a:t>
            </a:r>
            <a:r>
              <a:rPr lang="en-US" sz="2800" b="1" dirty="0" err="1">
                <a:solidFill>
                  <a:srgbClr val="0000C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tv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.getCurrentTextColor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();</a:t>
            </a:r>
            <a:endParaRPr lang="he-IL" sz="2800" dirty="0"/>
          </a:p>
        </p:txBody>
      </p:sp>
      <p:sp>
        <p:nvSpPr>
          <p:cNvPr id="5" name="מלבן 4"/>
          <p:cNvSpPr/>
          <p:nvPr/>
        </p:nvSpPr>
        <p:spPr>
          <a:xfrm>
            <a:off x="2218547" y="6021288"/>
            <a:ext cx="38363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solidFill>
                  <a:srgbClr val="7F0055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 t=</a:t>
            </a:r>
            <a:r>
              <a:rPr lang="en-US" sz="2800" b="1" dirty="0" err="1">
                <a:solidFill>
                  <a:srgbClr val="0000C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tv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.getId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();</a:t>
            </a:r>
            <a:endParaRPr lang="he-IL" sz="2800" dirty="0"/>
          </a:p>
        </p:txBody>
      </p:sp>
      <p:sp>
        <p:nvSpPr>
          <p:cNvPr id="10" name="הסבר אליפטי 9"/>
          <p:cNvSpPr/>
          <p:nvPr/>
        </p:nvSpPr>
        <p:spPr>
          <a:xfrm>
            <a:off x="2218546" y="4365104"/>
            <a:ext cx="5809837" cy="1080120"/>
          </a:xfrm>
          <a:prstGeom prst="wedgeEllipseCallout">
            <a:avLst>
              <a:gd name="adj1" fmla="val -16561"/>
              <a:gd name="adj2" fmla="val 10546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מחזירה </a:t>
            </a:r>
            <a:r>
              <a:rPr lang="en-US" sz="2400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</a:t>
            </a:r>
            <a:r>
              <a:rPr lang="he-IL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של מרכיב </a:t>
            </a:r>
          </a:p>
          <a:p>
            <a:pPr algn="ctr"/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(כמספר שלם שרשום בקובץ </a:t>
            </a:r>
            <a:r>
              <a:rPr lang="en-US" sz="2400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</a:t>
            </a:r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במחלקה פנימית </a:t>
            </a:r>
            <a:r>
              <a:rPr lang="en-US" sz="2400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</a:t>
            </a:r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  <a:endParaRPr lang="he-IL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מלבן 7"/>
          <p:cNvSpPr/>
          <p:nvPr/>
        </p:nvSpPr>
        <p:spPr>
          <a:xfrm>
            <a:off x="4715507" y="46166"/>
            <a:ext cx="4336444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60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uttman Frank" panose="02010401010101010101" pitchFamily="2" charset="-79"/>
                <a:ea typeface="+mj-ea"/>
                <a:cs typeface="Guttman Frank" panose="02010401010101010101" pitchFamily="2" charset="-79"/>
              </a:rPr>
              <a:t>פקודות נוספות</a:t>
            </a:r>
            <a:endParaRPr lang="he-IL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C0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Georgia" panose="02040502050405020303" pitchFamily="18" charset="0"/>
              <a:ea typeface="+mj-ea"/>
              <a:cs typeface="Guttman Frank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10818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לבן 10"/>
          <p:cNvSpPr/>
          <p:nvPr/>
        </p:nvSpPr>
        <p:spPr>
          <a:xfrm>
            <a:off x="2063837" y="138499"/>
            <a:ext cx="178613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dirty="0" smtClean="0">
                <a:latin typeface="Bodoni MT Black" panose="02070A03080606020203" pitchFamily="18" charset="0"/>
              </a:rPr>
              <a:t>Java</a:t>
            </a:r>
            <a:endParaRPr lang="he-IL" sz="5400" dirty="0">
              <a:latin typeface="Bodoni MT Black" panose="02070A03080606020203" pitchFamily="18" charset="0"/>
            </a:endParaRPr>
          </a:p>
        </p:txBody>
      </p:sp>
      <p:sp>
        <p:nvSpPr>
          <p:cNvPr id="12" name="הסבר אליפטי 11"/>
          <p:cNvSpPr/>
          <p:nvPr/>
        </p:nvSpPr>
        <p:spPr>
          <a:xfrm>
            <a:off x="323528" y="1079407"/>
            <a:ext cx="4752528" cy="1080120"/>
          </a:xfrm>
          <a:prstGeom prst="wedgeEllipseCallout">
            <a:avLst>
              <a:gd name="adj1" fmla="val 38407"/>
              <a:gd name="adj2" fmla="val 8777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מחזירה טקסט נוכחי במרכיב (כמחרוזת)</a:t>
            </a:r>
            <a:endParaRPr lang="he-IL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הסבר אליפטי 9"/>
          <p:cNvSpPr/>
          <p:nvPr/>
        </p:nvSpPr>
        <p:spPr>
          <a:xfrm>
            <a:off x="2218546" y="4365104"/>
            <a:ext cx="5809837" cy="1080120"/>
          </a:xfrm>
          <a:prstGeom prst="wedgeEllipseCallout">
            <a:avLst>
              <a:gd name="adj1" fmla="val -16561"/>
              <a:gd name="adj2" fmla="val 10546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מחזירה גודל של טקסט במרכיב</a:t>
            </a:r>
          </a:p>
          <a:p>
            <a:pPr algn="ctr"/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(כמספר עשרוני)</a:t>
            </a:r>
            <a:endParaRPr lang="he-IL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מלבן 2"/>
          <p:cNvSpPr/>
          <p:nvPr/>
        </p:nvSpPr>
        <p:spPr>
          <a:xfrm>
            <a:off x="971600" y="2715714"/>
            <a:ext cx="68435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String t=(String) </a:t>
            </a:r>
            <a:r>
              <a:rPr lang="en-US" sz="2800" b="1" dirty="0" err="1">
                <a:solidFill>
                  <a:srgbClr val="0000C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tv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.getText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();</a:t>
            </a:r>
            <a:endParaRPr lang="he-IL" sz="2800" b="1" dirty="0"/>
          </a:p>
        </p:txBody>
      </p:sp>
      <p:sp>
        <p:nvSpPr>
          <p:cNvPr id="6" name="מלבן 5"/>
          <p:cNvSpPr/>
          <p:nvPr/>
        </p:nvSpPr>
        <p:spPr>
          <a:xfrm>
            <a:off x="654205" y="6202062"/>
            <a:ext cx="55547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F0055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float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 t=</a:t>
            </a:r>
            <a:r>
              <a:rPr lang="en-US" sz="2800" b="1" dirty="0" err="1">
                <a:solidFill>
                  <a:srgbClr val="0000C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tv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.getTextSize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();</a:t>
            </a:r>
            <a:endParaRPr lang="he-IL" sz="2800" dirty="0"/>
          </a:p>
        </p:txBody>
      </p:sp>
      <p:sp>
        <p:nvSpPr>
          <p:cNvPr id="8" name="מלבן 7"/>
          <p:cNvSpPr/>
          <p:nvPr/>
        </p:nvSpPr>
        <p:spPr>
          <a:xfrm>
            <a:off x="4572000" y="92332"/>
            <a:ext cx="4336444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60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uttman Frank" panose="02010401010101010101" pitchFamily="2" charset="-79"/>
                <a:ea typeface="+mj-ea"/>
                <a:cs typeface="Guttman Frank" panose="02010401010101010101" pitchFamily="2" charset="-79"/>
              </a:rPr>
              <a:t>פקודות נוספות</a:t>
            </a:r>
            <a:endParaRPr lang="he-IL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C0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Georgia" panose="02040502050405020303" pitchFamily="18" charset="0"/>
              <a:ea typeface="+mj-ea"/>
              <a:cs typeface="Guttman Frank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49219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לבן 10"/>
          <p:cNvSpPr/>
          <p:nvPr/>
        </p:nvSpPr>
        <p:spPr>
          <a:xfrm>
            <a:off x="2063837" y="138499"/>
            <a:ext cx="178613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dirty="0" smtClean="0">
                <a:latin typeface="Bodoni MT Black" panose="02070A03080606020203" pitchFamily="18" charset="0"/>
              </a:rPr>
              <a:t>Java</a:t>
            </a:r>
            <a:endParaRPr lang="he-IL" sz="5400" dirty="0">
              <a:latin typeface="Bodoni MT Black" panose="02070A03080606020203" pitchFamily="18" charset="0"/>
            </a:endParaRPr>
          </a:p>
        </p:txBody>
      </p:sp>
      <p:sp>
        <p:nvSpPr>
          <p:cNvPr id="12" name="הסבר אליפטי 11"/>
          <p:cNvSpPr/>
          <p:nvPr/>
        </p:nvSpPr>
        <p:spPr>
          <a:xfrm>
            <a:off x="179512" y="3140968"/>
            <a:ext cx="4752528" cy="1080120"/>
          </a:xfrm>
          <a:prstGeom prst="wedgeEllipseCallout">
            <a:avLst>
              <a:gd name="adj1" fmla="val 38407"/>
              <a:gd name="adj2" fmla="val 8777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מחזירה ערך שמציין האם ניתן או לא ניתן לראות את המרכיב</a:t>
            </a:r>
            <a:endParaRPr lang="he-IL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1763688" y="4869160"/>
            <a:ext cx="55547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solidFill>
                  <a:srgbClr val="7F0055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 t=</a:t>
            </a:r>
            <a:r>
              <a:rPr lang="en-US" sz="2800" b="1" dirty="0" err="1">
                <a:solidFill>
                  <a:srgbClr val="0000C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tv</a:t>
            </a:r>
            <a:r>
              <a:rPr lang="en-US" sz="2800" b="1" dirty="0" err="1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.getVisibility</a:t>
            </a:r>
            <a:r>
              <a:rPr lang="en-US" sz="2800" b="1" dirty="0">
                <a:solidFill>
                  <a:srgbClr val="000000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();</a:t>
            </a:r>
            <a:endParaRPr lang="he-IL" sz="2800" dirty="0"/>
          </a:p>
        </p:txBody>
      </p:sp>
      <p:sp>
        <p:nvSpPr>
          <p:cNvPr id="6" name="מלבן 5"/>
          <p:cNvSpPr/>
          <p:nvPr/>
        </p:nvSpPr>
        <p:spPr>
          <a:xfrm>
            <a:off x="4572000" y="92332"/>
            <a:ext cx="4336444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60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uttman Frank" panose="02010401010101010101" pitchFamily="2" charset="-79"/>
                <a:ea typeface="+mj-ea"/>
                <a:cs typeface="Guttman Frank" panose="02010401010101010101" pitchFamily="2" charset="-79"/>
              </a:rPr>
              <a:t>פקודות נוספות</a:t>
            </a:r>
            <a:endParaRPr lang="he-IL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C0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Georgia" panose="02040502050405020303" pitchFamily="18" charset="0"/>
              <a:ea typeface="+mj-ea"/>
              <a:cs typeface="Guttman Frank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8102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50913" y="5373216"/>
            <a:ext cx="88204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en-US" sz="2000" b="1" dirty="0">
                <a:hlinkClick r:id="rId2"/>
              </a:rPr>
              <a:t>http://developer.android.com/reference/android/widget/TextView.html</a:t>
            </a:r>
            <a:endParaRPr lang="he-IL" sz="2000" b="1" dirty="0"/>
          </a:p>
        </p:txBody>
      </p:sp>
      <p:sp>
        <p:nvSpPr>
          <p:cNvPr id="4" name="הסבר חץ למטה 3"/>
          <p:cNvSpPr/>
          <p:nvPr/>
        </p:nvSpPr>
        <p:spPr>
          <a:xfrm>
            <a:off x="1403648" y="1124744"/>
            <a:ext cx="6048672" cy="4104456"/>
          </a:xfrm>
          <a:prstGeom prst="downArrow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קיימות תכונות נוספות רבות למרכיב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TextView</a:t>
            </a:r>
            <a:r>
              <a:rPr lang="he-IL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אותן ניתן </a:t>
            </a:r>
            <a:r>
              <a:rPr lang="he-IL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ללמוד.</a:t>
            </a:r>
          </a:p>
          <a:p>
            <a:pPr algn="ctr"/>
            <a:r>
              <a:rPr lang="he-IL" sz="28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מומלץ </a:t>
            </a:r>
            <a:r>
              <a:rPr lang="he-IL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להיעזר בדף באתר מפתחים המערכת 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Android</a:t>
            </a:r>
            <a:endParaRPr lang="he-IL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/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10894563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droid1">
  <a:themeElements>
    <a:clrScheme name="טרק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טרק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טרק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android1</Template>
  <TotalTime>365</TotalTime>
  <Words>225</Words>
  <Application>Microsoft Office PowerPoint</Application>
  <PresentationFormat>‫הצגה על המסך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10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21" baseType="lpstr">
      <vt:lpstr>Aharoni</vt:lpstr>
      <vt:lpstr>Bodoni MT Black</vt:lpstr>
      <vt:lpstr>Courier New</vt:lpstr>
      <vt:lpstr>Franklin Gothic Book</vt:lpstr>
      <vt:lpstr>Franklin Gothic Medium</vt:lpstr>
      <vt:lpstr>Georgia</vt:lpstr>
      <vt:lpstr>Guttman Frank</vt:lpstr>
      <vt:lpstr>Tahoma</vt:lpstr>
      <vt:lpstr>Times New Roman</vt:lpstr>
      <vt:lpstr>Wingdings 2</vt:lpstr>
      <vt:lpstr>android1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</dc:title>
  <dc:creator>Zeev</dc:creator>
  <cp:lastModifiedBy>hp</cp:lastModifiedBy>
  <cp:revision>42</cp:revision>
  <dcterms:created xsi:type="dcterms:W3CDTF">2013-10-03T07:58:58Z</dcterms:created>
  <dcterms:modified xsi:type="dcterms:W3CDTF">2016-06-21T18:52:47Z</dcterms:modified>
</cp:coreProperties>
</file>