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478" r:id="rId2"/>
    <p:sldId id="479" r:id="rId3"/>
    <p:sldId id="466" r:id="rId4"/>
    <p:sldId id="467" r:id="rId5"/>
    <p:sldId id="468" r:id="rId6"/>
    <p:sldId id="482" r:id="rId7"/>
    <p:sldId id="469" r:id="rId8"/>
    <p:sldId id="472" r:id="rId9"/>
    <p:sldId id="483" r:id="rId10"/>
    <p:sldId id="474" r:id="rId11"/>
    <p:sldId id="470" r:id="rId12"/>
    <p:sldId id="475" r:id="rId13"/>
    <p:sldId id="476" r:id="rId14"/>
    <p:sldId id="484" r:id="rId15"/>
    <p:sldId id="477" r:id="rId16"/>
    <p:sldId id="480" r:id="rId17"/>
    <p:sldId id="481" r:id="rId18"/>
    <p:sldId id="485" r:id="rId19"/>
    <p:sldId id="486" r:id="rId20"/>
    <p:sldId id="487" r:id="rId21"/>
    <p:sldId id="488" r:id="rId22"/>
    <p:sldId id="489" r:id="rId23"/>
    <p:sldId id="490" r:id="rId24"/>
    <p:sldId id="49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כ"ח/אב/תשפ"ד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870871" y="825698"/>
            <a:ext cx="4450257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Levenim MT" panose="02010502060101010101" pitchFamily="2" charset="-79"/>
                <a:cs typeface="Levenim MT" panose="02010502060101010101" pitchFamily="2" charset="-79"/>
              </a:rPr>
              <a:t>Fragments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Levenim MT" panose="02010502060101010101" pitchFamily="2" charset="-79"/>
              <a:cs typeface="Levenim MT" panose="02010502060101010101" pitchFamily="2" charset="-79"/>
            </a:endParaRPr>
          </a:p>
        </p:txBody>
      </p:sp>
      <p:pic>
        <p:nvPicPr>
          <p:cNvPr id="1026" name="Picture 2" descr="Android card fragment animation - Stack Overflow">
            <a:extLst>
              <a:ext uri="{FF2B5EF4-FFF2-40B4-BE49-F238E27FC236}">
                <a16:creationId xmlns:a16="http://schemas.microsoft.com/office/drawing/2014/main" id="{B28A0461-1CE6-64FF-32C9-99E9D9DF7C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0871" y="3119311"/>
            <a:ext cx="4222654" cy="3166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542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917290" y="1126363"/>
            <a:ext cx="9414424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לשימוש ב-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יש כלים "מקביליים" לא פחות טובים ממנו:</a:t>
            </a: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במספר אקטיביטי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ב-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AlertDialog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מעוצבים בהתאים לצורך</a:t>
            </a:r>
          </a:p>
          <a:p>
            <a:pPr marL="571500" indent="-571500" algn="ctr" rtl="1">
              <a:buFont typeface="Arial" panose="020B0604020202020204" pitchFamily="34" charset="0"/>
              <a:buChar char="•"/>
            </a:pP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באקטיביטי אחת עם הסתרה ותצוגה של נתונים לפי הצורך</a:t>
            </a: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01649E0-1444-4137-2329-7D1C8266E4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16794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880557"/>
            <a:ext cx="10855236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שימוש ב-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יכול להיות מחליף די נוח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לשימוש במספר אקטיביטי</a:t>
            </a:r>
          </a:p>
        </p:txBody>
      </p:sp>
      <p:sp>
        <p:nvSpPr>
          <p:cNvPr id="4" name="מלבן 8">
            <a:extLst>
              <a:ext uri="{FF2B5EF4-FFF2-40B4-BE49-F238E27FC236}">
                <a16:creationId xmlns:a16="http://schemas.microsoft.com/office/drawing/2014/main" id="{E4FF5C57-9DB2-3610-3BFA-7FC167132598}"/>
              </a:ext>
            </a:extLst>
          </p:cNvPr>
          <p:cNvSpPr/>
          <p:nvPr/>
        </p:nvSpPr>
        <p:spPr>
          <a:xfrm>
            <a:off x="828855" y="3930445"/>
            <a:ext cx="10855236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הבדל בין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לבין אקטיביטי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הוא ש-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 יכול להופיע לבד,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אלא אך ורק כחלק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01649E0-1444-4137-2329-7D1C8266E4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1490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656935" y="1079985"/>
            <a:ext cx="8664119" cy="40318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1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. </a:t>
            </a:r>
            <a:r>
              <a:rPr lang="he-IL" sz="2800" dirty="0" err="1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באקטיביטי</a:t>
            </a:r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אחד אפשר להשתמש במספר </a:t>
            </a:r>
            <a:r>
              <a:rPr lang="en-US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Fragments</a:t>
            </a:r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</a:t>
            </a:r>
          </a:p>
          <a:p>
            <a:pPr algn="r" rtl="1"/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  כאשר הם מתחלפים אחד-אחד בחלק מסוים של </a:t>
            </a:r>
            <a:r>
              <a:rPr lang="he-IL" sz="2800" dirty="0" err="1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endParaRPr lang="he-IL" sz="2800" dirty="0">
              <a:ln w="0"/>
              <a:solidFill>
                <a:schemeClr val="bg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r" rtl="1"/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rebuchet MS"/>
                <a:ea typeface="Trebuchet MS"/>
                <a:cs typeface="Trebuchet MS"/>
                <a:sym typeface="Trebuchet MS"/>
              </a:rPr>
              <a:t>2. </a:t>
            </a:r>
            <a:r>
              <a:rPr lang="iw-IL" sz="2800" dirty="0">
                <a:solidFill>
                  <a:schemeClr val="bg2"/>
                </a:solidFill>
                <a:latin typeface="Trebuchet MS"/>
                <a:ea typeface="Trebuchet MS"/>
                <a:cs typeface="Trebuchet MS"/>
                <a:sym typeface="Trebuchet MS"/>
              </a:rPr>
              <a:t>מאפשר חלוקה של קוד לרכיבים קטנים</a:t>
            </a:r>
            <a:endParaRPr lang="he-IL" sz="2800" dirty="0">
              <a:solidFill>
                <a:schemeClr val="bg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algn="r" rtl="1"/>
            <a:r>
              <a:rPr lang="he-IL" sz="2800" dirty="0">
                <a:solidFill>
                  <a:schemeClr val="bg2"/>
                </a:solidFill>
                <a:latin typeface="Trebuchet MS"/>
                <a:sym typeface="Trebuchet MS"/>
              </a:rPr>
              <a:t>3. </a:t>
            </a:r>
            <a:r>
              <a:rPr lang="iw-IL" sz="2800" dirty="0">
                <a:solidFill>
                  <a:schemeClr val="bg2"/>
                </a:solidFill>
                <a:latin typeface="Trebuchet MS"/>
                <a:ea typeface="Trebuchet MS"/>
                <a:cs typeface="Trebuchet MS"/>
                <a:sym typeface="Trebuchet MS"/>
              </a:rPr>
              <a:t>אין צורך בהעברת אובייקטים למסכים שונים</a:t>
            </a:r>
          </a:p>
          <a:p>
            <a:pPr algn="r" rtl="1"/>
            <a:endParaRPr lang="iw-IL" sz="2800" dirty="0"/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B4C40579-2728-27DD-8C15-26789BB387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ADFC9275-FB1B-AB04-4ABD-3F219D1D24E9}"/>
              </a:ext>
            </a:extLst>
          </p:cNvPr>
          <p:cNvSpPr/>
          <p:nvPr/>
        </p:nvSpPr>
        <p:spPr>
          <a:xfrm>
            <a:off x="3618271" y="508158"/>
            <a:ext cx="5789652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יתרונות</a:t>
            </a:r>
            <a:endParaRPr lang="he-IL" sz="3600" b="1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Google Shape;164;p3">
            <a:extLst>
              <a:ext uri="{FF2B5EF4-FFF2-40B4-BE49-F238E27FC236}">
                <a16:creationId xmlns:a16="http://schemas.microsoft.com/office/drawing/2014/main" id="{D908733F-CF2A-AE8F-5532-67CD461B4A0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58828" y="3531429"/>
            <a:ext cx="3726311" cy="2497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63;p3">
            <a:extLst>
              <a:ext uri="{FF2B5EF4-FFF2-40B4-BE49-F238E27FC236}">
                <a16:creationId xmlns:a16="http://schemas.microsoft.com/office/drawing/2014/main" id="{B42E317A-5894-A2A6-1D70-5EDF5A3D64E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8188" y="3531429"/>
            <a:ext cx="4672866" cy="24973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9040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961590" y="811731"/>
            <a:ext cx="10855236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למשל: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C4552B-B4E8-E371-06A4-6826F43DA084}"/>
              </a:ext>
            </a:extLst>
          </p:cNvPr>
          <p:cNvSpPr/>
          <p:nvPr/>
        </p:nvSpPr>
        <p:spPr>
          <a:xfrm>
            <a:off x="5476568" y="3500284"/>
            <a:ext cx="2477729" cy="30578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3240D-5C02-812B-C032-C9C6EFF00894}"/>
              </a:ext>
            </a:extLst>
          </p:cNvPr>
          <p:cNvSpPr/>
          <p:nvPr/>
        </p:nvSpPr>
        <p:spPr>
          <a:xfrm>
            <a:off x="5710083" y="5596157"/>
            <a:ext cx="2010697" cy="66424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חלק קבוע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6A3717-2D91-3D8D-6289-FE5DC144A67C}"/>
              </a:ext>
            </a:extLst>
          </p:cNvPr>
          <p:cNvSpPr/>
          <p:nvPr/>
        </p:nvSpPr>
        <p:spPr>
          <a:xfrm>
            <a:off x="5710083" y="3677045"/>
            <a:ext cx="2010697" cy="169136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שטח לפרגמנטים</a:t>
            </a:r>
          </a:p>
          <a:p>
            <a:pPr algn="ctr"/>
            <a:r>
              <a:rPr lang="he-IL" dirty="0"/>
              <a:t>מתחלפים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0A14B6-6143-9A2F-D2D6-48BF660A4879}"/>
              </a:ext>
            </a:extLst>
          </p:cNvPr>
          <p:cNvSpPr/>
          <p:nvPr/>
        </p:nvSpPr>
        <p:spPr>
          <a:xfrm>
            <a:off x="8595851" y="2344092"/>
            <a:ext cx="2010697" cy="169136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062D36-9D2C-4904-AD6B-AA322955BC4B}"/>
              </a:ext>
            </a:extLst>
          </p:cNvPr>
          <p:cNvSpPr/>
          <p:nvPr/>
        </p:nvSpPr>
        <p:spPr>
          <a:xfrm>
            <a:off x="5716227" y="1581172"/>
            <a:ext cx="2010697" cy="169136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23EFFB-A077-EAFD-E667-954D6ECF0F2E}"/>
              </a:ext>
            </a:extLst>
          </p:cNvPr>
          <p:cNvSpPr/>
          <p:nvPr/>
        </p:nvSpPr>
        <p:spPr>
          <a:xfrm>
            <a:off x="2673143" y="2347756"/>
            <a:ext cx="2010697" cy="169136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Fragment #3</a:t>
            </a:r>
          </a:p>
        </p:txBody>
      </p:sp>
      <p:sp>
        <p:nvSpPr>
          <p:cNvPr id="11" name="Arrow: Bent 10">
            <a:extLst>
              <a:ext uri="{FF2B5EF4-FFF2-40B4-BE49-F238E27FC236}">
                <a16:creationId xmlns:a16="http://schemas.microsoft.com/office/drawing/2014/main" id="{DCA5C466-5E67-698D-ACD3-1729D3703CE6}"/>
              </a:ext>
            </a:extLst>
          </p:cNvPr>
          <p:cNvSpPr/>
          <p:nvPr/>
        </p:nvSpPr>
        <p:spPr>
          <a:xfrm flipH="1" flipV="1">
            <a:off x="7561006" y="4098713"/>
            <a:ext cx="1283108" cy="769441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1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Bent 11">
            <a:extLst>
              <a:ext uri="{FF2B5EF4-FFF2-40B4-BE49-F238E27FC236}">
                <a16:creationId xmlns:a16="http://schemas.microsoft.com/office/drawing/2014/main" id="{5730B9EB-31EC-493E-49BF-E4A63C330F6A}"/>
              </a:ext>
            </a:extLst>
          </p:cNvPr>
          <p:cNvSpPr/>
          <p:nvPr/>
        </p:nvSpPr>
        <p:spPr>
          <a:xfrm flipV="1">
            <a:off x="4517920" y="4098711"/>
            <a:ext cx="1283108" cy="846914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5100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Arrow: Down 12">
            <a:extLst>
              <a:ext uri="{FF2B5EF4-FFF2-40B4-BE49-F238E27FC236}">
                <a16:creationId xmlns:a16="http://schemas.microsoft.com/office/drawing/2014/main" id="{EEC321D6-0482-9A9E-B7CB-9254F9142092}"/>
              </a:ext>
            </a:extLst>
          </p:cNvPr>
          <p:cNvSpPr/>
          <p:nvPr/>
        </p:nvSpPr>
        <p:spPr>
          <a:xfrm>
            <a:off x="6513869" y="3379333"/>
            <a:ext cx="403123" cy="5358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AB6EC9EC-BA96-D61C-E04A-80D8EE5FB8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8743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AB6EC9EC-BA96-D61C-E04A-80D8EE5FB8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70;p4">
            <a:extLst>
              <a:ext uri="{FF2B5EF4-FFF2-40B4-BE49-F238E27FC236}">
                <a16:creationId xmlns:a16="http://schemas.microsoft.com/office/drawing/2014/main" id="{1A03158F-F995-291E-EA01-F7BE984F97DC}"/>
              </a:ext>
            </a:extLst>
          </p:cNvPr>
          <p:cNvSpPr txBox="1">
            <a:spLocks/>
          </p:cNvSpPr>
          <p:nvPr/>
        </p:nvSpPr>
        <p:spPr>
          <a:xfrm>
            <a:off x="2050104" y="407513"/>
            <a:ext cx="8596668" cy="9631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Fragment Lifecycle</a:t>
            </a:r>
          </a:p>
        </p:txBody>
      </p:sp>
      <p:pic>
        <p:nvPicPr>
          <p:cNvPr id="15" name="Google Shape;173;p4">
            <a:extLst>
              <a:ext uri="{FF2B5EF4-FFF2-40B4-BE49-F238E27FC236}">
                <a16:creationId xmlns:a16="http://schemas.microsoft.com/office/drawing/2014/main" id="{9E276B11-7641-07CB-D3B3-8E2B30D9835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01521" y="1298216"/>
            <a:ext cx="3946917" cy="482668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72;p4">
            <a:extLst>
              <a:ext uri="{FF2B5EF4-FFF2-40B4-BE49-F238E27FC236}">
                <a16:creationId xmlns:a16="http://schemas.microsoft.com/office/drawing/2014/main" id="{CB329001-CBC0-8620-4F32-57821FEE1E68}"/>
              </a:ext>
            </a:extLst>
          </p:cNvPr>
          <p:cNvSpPr txBox="1"/>
          <p:nvPr/>
        </p:nvSpPr>
        <p:spPr>
          <a:xfrm>
            <a:off x="6599209" y="1605276"/>
            <a:ext cx="4829436" cy="4212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endParaRPr sz="1800" dirty="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3429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</a:pPr>
            <a:r>
              <a:rPr lang="iw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ל Fragment </a:t>
            </a:r>
            <a:r>
              <a:rPr lang="he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ב</a:t>
            </a:r>
            <a:r>
              <a:rPr lang="iw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דומה ל </a:t>
            </a:r>
            <a:r>
              <a:rPr lang="en-US" sz="2000" dirty="0" err="1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LifeCycle</a:t>
            </a:r>
            <a:r>
              <a:rPr lang="en-US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he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של </a:t>
            </a:r>
            <a:r>
              <a:rPr lang="iw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Activity</a:t>
            </a:r>
            <a:endParaRPr sz="2000" dirty="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342900" marR="0" lvl="0" indent="-3429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</a:pPr>
            <a:r>
              <a:rPr lang="iw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חשוב </a:t>
            </a:r>
            <a:r>
              <a:rPr lang="he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iw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– השימוש במספר מצומצם של פעולות</a:t>
            </a:r>
            <a:endParaRPr dirty="0"/>
          </a:p>
          <a:p>
            <a:pPr marL="342900" marR="0" lvl="0" indent="-342900" algn="r" rt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►"/>
            </a:pPr>
            <a:r>
              <a:rPr lang="iw-IL" sz="2000" dirty="0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rPr>
              <a:t>אין צורך לדרוס את רובן...</a:t>
            </a:r>
            <a:endParaRPr sz="2000" dirty="0">
              <a:solidFill>
                <a:srgbClr val="3F3F3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4017860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3618271" y="508158"/>
            <a:ext cx="57896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1: יצירת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85F388-C1F7-C9C8-D761-A0798F9A4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65224"/>
            <a:ext cx="7458776" cy="4012454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11C10F2A-9958-9D87-CB80-95B36AA3A3B5}"/>
              </a:ext>
            </a:extLst>
          </p:cNvPr>
          <p:cNvSpPr/>
          <p:nvPr/>
        </p:nvSpPr>
        <p:spPr>
          <a:xfrm>
            <a:off x="7181103" y="2355421"/>
            <a:ext cx="5004620" cy="286232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עושים זאת ממש דומה ליצירת אקטיביטי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וגם מקבלים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אותו זוג קבצים:</a:t>
            </a:r>
          </a:p>
          <a:p>
            <a:pPr algn="ctr" rtl="1"/>
            <a:r>
              <a:rPr lang="en-US" sz="3600" dirty="0" err="1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xml+java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8A7F114B-2374-967A-651B-A21017AA60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255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3618271" y="508158"/>
            <a:ext cx="57896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2: עיצוב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11C10F2A-9958-9D87-CB80-95B36AA3A3B5}"/>
              </a:ext>
            </a:extLst>
          </p:cNvPr>
          <p:cNvSpPr/>
          <p:nvPr/>
        </p:nvSpPr>
        <p:spPr>
          <a:xfrm>
            <a:off x="5794818" y="2658418"/>
            <a:ext cx="5789652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גם בשלב זה עושים דברים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כמו שעושים אותם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בעיצוב אקטיביטי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9EAF3A3-243B-B5BF-E7E0-C3398D111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569" y="1410111"/>
            <a:ext cx="2943895" cy="5143454"/>
          </a:xfrm>
          <a:prstGeom prst="rect">
            <a:avLst/>
          </a:prstGeom>
        </p:spPr>
      </p:pic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AC1B1A0C-DACE-9026-F58A-250A05960E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8252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3618271" y="508158"/>
            <a:ext cx="578965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3: תכנות ב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11C10F2A-9958-9D87-CB80-95B36AA3A3B5}"/>
              </a:ext>
            </a:extLst>
          </p:cNvPr>
          <p:cNvSpPr/>
          <p:nvPr/>
        </p:nvSpPr>
        <p:spPr>
          <a:xfrm>
            <a:off x="2122098" y="1968305"/>
            <a:ext cx="9238085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בתוך פרגמנט לא ניתן לגשת ל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context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(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this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 ישיר של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ולכן הגישה אליו זה ע"י 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getActivity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()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כאשר פרגמנט במצב ריצה יש לו גישה ל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context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באמצעות פעולה זו.</a:t>
            </a:r>
          </a:p>
        </p:txBody>
      </p:sp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AC1B1A0C-DACE-9026-F58A-250A05960E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0880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947978" y="184288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3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פעילויות ב-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451D1-EEC7-3554-1C11-7B4D34A44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978" y="1300874"/>
            <a:ext cx="8443692" cy="5464013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DC7694FF-3747-E012-2705-8EEDD57C19F5}"/>
              </a:ext>
            </a:extLst>
          </p:cNvPr>
          <p:cNvSpPr/>
          <p:nvPr/>
        </p:nvSpPr>
        <p:spPr>
          <a:xfrm>
            <a:off x="8683583" y="1583850"/>
            <a:ext cx="1120877" cy="383458"/>
          </a:xfrm>
          <a:prstGeom prst="wedgeRoundRectCallout">
            <a:avLst>
              <a:gd name="adj1" fmla="val -308985"/>
              <a:gd name="adj2" fmla="val -5144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ירושה</a:t>
            </a:r>
            <a:endParaRPr lang="en-US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7EEDC143-285D-45C1-F442-7A33F94213F4}"/>
              </a:ext>
            </a:extLst>
          </p:cNvPr>
          <p:cNvSpPr/>
          <p:nvPr/>
        </p:nvSpPr>
        <p:spPr>
          <a:xfrm>
            <a:off x="1299250" y="1537136"/>
            <a:ext cx="1120877" cy="383458"/>
          </a:xfrm>
          <a:prstGeom prst="wedgeRoundRectCallout">
            <a:avLst>
              <a:gd name="adj1" fmla="val 90138"/>
              <a:gd name="adj2" fmla="val 13573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משתנים</a:t>
            </a:r>
            <a:endParaRPr lang="en-US" dirty="0"/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4FC3AA39-9981-A7CF-9ECB-A8B7114B7F03}"/>
              </a:ext>
            </a:extLst>
          </p:cNvPr>
          <p:cNvSpPr/>
          <p:nvPr/>
        </p:nvSpPr>
        <p:spPr>
          <a:xfrm>
            <a:off x="1299250" y="2180131"/>
            <a:ext cx="1120877" cy="705518"/>
          </a:xfrm>
          <a:prstGeom prst="wedgeRoundRectCallout">
            <a:avLst>
              <a:gd name="adj1" fmla="val 102418"/>
              <a:gd name="adj2" fmla="val 5769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פעולה ראשית</a:t>
            </a:r>
            <a:endParaRPr lang="en-US" dirty="0"/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5981DD66-7E8F-0CFD-CD91-548E5F2E851D}"/>
              </a:ext>
            </a:extLst>
          </p:cNvPr>
          <p:cNvSpPr/>
          <p:nvPr/>
        </p:nvSpPr>
        <p:spPr>
          <a:xfrm>
            <a:off x="1299250" y="3423185"/>
            <a:ext cx="1301567" cy="1897679"/>
          </a:xfrm>
          <a:prstGeom prst="wedgeRoundRectCallout">
            <a:avLst>
              <a:gd name="adj1" fmla="val 137506"/>
              <a:gd name="adj2" fmla="val -3851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he-IL" dirty="0"/>
              <a:t>טיפוס-אב</a:t>
            </a:r>
          </a:p>
          <a:p>
            <a:pPr algn="ctr" rtl="1"/>
            <a:r>
              <a:rPr lang="he-IL" dirty="0"/>
              <a:t>(מיכל)</a:t>
            </a:r>
          </a:p>
          <a:p>
            <a:pPr algn="ctr" rtl="1"/>
            <a:r>
              <a:rPr lang="he-IL" dirty="0"/>
              <a:t>שיכיל את </a:t>
            </a:r>
          </a:p>
          <a:p>
            <a:pPr algn="ctr" rtl="1"/>
            <a:r>
              <a:rPr lang="he-IL" dirty="0"/>
              <a:t>כל הרכיבים</a:t>
            </a:r>
            <a:endParaRPr lang="en-US" dirty="0"/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660E327B-8955-23F0-6944-B0190D10D53A}"/>
              </a:ext>
            </a:extLst>
          </p:cNvPr>
          <p:cNvSpPr/>
          <p:nvPr/>
        </p:nvSpPr>
        <p:spPr>
          <a:xfrm>
            <a:off x="7238237" y="6146189"/>
            <a:ext cx="2005784" cy="593649"/>
          </a:xfrm>
          <a:prstGeom prst="wedgeRoundRectCallout">
            <a:avLst>
              <a:gd name="adj1" fmla="val -194279"/>
              <a:gd name="adj2" fmla="val -1334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מחזירים טיפוס-אב </a:t>
            </a:r>
            <a:endParaRPr lang="en-US" dirty="0"/>
          </a:p>
        </p:txBody>
      </p:sp>
      <p:pic>
        <p:nvPicPr>
          <p:cNvPr id="6" name="Picture 5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744F7C03-C011-877A-07D5-398AD23F11E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2218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517057" y="4903292"/>
            <a:ext cx="858356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מקצים מקום לפרגמנטים בשטח של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מוסיפים רכיב 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FrameLayout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המארח אשר יכיל כל התכולה של חלון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הפראגמנט</a:t>
            </a:r>
            <a:endParaRPr lang="en-US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40A44-2E2F-DABA-4D73-9C8F9868B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02" y="1954708"/>
            <a:ext cx="4693240" cy="2320450"/>
          </a:xfrm>
          <a:prstGeom prst="rect">
            <a:avLst/>
          </a:prstGeom>
        </p:spPr>
      </p:pic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3047939" y="278456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: הוספת מקום ל-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endParaRPr lang="he-IL" sz="3600" dirty="0">
              <a:ln w="0"/>
              <a:solidFill>
                <a:schemeClr val="bg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C5BA9F39-CAE7-18F7-118F-6300FFB3FC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7585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149275" y="4012245"/>
            <a:ext cx="8583561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בתוך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המארח מגדירים משתנים עבור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"שטח לפרגמנט" - </a:t>
            </a:r>
            <a:r>
              <a:rPr lang="en-US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FrameLayout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וגם משתנים עבור כל פרגמנט – אובייקטים מסוג </a:t>
            </a:r>
            <a:r>
              <a:rPr lang="en-US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 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כשם מחלקת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הפראגמנט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שיצרנו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2633869" y="476864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5: הוספת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AF2249-1D24-2DA8-FE1E-811AE547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8644" y="1656974"/>
            <a:ext cx="6066801" cy="1944602"/>
          </a:xfrm>
          <a:prstGeom prst="rect">
            <a:avLst/>
          </a:prstGeom>
        </p:spPr>
      </p:pic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5D405D0-A1C6-6C12-C0E8-9549E70878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71194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04219" y="5001615"/>
            <a:ext cx="858356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מבצעים "קישור פרגמנט"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באקטיביטי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2369574" y="1090909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5: הוספת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922509-40A6-2DB9-043E-00F63351A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4991" y="2166102"/>
            <a:ext cx="10222722" cy="2831549"/>
          </a:xfrm>
          <a:prstGeom prst="rect">
            <a:avLst/>
          </a:prstGeom>
        </p:spPr>
      </p:pic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ED82ED14-CE7A-0FE7-65BE-286D0DC02F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peech Bubble: Rectangle with Corners Rounded 6">
            <a:extLst>
              <a:ext uri="{FF2B5EF4-FFF2-40B4-BE49-F238E27FC236}">
                <a16:creationId xmlns:a16="http://schemas.microsoft.com/office/drawing/2014/main" id="{DBD0FA2B-8601-BCAC-5BE7-BA274DE97442}"/>
              </a:ext>
            </a:extLst>
          </p:cNvPr>
          <p:cNvSpPr/>
          <p:nvPr/>
        </p:nvSpPr>
        <p:spPr>
          <a:xfrm>
            <a:off x="6452560" y="4426101"/>
            <a:ext cx="1592112" cy="553194"/>
          </a:xfrm>
          <a:prstGeom prst="wedgeRoundRectCallout">
            <a:avLst>
              <a:gd name="adj1" fmla="val -106717"/>
              <a:gd name="adj2" fmla="val -11335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משתנה מסוג </a:t>
            </a:r>
            <a:r>
              <a:rPr lang="en-US" dirty="0" err="1"/>
              <a:t>FrameLayout</a:t>
            </a:r>
            <a:endParaRPr lang="en-US" dirty="0"/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7FCFF926-5980-55D7-1303-58DA5D74E7DD}"/>
              </a:ext>
            </a:extLst>
          </p:cNvPr>
          <p:cNvSpPr/>
          <p:nvPr/>
        </p:nvSpPr>
        <p:spPr>
          <a:xfrm>
            <a:off x="8459639" y="4426101"/>
            <a:ext cx="1592112" cy="553194"/>
          </a:xfrm>
          <a:prstGeom prst="wedgeRoundRectCallout">
            <a:avLst>
              <a:gd name="adj1" fmla="val -106717"/>
              <a:gd name="adj2" fmla="val -11335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משתנה מסוג </a:t>
            </a:r>
            <a:r>
              <a:rPr lang="en-US" dirty="0"/>
              <a:t>Fragment</a:t>
            </a:r>
          </a:p>
        </p:txBody>
      </p:sp>
    </p:spTree>
    <p:extLst>
      <p:ext uri="{BB962C8B-B14F-4D97-AF65-F5344CB8AC3E}">
        <p14:creationId xmlns:p14="http://schemas.microsoft.com/office/powerpoint/2010/main" val="1144610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תמונה 9">
            <a:extLst>
              <a:ext uri="{FF2B5EF4-FFF2-40B4-BE49-F238E27FC236}">
                <a16:creationId xmlns:a16="http://schemas.microsoft.com/office/drawing/2014/main" id="{873F60FE-63EE-9239-3210-FB41E0AC1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802" y="2206354"/>
            <a:ext cx="8265718" cy="2072525"/>
          </a:xfrm>
          <a:prstGeom prst="rect">
            <a:avLst/>
          </a:prstGeom>
        </p:spPr>
      </p:pic>
      <p:sp>
        <p:nvSpPr>
          <p:cNvPr id="9" name="מלבן 8"/>
          <p:cNvSpPr/>
          <p:nvPr/>
        </p:nvSpPr>
        <p:spPr>
          <a:xfrm>
            <a:off x="2369574" y="5035113"/>
            <a:ext cx="8583561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בנוסף ניתן להוסיף 2 שורות קוד נוספות ע"מ שנוכל לעבור בין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הפראגמנטים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ע"י לחיצת כפתור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back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, אחרת יהיה יציאה מתוך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כולו</a:t>
            </a:r>
          </a:p>
        </p:txBody>
      </p:sp>
      <p:sp>
        <p:nvSpPr>
          <p:cNvPr id="6" name="מלבן 8">
            <a:extLst>
              <a:ext uri="{FF2B5EF4-FFF2-40B4-BE49-F238E27FC236}">
                <a16:creationId xmlns:a16="http://schemas.microsoft.com/office/drawing/2014/main" id="{29A3C318-C57C-F6C0-FC5A-817C16797C14}"/>
              </a:ext>
            </a:extLst>
          </p:cNvPr>
          <p:cNvSpPr/>
          <p:nvPr/>
        </p:nvSpPr>
        <p:spPr>
          <a:xfrm>
            <a:off x="2369574" y="1090909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5: הוספת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ED82ED14-CE7A-0FE7-65BE-286D0DC02F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peech Bubble: Rectangle with Corners Rounded 6">
            <a:extLst>
              <a:ext uri="{FF2B5EF4-FFF2-40B4-BE49-F238E27FC236}">
                <a16:creationId xmlns:a16="http://schemas.microsoft.com/office/drawing/2014/main" id="{DBD0FA2B-8601-BCAC-5BE7-BA274DE97442}"/>
              </a:ext>
            </a:extLst>
          </p:cNvPr>
          <p:cNvSpPr/>
          <p:nvPr/>
        </p:nvSpPr>
        <p:spPr>
          <a:xfrm>
            <a:off x="7720642" y="3838755"/>
            <a:ext cx="2053086" cy="1144777"/>
          </a:xfrm>
          <a:prstGeom prst="wedgeRoundRectCallout">
            <a:avLst>
              <a:gd name="adj1" fmla="val -115120"/>
              <a:gd name="adj2" fmla="val -6814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מכניס את </a:t>
            </a:r>
            <a:r>
              <a:rPr lang="he-IL" dirty="0" err="1"/>
              <a:t>הפראגמנט</a:t>
            </a:r>
            <a:r>
              <a:rPr lang="he-IL" dirty="0"/>
              <a:t> לתוך </a:t>
            </a:r>
            <a:r>
              <a:rPr lang="en-US" dirty="0"/>
              <a:t>back stack</a:t>
            </a:r>
          </a:p>
        </p:txBody>
      </p:sp>
    </p:spTree>
    <p:extLst>
      <p:ext uri="{BB962C8B-B14F-4D97-AF65-F5344CB8AC3E}">
        <p14:creationId xmlns:p14="http://schemas.microsoft.com/office/powerpoint/2010/main" val="41744117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804219" y="5306415"/>
            <a:ext cx="8583561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ניתן לבצע גם קבלת ערכים</a:t>
            </a:r>
          </a:p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מתוך פרגמנט באקטיביטי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F1D72D-0799-AB37-18F7-5A2741DC5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103" y="1954708"/>
            <a:ext cx="8791488" cy="2948585"/>
          </a:xfrm>
          <a:prstGeom prst="rect">
            <a:avLst/>
          </a:prstGeom>
        </p:spPr>
      </p:pic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369574" y="1090909"/>
            <a:ext cx="730382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5: הוספת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263814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2509992" y="1460172"/>
            <a:ext cx="8583561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במידה ונרצה להעביר משתנים מתוך </a:t>
            </a:r>
            <a:r>
              <a:rPr lang="he-IL" sz="2800" dirty="0" err="1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לתוך </a:t>
            </a:r>
            <a:r>
              <a:rPr lang="he-IL" sz="2800" dirty="0" err="1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פראגמנט</a:t>
            </a:r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יש ליצור חבילה (בדומה ל </a:t>
            </a:r>
            <a:r>
              <a:rPr lang="en-US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Intent</a:t>
            </a:r>
            <a:r>
              <a:rPr lang="he-IL" sz="2800" dirty="0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 ולשלוח יחד עם יצירת קישור </a:t>
            </a:r>
            <a:r>
              <a:rPr lang="he-IL" sz="2800" dirty="0" err="1">
                <a:ln w="0"/>
                <a:solidFill>
                  <a:schemeClr val="bg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לפראגמנט</a:t>
            </a:r>
            <a:endParaRPr lang="he-IL" sz="2800" dirty="0">
              <a:ln w="0"/>
              <a:solidFill>
                <a:schemeClr val="bg2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6" y="136733"/>
            <a:ext cx="730382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6: שליחת נתונים ל-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מתוך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52423A38-D294-F6A9-465B-78B3B0691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88" y="3215362"/>
            <a:ext cx="6451932" cy="2762392"/>
          </a:xfrm>
          <a:prstGeom prst="rect">
            <a:avLst/>
          </a:prstGeom>
        </p:spPr>
      </p:pic>
      <p:sp>
        <p:nvSpPr>
          <p:cNvPr id="8" name="Speech Bubble: Rectangle with Corners Rounded 6">
            <a:extLst>
              <a:ext uri="{FF2B5EF4-FFF2-40B4-BE49-F238E27FC236}">
                <a16:creationId xmlns:a16="http://schemas.microsoft.com/office/drawing/2014/main" id="{6FE4FD32-A6FE-F117-E53A-0C55A74EA97B}"/>
              </a:ext>
            </a:extLst>
          </p:cNvPr>
          <p:cNvSpPr/>
          <p:nvPr/>
        </p:nvSpPr>
        <p:spPr>
          <a:xfrm>
            <a:off x="9736348" y="3215362"/>
            <a:ext cx="1592112" cy="1594943"/>
          </a:xfrm>
          <a:prstGeom prst="wedgeRoundRectCallout">
            <a:avLst>
              <a:gd name="adj1" fmla="val -139768"/>
              <a:gd name="adj2" fmla="val -22914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שליחת נתוני מפה מתוך </a:t>
            </a:r>
            <a:r>
              <a:rPr lang="he-IL" dirty="0" err="1"/>
              <a:t>אקטיביטי</a:t>
            </a:r>
            <a:r>
              <a:rPr lang="he-IL" dirty="0"/>
              <a:t> לתוך </a:t>
            </a:r>
            <a:r>
              <a:rPr lang="he-IL" dirty="0" err="1"/>
              <a:t>פראגמנו</a:t>
            </a:r>
            <a:r>
              <a:rPr lang="he-IL" dirty="0"/>
              <a:t> מסוג מפה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8468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F7084670-C50F-D417-9F11-90C327F74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607" y="2018581"/>
            <a:ext cx="8327988" cy="3107561"/>
          </a:xfrm>
          <a:prstGeom prst="rect">
            <a:avLst/>
          </a:prstGeom>
        </p:spPr>
      </p:pic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6" y="136733"/>
            <a:ext cx="730382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6: שליחת נתונים ל- </a:t>
            </a:r>
            <a:r>
              <a:rPr lang="en-US" sz="4400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</a:t>
            </a:r>
            <a:r>
              <a:rPr lang="he-IL" sz="36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מתוך </a:t>
            </a:r>
            <a:r>
              <a:rPr lang="he-IL" sz="36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endParaRPr lang="he-IL" sz="36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Speech Bubble: Rectangle with Corners Rounded 6">
            <a:extLst>
              <a:ext uri="{FF2B5EF4-FFF2-40B4-BE49-F238E27FC236}">
                <a16:creationId xmlns:a16="http://schemas.microsoft.com/office/drawing/2014/main" id="{6FE4FD32-A6FE-F117-E53A-0C55A74EA97B}"/>
              </a:ext>
            </a:extLst>
          </p:cNvPr>
          <p:cNvSpPr/>
          <p:nvPr/>
        </p:nvSpPr>
        <p:spPr>
          <a:xfrm>
            <a:off x="9018993" y="4583833"/>
            <a:ext cx="1651881" cy="1653065"/>
          </a:xfrm>
          <a:prstGeom prst="wedgeRoundRectCallout">
            <a:avLst>
              <a:gd name="adj1" fmla="val -78543"/>
              <a:gd name="adj2" fmla="val -878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קבלת נתוני מפה מתוך </a:t>
            </a:r>
            <a:r>
              <a:rPr lang="he-IL" dirty="0" err="1"/>
              <a:t>אקטיביטי</a:t>
            </a:r>
            <a:r>
              <a:rPr lang="he-IL" dirty="0"/>
              <a:t> לתוך </a:t>
            </a:r>
            <a:r>
              <a:rPr lang="he-IL" dirty="0" err="1"/>
              <a:t>פראגמנט</a:t>
            </a:r>
            <a:r>
              <a:rPr lang="he-IL" dirty="0"/>
              <a:t> מסוג מפה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365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6" y="136733"/>
            <a:ext cx="730382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בניית </a:t>
            </a:r>
            <a:r>
              <a:rPr lang="en-US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Fragments 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עם אפשרות גלישה(</a:t>
            </a:r>
            <a:r>
              <a:rPr lang="en-US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swipe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 בין העמודים</a:t>
            </a: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205E6FA6-B882-6F79-FFE7-3FD4BF033BDC}"/>
              </a:ext>
            </a:extLst>
          </p:cNvPr>
          <p:cNvSpPr/>
          <p:nvPr/>
        </p:nvSpPr>
        <p:spPr>
          <a:xfrm>
            <a:off x="1837427" y="2352297"/>
            <a:ext cx="9098456" cy="35394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לצורך בניית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עם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fragments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שאותם ניתן לדפדף נדרש לעבוד ע"פ 3 שלבים הבאים:</a:t>
            </a:r>
          </a:p>
          <a:p>
            <a:pPr marL="514350" indent="-514350" algn="r" rtl="1">
              <a:buAutoNum type="arabicPeriod"/>
            </a:pP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בניית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בו נמצא רכיב שעליו ימוקמו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הפראגמנטים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שמאפשר דפדוף –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ViewPager2</a:t>
            </a:r>
          </a:p>
          <a:p>
            <a:pPr marL="514350" indent="-514350" algn="r" rtl="1">
              <a:buAutoNum type="arabicPeriod"/>
            </a:pP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בניית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fragments 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שאותם רוצים לדפדף</a:t>
            </a:r>
          </a:p>
          <a:p>
            <a:pPr marL="514350" indent="-514350" algn="r" rtl="1">
              <a:buAutoNum type="arabicPeriod"/>
            </a:pP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בניית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adapter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עבור הרכיב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 pager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אשר יודע לשייך את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fragments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לפי סדר הופעתם הרצוי ע"ג המסך</a:t>
            </a:r>
          </a:p>
          <a:p>
            <a:pPr marL="514350" indent="-514350" algn="r" rtl="1">
              <a:buAutoNum type="arabicPeriod"/>
            </a:pP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בניית קשר בין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 pager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ולבין ה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adapter</a:t>
            </a:r>
            <a:endParaRPr lang="he-IL" sz="28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22387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5" y="136733"/>
            <a:ext cx="804009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1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– בניית </a:t>
            </a:r>
            <a:r>
              <a:rPr lang="he-IL" sz="3600" b="1" dirty="0" err="1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+ </a:t>
            </a:r>
            <a:r>
              <a:rPr lang="en-US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ViewPager2</a:t>
            </a:r>
            <a:endParaRPr lang="he-IL" sz="3600" b="1" dirty="0">
              <a:ln w="0"/>
              <a:solidFill>
                <a:schemeClr val="accent3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205E6FA6-B882-6F79-FFE7-3FD4BF033BDC}"/>
              </a:ext>
            </a:extLst>
          </p:cNvPr>
          <p:cNvSpPr/>
          <p:nvPr/>
        </p:nvSpPr>
        <p:spPr>
          <a:xfrm>
            <a:off x="1837426" y="1248116"/>
            <a:ext cx="909845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נפתח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אקטיביטי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רגיל ונוסיף לו רכיב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ViewPager2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הפרוס על כל המסך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D265DD00-DF5E-C118-178A-4C003948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247" y="2012442"/>
            <a:ext cx="4067140" cy="4519044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BDCD8EA3-E41A-A29D-4649-E6D0E9DB16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891" y="2324170"/>
            <a:ext cx="4164607" cy="4397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6191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5" y="136733"/>
            <a:ext cx="804009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2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– בניית </a:t>
            </a:r>
            <a:r>
              <a:rPr lang="en-US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Fragments</a:t>
            </a:r>
            <a:endParaRPr lang="he-IL" sz="3600" b="1" dirty="0">
              <a:ln w="0"/>
              <a:solidFill>
                <a:schemeClr val="accent3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205E6FA6-B882-6F79-FFE7-3FD4BF033BDC}"/>
              </a:ext>
            </a:extLst>
          </p:cNvPr>
          <p:cNvSpPr/>
          <p:nvPr/>
        </p:nvSpPr>
        <p:spPr>
          <a:xfrm>
            <a:off x="2156603" y="859928"/>
            <a:ext cx="9098456" cy="138499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ניצור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פראגמנטים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בדומה לפעם קודמת (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בדוכמה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זו נבנו 3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פראגמנטים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) יש למחוק את כל הפעולות האוטומטיות בקובץ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מלבד הפעולה </a:t>
            </a:r>
            <a:r>
              <a:rPr lang="en-US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onCreateView</a:t>
            </a:r>
            <a:endParaRPr lang="he-IL" sz="28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8B0E14B-CF97-8AB1-1271-FBB7ECB45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00" y="2078198"/>
            <a:ext cx="5342742" cy="2874132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CBE77CE-202A-D27D-0C84-23D05A602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442" y="5083718"/>
            <a:ext cx="5738617" cy="177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665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5" y="136733"/>
            <a:ext cx="804009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3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– בניית </a:t>
            </a:r>
            <a:r>
              <a:rPr lang="en-US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adapter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עבור </a:t>
            </a:r>
            <a:r>
              <a:rPr lang="en-US" sz="3600" b="1" dirty="0" err="1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VeiwPager</a:t>
            </a:r>
            <a:endParaRPr lang="he-IL" sz="3600" b="1" dirty="0">
              <a:ln w="0"/>
              <a:solidFill>
                <a:schemeClr val="accent3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205E6FA6-B882-6F79-FFE7-3FD4BF033BDC}"/>
              </a:ext>
            </a:extLst>
          </p:cNvPr>
          <p:cNvSpPr/>
          <p:nvPr/>
        </p:nvSpPr>
        <p:spPr>
          <a:xfrm>
            <a:off x="2156603" y="859928"/>
            <a:ext cx="909845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ניצור מחלקת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java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חדשה אשר יורשת מ </a:t>
            </a:r>
            <a:r>
              <a:rPr lang="en-US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FragmentStateAdapter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 המיועד לרכיב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 pager</a:t>
            </a:r>
            <a:endParaRPr lang="he-IL" sz="28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D4B13D73-004B-C9A0-D918-C92556CFC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862" y="2027229"/>
            <a:ext cx="7340977" cy="1492327"/>
          </a:xfrm>
          <a:prstGeom prst="rect">
            <a:avLst/>
          </a:prstGeom>
        </p:spPr>
      </p:pic>
      <p:sp>
        <p:nvSpPr>
          <p:cNvPr id="10" name="מלבן 9">
            <a:extLst>
              <a:ext uri="{FF2B5EF4-FFF2-40B4-BE49-F238E27FC236}">
                <a16:creationId xmlns:a16="http://schemas.microsoft.com/office/drawing/2014/main" id="{5A981802-34A8-59C9-DEDD-410FC38C2EA9}"/>
              </a:ext>
            </a:extLst>
          </p:cNvPr>
          <p:cNvSpPr/>
          <p:nvPr/>
        </p:nvSpPr>
        <p:spPr>
          <a:xfrm>
            <a:off x="2156603" y="4089859"/>
            <a:ext cx="909845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נממש את פעולות התקן שמבקש, הבנאי ופעולות בהן נקשר את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הפראגמנטים</a:t>
            </a:r>
            <a:endParaRPr lang="he-IL" sz="28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16509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5" y="136733"/>
            <a:ext cx="804009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3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– בניית </a:t>
            </a:r>
            <a:r>
              <a:rPr lang="en-US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adapter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עבור </a:t>
            </a:r>
            <a:r>
              <a:rPr lang="en-US" sz="3600" b="1" dirty="0" err="1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VeiwPager</a:t>
            </a:r>
            <a:endParaRPr lang="he-IL" sz="3600" b="1" dirty="0">
              <a:ln w="0"/>
              <a:solidFill>
                <a:schemeClr val="accent3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6F13F16D-430E-B751-36CD-91343E7E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785" y="783064"/>
            <a:ext cx="5285899" cy="5919362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49683BA-53ED-D45C-5ACA-324AAD4FD1C0}"/>
              </a:ext>
            </a:extLst>
          </p:cNvPr>
          <p:cNvSpPr/>
          <p:nvPr/>
        </p:nvSpPr>
        <p:spPr>
          <a:xfrm>
            <a:off x="8337506" y="1705412"/>
            <a:ext cx="2295988" cy="524124"/>
          </a:xfrm>
          <a:prstGeom prst="wedgeRoundRectCallout">
            <a:avLst>
              <a:gd name="adj1" fmla="val -78543"/>
              <a:gd name="adj2" fmla="val -878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בנאי</a:t>
            </a:r>
            <a:endParaRPr lang="en-US" dirty="0"/>
          </a:p>
        </p:txBody>
      </p:sp>
      <p:sp>
        <p:nvSpPr>
          <p:cNvPr id="8" name="Speech Bubble: Rectangle with Corners Rounded 6">
            <a:extLst>
              <a:ext uri="{FF2B5EF4-FFF2-40B4-BE49-F238E27FC236}">
                <a16:creationId xmlns:a16="http://schemas.microsoft.com/office/drawing/2014/main" id="{643BBA59-619A-D57B-47A4-026611CD5CB9}"/>
              </a:ext>
            </a:extLst>
          </p:cNvPr>
          <p:cNvSpPr/>
          <p:nvPr/>
        </p:nvSpPr>
        <p:spPr>
          <a:xfrm>
            <a:off x="8181684" y="2994632"/>
            <a:ext cx="2754198" cy="1919276"/>
          </a:xfrm>
          <a:prstGeom prst="wedgeRoundRectCallout">
            <a:avLst>
              <a:gd name="adj1" fmla="val -109755"/>
              <a:gd name="adj2" fmla="val -3153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r" rtl="1"/>
            <a:r>
              <a:rPr lang="he-IL" dirty="0"/>
              <a:t>פעולה שבאמצעותה קובעים איזה </a:t>
            </a:r>
            <a:r>
              <a:rPr lang="he-IL" dirty="0" err="1"/>
              <a:t>פראגמנט</a:t>
            </a:r>
            <a:r>
              <a:rPr lang="he-IL" dirty="0"/>
              <a:t> יוצג ע"פ      המיקום </a:t>
            </a:r>
            <a:r>
              <a:rPr lang="en-US" dirty="0"/>
              <a:t> ( position) </a:t>
            </a:r>
            <a:r>
              <a:rPr lang="he-IL" dirty="0"/>
              <a:t>מקום  ראשון = 0 , מקום 2 = 1 וכו'</a:t>
            </a:r>
            <a:endParaRPr lang="en-US" dirty="0"/>
          </a:p>
        </p:txBody>
      </p:sp>
      <p:sp>
        <p:nvSpPr>
          <p:cNvPr id="11" name="Speech Bubble: Rectangle with Corners Rounded 6">
            <a:extLst>
              <a:ext uri="{FF2B5EF4-FFF2-40B4-BE49-F238E27FC236}">
                <a16:creationId xmlns:a16="http://schemas.microsoft.com/office/drawing/2014/main" id="{9BBEF39F-BA57-88E7-0B61-C378324526F7}"/>
              </a:ext>
            </a:extLst>
          </p:cNvPr>
          <p:cNvSpPr/>
          <p:nvPr/>
        </p:nvSpPr>
        <p:spPr>
          <a:xfrm>
            <a:off x="8489905" y="5793288"/>
            <a:ext cx="2367875" cy="808795"/>
          </a:xfrm>
          <a:prstGeom prst="wedgeRoundRectCallout">
            <a:avLst>
              <a:gd name="adj1" fmla="val -103316"/>
              <a:gd name="adj2" fmla="val 284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פעולה אשר מחזירה מהי כמות הפרגמנטים בשימוש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3666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BD012225-BD78-E488-CBCD-5E6077470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132" y="2139109"/>
            <a:ext cx="5059932" cy="4462974"/>
          </a:xfrm>
          <a:prstGeom prst="rect">
            <a:avLst/>
          </a:prstGeom>
        </p:spPr>
      </p:pic>
      <p:sp>
        <p:nvSpPr>
          <p:cNvPr id="4" name="מלבן 8">
            <a:extLst>
              <a:ext uri="{FF2B5EF4-FFF2-40B4-BE49-F238E27FC236}">
                <a16:creationId xmlns:a16="http://schemas.microsoft.com/office/drawing/2014/main" id="{B98F4C34-8584-5616-94ED-92A18F30B503}"/>
              </a:ext>
            </a:extLst>
          </p:cNvPr>
          <p:cNvSpPr/>
          <p:nvPr/>
        </p:nvSpPr>
        <p:spPr>
          <a:xfrm>
            <a:off x="2895785" y="136733"/>
            <a:ext cx="8040097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3600" b="1" dirty="0">
                <a:ln w="0"/>
                <a:solidFill>
                  <a:schemeClr val="accent4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שלב 4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– קישור בין </a:t>
            </a:r>
            <a:r>
              <a:rPr lang="en-US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adapter</a:t>
            </a:r>
            <a:r>
              <a:rPr lang="he-IL" sz="3600" b="1" dirty="0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לבין  </a:t>
            </a:r>
            <a:r>
              <a:rPr lang="en-US" sz="3600" b="1" dirty="0" err="1">
                <a:ln w="0"/>
                <a:solidFill>
                  <a:schemeClr val="accent3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VeiwPager</a:t>
            </a:r>
            <a:endParaRPr lang="he-IL" sz="3600" b="1" dirty="0">
              <a:ln w="0"/>
              <a:solidFill>
                <a:schemeClr val="accent3">
                  <a:lumMod val="7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E49683BA-53ED-D45C-5ACA-324AAD4FD1C0}"/>
              </a:ext>
            </a:extLst>
          </p:cNvPr>
          <p:cNvSpPr/>
          <p:nvPr/>
        </p:nvSpPr>
        <p:spPr>
          <a:xfrm>
            <a:off x="8049160" y="2421698"/>
            <a:ext cx="2295988" cy="524124"/>
          </a:xfrm>
          <a:prstGeom prst="wedgeRoundRectCallout">
            <a:avLst>
              <a:gd name="adj1" fmla="val -97329"/>
              <a:gd name="adj2" fmla="val 1751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הגדרת </a:t>
            </a:r>
            <a:r>
              <a:rPr lang="he-IL" dirty="0" err="1"/>
              <a:t>האדפטר</a:t>
            </a:r>
            <a:r>
              <a:rPr lang="he-IL" dirty="0"/>
              <a:t> והרכיב</a:t>
            </a:r>
            <a:endParaRPr lang="en-US" dirty="0"/>
          </a:p>
        </p:txBody>
      </p:sp>
      <p:sp>
        <p:nvSpPr>
          <p:cNvPr id="8" name="Speech Bubble: Rectangle with Corners Rounded 6">
            <a:extLst>
              <a:ext uri="{FF2B5EF4-FFF2-40B4-BE49-F238E27FC236}">
                <a16:creationId xmlns:a16="http://schemas.microsoft.com/office/drawing/2014/main" id="{643BBA59-619A-D57B-47A4-026611CD5CB9}"/>
              </a:ext>
            </a:extLst>
          </p:cNvPr>
          <p:cNvSpPr/>
          <p:nvPr/>
        </p:nvSpPr>
        <p:spPr>
          <a:xfrm>
            <a:off x="8296743" y="4003372"/>
            <a:ext cx="2754198" cy="935411"/>
          </a:xfrm>
          <a:prstGeom prst="wedgeRoundRectCallout">
            <a:avLst>
              <a:gd name="adj1" fmla="val -93155"/>
              <a:gd name="adj2" fmla="val 6475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1" algn="r" rtl="1"/>
            <a:r>
              <a:rPr lang="he-IL" dirty="0"/>
              <a:t>בניית אובייקט מסוג </a:t>
            </a:r>
            <a:r>
              <a:rPr lang="he-IL" dirty="0" err="1"/>
              <a:t>האדפטר</a:t>
            </a:r>
            <a:endParaRPr lang="en-US" dirty="0"/>
          </a:p>
        </p:txBody>
      </p:sp>
      <p:sp>
        <p:nvSpPr>
          <p:cNvPr id="11" name="Speech Bubble: Rectangle with Corners Rounded 6">
            <a:extLst>
              <a:ext uri="{FF2B5EF4-FFF2-40B4-BE49-F238E27FC236}">
                <a16:creationId xmlns:a16="http://schemas.microsoft.com/office/drawing/2014/main" id="{9BBEF39F-BA57-88E7-0B61-C378324526F7}"/>
              </a:ext>
            </a:extLst>
          </p:cNvPr>
          <p:cNvSpPr/>
          <p:nvPr/>
        </p:nvSpPr>
        <p:spPr>
          <a:xfrm>
            <a:off x="8489905" y="5793288"/>
            <a:ext cx="2367875" cy="808795"/>
          </a:xfrm>
          <a:prstGeom prst="wedgeRoundRectCallout">
            <a:avLst>
              <a:gd name="adj1" fmla="val -133189"/>
              <a:gd name="adj2" fmla="val -4622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dirty="0"/>
              <a:t>הפעלת </a:t>
            </a:r>
            <a:r>
              <a:rPr lang="he-IL" dirty="0" err="1"/>
              <a:t>האדפטר</a:t>
            </a:r>
            <a:endParaRPr lang="en-US" dirty="0"/>
          </a:p>
        </p:txBody>
      </p:sp>
      <p:sp>
        <p:nvSpPr>
          <p:cNvPr id="2" name="מלבן 1">
            <a:extLst>
              <a:ext uri="{FF2B5EF4-FFF2-40B4-BE49-F238E27FC236}">
                <a16:creationId xmlns:a16="http://schemas.microsoft.com/office/drawing/2014/main" id="{8C2D9F64-F1A2-9EB3-66A2-45C1B71A1404}"/>
              </a:ext>
            </a:extLst>
          </p:cNvPr>
          <p:cNvSpPr/>
          <p:nvPr/>
        </p:nvSpPr>
        <p:spPr>
          <a:xfrm>
            <a:off x="2139351" y="1487191"/>
            <a:ext cx="909845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 rtl="1"/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הקישור מתבצע בתוך </a:t>
            </a:r>
            <a:r>
              <a:rPr lang="he-IL" sz="2800" dirty="0" err="1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האקטיביטי</a:t>
            </a:r>
            <a:r>
              <a:rPr lang="he-IL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שמכיל את </a:t>
            </a:r>
            <a:r>
              <a:rPr lang="en-US" sz="2800" dirty="0">
                <a:ln w="0"/>
                <a:solidFill>
                  <a:schemeClr val="accent3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view pager</a:t>
            </a:r>
            <a:endParaRPr lang="he-IL" sz="2800" dirty="0">
              <a:ln w="0"/>
              <a:solidFill>
                <a:schemeClr val="accent3">
                  <a:lumMod val="5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85361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Нарисуй карандашом черно-белый рисунок умного волка-викинга, дающего урок у компьютера">
            <a:extLst>
              <a:ext uri="{FF2B5EF4-FFF2-40B4-BE49-F238E27FC236}">
                <a16:creationId xmlns:a16="http://schemas.microsoft.com/office/drawing/2014/main" id="{524A3C91-ADB7-A2F8-2301-7AD05BA955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53729" cy="953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תמונה 13">
            <a:extLst>
              <a:ext uri="{FF2B5EF4-FFF2-40B4-BE49-F238E27FC236}">
                <a16:creationId xmlns:a16="http://schemas.microsoft.com/office/drawing/2014/main" id="{49D19901-DACE-B872-01AD-F2AAC1E39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621" y="422120"/>
            <a:ext cx="2813195" cy="6013759"/>
          </a:xfrm>
          <a:prstGeom prst="rect">
            <a:avLst/>
          </a:prstGeom>
        </p:spPr>
      </p:pic>
      <p:pic>
        <p:nvPicPr>
          <p:cNvPr id="16" name="תמונה 15">
            <a:extLst>
              <a:ext uri="{FF2B5EF4-FFF2-40B4-BE49-F238E27FC236}">
                <a16:creationId xmlns:a16="http://schemas.microsoft.com/office/drawing/2014/main" id="{6C6F019A-EEC7-EF2E-0299-C1404C645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8524" y="431645"/>
            <a:ext cx="2787793" cy="6020109"/>
          </a:xfrm>
          <a:prstGeom prst="rect">
            <a:avLst/>
          </a:prstGeom>
        </p:spPr>
      </p:pic>
      <p:pic>
        <p:nvPicPr>
          <p:cNvPr id="18" name="תמונה 17">
            <a:extLst>
              <a:ext uri="{FF2B5EF4-FFF2-40B4-BE49-F238E27FC236}">
                <a16:creationId xmlns:a16="http://schemas.microsoft.com/office/drawing/2014/main" id="{A856E6FC-6057-BC8D-9916-931B1BF3A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20434" y="441171"/>
            <a:ext cx="2749691" cy="6001058"/>
          </a:xfrm>
          <a:prstGeom prst="rect">
            <a:avLst/>
          </a:prstGeom>
        </p:spPr>
      </p:pic>
      <p:sp>
        <p:nvSpPr>
          <p:cNvPr id="19" name="חץ: שמאלה-ימינה 18">
            <a:extLst>
              <a:ext uri="{FF2B5EF4-FFF2-40B4-BE49-F238E27FC236}">
                <a16:creationId xmlns:a16="http://schemas.microsoft.com/office/drawing/2014/main" id="{D58A92A1-2F4A-7C61-62EA-DC20DDE56621}"/>
              </a:ext>
            </a:extLst>
          </p:cNvPr>
          <p:cNvSpPr/>
          <p:nvPr/>
        </p:nvSpPr>
        <p:spPr>
          <a:xfrm>
            <a:off x="4863381" y="3441700"/>
            <a:ext cx="568960" cy="18676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חץ: שמאלה-ימינה 19">
            <a:extLst>
              <a:ext uri="{FF2B5EF4-FFF2-40B4-BE49-F238E27FC236}">
                <a16:creationId xmlns:a16="http://schemas.microsoft.com/office/drawing/2014/main" id="{E8A72E13-F60F-7B2B-5007-5832DE5FAEA3}"/>
              </a:ext>
            </a:extLst>
          </p:cNvPr>
          <p:cNvSpPr/>
          <p:nvPr/>
        </p:nvSpPr>
        <p:spPr>
          <a:xfrm>
            <a:off x="8473895" y="3441699"/>
            <a:ext cx="568960" cy="203200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704622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4104</TotalTime>
  <Words>617</Words>
  <Application>Microsoft Office PowerPoint</Application>
  <PresentationFormat>Widescreen</PresentationFormat>
  <Paragraphs>102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Levenim MT</vt:lpstr>
      <vt:lpstr>Noto Sans Symbols</vt:lpstr>
      <vt:lpstr>Trebuchet MS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388</cp:revision>
  <dcterms:created xsi:type="dcterms:W3CDTF">2019-01-05T16:01:25Z</dcterms:created>
  <dcterms:modified xsi:type="dcterms:W3CDTF">2024-09-01T11:48:25Z</dcterms:modified>
</cp:coreProperties>
</file>