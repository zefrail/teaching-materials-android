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258" r:id="rId3"/>
    <p:sldId id="390" r:id="rId4"/>
    <p:sldId id="268" r:id="rId5"/>
    <p:sldId id="358" r:id="rId6"/>
    <p:sldId id="360" r:id="rId7"/>
    <p:sldId id="405" r:id="rId8"/>
    <p:sldId id="406" r:id="rId9"/>
    <p:sldId id="407" r:id="rId10"/>
    <p:sldId id="338" r:id="rId11"/>
    <p:sldId id="363" r:id="rId12"/>
    <p:sldId id="408" r:id="rId13"/>
    <p:sldId id="342" r:id="rId14"/>
    <p:sldId id="398" r:id="rId15"/>
    <p:sldId id="400" r:id="rId16"/>
    <p:sldId id="40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3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101431" y="1973434"/>
            <a:ext cx="59891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Shmulik CLM" panose="02000603000000000000" pitchFamily="2" charset="-79"/>
              </a:rPr>
              <a:t>הצגת נתונים רבים</a:t>
            </a:r>
          </a:p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Shmulik CLM" panose="02000603000000000000" pitchFamily="2" charset="-79"/>
              </a:rPr>
              <a:t>(</a:t>
            </a:r>
            <a:r>
              <a:rPr lang="en-US" sz="6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Shmulik CLM" panose="02000603000000000000" pitchFamily="2" charset="-79"/>
              </a:rPr>
              <a:t>ListView</a:t>
            </a:r>
            <a:r>
              <a:rPr lang="en-US" sz="66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Shmulik CLM" panose="02000603000000000000" pitchFamily="2" charset="-79"/>
              </a:rPr>
              <a:t>)</a:t>
            </a:r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2E332B-6E8E-B529-3D95-C5A811D87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6A0FDD37-AE37-AF07-F932-985B7ACF896A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799303" y="2060482"/>
            <a:ext cx="9350477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הרבה פעמים יש צורך בהצגת קבוצה גדולה של נתונים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;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גדולה כל כך, שאין מספיק מקום במסך,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לנציג את כל הנתונים.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במערכת אנדרואיד קיימים רכיבים המאפשרים להציג את הקבוצה הגדולה של נתונים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ולגלגל (לגלל, להזיז) אותם,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להגיע לכל נתון בקבוצה.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BAC24-FEF0-EBBB-9CA8-6C7F127EB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7ADED71E-0F5F-CBDE-AE98-AEA9D537E2C8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E7FE55-BC4E-00A7-B9EB-2AC2DED42E5D}"/>
              </a:ext>
            </a:extLst>
          </p:cNvPr>
          <p:cNvSpPr/>
          <p:nvPr/>
        </p:nvSpPr>
        <p:spPr>
          <a:xfrm>
            <a:off x="1740309" y="2729076"/>
            <a:ext cx="93504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הרכיב הפשוט ביותר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(ובהרבה מקרים גם נוח ביותר)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 רכיב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6879F-3C1B-E619-4ABD-B0A8F6EC5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2DA3DC-71D5-0E51-D058-043266842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27F7D8CD-16CB-6757-7049-BFB11081F9FA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9189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/>
          <p:cNvSpPr/>
          <p:nvPr/>
        </p:nvSpPr>
        <p:spPr>
          <a:xfrm>
            <a:off x="2011679" y="4152848"/>
            <a:ext cx="875211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Spinner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RecyclerView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89167-F3EE-3D2B-0F8A-9E9618F6C01C}"/>
              </a:ext>
            </a:extLst>
          </p:cNvPr>
          <p:cNvSpPr/>
          <p:nvPr/>
        </p:nvSpPr>
        <p:spPr>
          <a:xfrm>
            <a:off x="1799303" y="2060482"/>
            <a:ext cx="93504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קיימים גם רכיבים נוספים,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Spinner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RecyclerView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לכל אחת יש יתרונות וחסרונות.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F1F1F6-D050-A8E2-A0E8-527ECE7A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DA8D1F-5C1B-900C-75F6-692F4C8F3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41B76BA4-E05B-E78F-C3E2-3B799CC84B2D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7764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Мир на трех китах. Сказка | Сказки лесного чудовища | Дзен">
            <a:extLst>
              <a:ext uri="{FF2B5EF4-FFF2-40B4-BE49-F238E27FC236}">
                <a16:creationId xmlns:a16="http://schemas.microsoft.com/office/drawing/2014/main" id="{7802418D-CBD5-825C-DA8F-E99224E7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955" y="3546982"/>
            <a:ext cx="4846005" cy="318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לבן 6"/>
          <p:cNvSpPr/>
          <p:nvPr/>
        </p:nvSpPr>
        <p:spPr>
          <a:xfrm>
            <a:off x="1677355" y="1855579"/>
            <a:ext cx="956201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באופן</a:t>
            </a:r>
            <a:r>
              <a:rPr lang="ru-RU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כללי שימוש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מבוסס על שלושה "לביתנים": </a:t>
            </a:r>
          </a:p>
          <a:p>
            <a:pPr algn="ctr" rtl="1"/>
            <a:r>
              <a:rPr lang="he-IL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רכיב + מתאם +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4D76F-5B33-2E26-0400-16C2164BC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1AE31E-79D9-D867-D591-B198F8140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51C226A5-E9D0-2CA0-2EC0-3BCFBDBDCB5F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69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359" y="2929079"/>
            <a:ext cx="2504236" cy="1627753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193" y="5523934"/>
            <a:ext cx="2188457" cy="1210946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</a:ln>
        </p:spPr>
      </p:pic>
      <p:pic>
        <p:nvPicPr>
          <p:cNvPr id="1026" name="Picture 2" descr="Профессиональный курс «ПОВАР-КУЛИНАР» (Повар-универсал 4-го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193" y="2935231"/>
            <a:ext cx="2441629" cy="1627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2806E0-74D4-BDE2-C6B6-3054EF23D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050" name="Picture 2" descr="Тарелка суповая, стеклокерамика, 20 см, круглая, Precious, Luminarc, Q1934  в Ельце: цены, фото, отзывы - купить в интернет-магазине Порядок.ру">
            <a:extLst>
              <a:ext uri="{FF2B5EF4-FFF2-40B4-BE49-F238E27FC236}">
                <a16:creationId xmlns:a16="http://schemas.microsoft.com/office/drawing/2014/main" id="{AEA07B87-D5E6-7370-C267-C0CE34DA6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36000" b="13916"/>
          <a:stretch/>
        </p:blipFill>
        <p:spPr bwMode="auto">
          <a:xfrm>
            <a:off x="8753420" y="2929080"/>
            <a:ext cx="2834640" cy="163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לבן 6">
            <a:extLst>
              <a:ext uri="{FF2B5EF4-FFF2-40B4-BE49-F238E27FC236}">
                <a16:creationId xmlns:a16="http://schemas.microsoft.com/office/drawing/2014/main" id="{284EEB65-1A55-DB4E-AF07-8BAA21307063}"/>
              </a:ext>
            </a:extLst>
          </p:cNvPr>
          <p:cNvSpPr/>
          <p:nvPr/>
        </p:nvSpPr>
        <p:spPr>
          <a:xfrm>
            <a:off x="1540359" y="1987659"/>
            <a:ext cx="956201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רכיב </a:t>
            </a:r>
            <a:r>
              <a:rPr lang="ru-RU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</a:t>
            </a:r>
            <a:r>
              <a:rPr lang="he-IL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מתאם</a:t>
            </a:r>
            <a:r>
              <a:rPr lang="ru-RU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</a:t>
            </a:r>
            <a:r>
              <a:rPr lang="he-IL" sz="36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נתונים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8AA639E-AC60-F87E-595A-C3F8B55D2EB1}"/>
              </a:ext>
            </a:extLst>
          </p:cNvPr>
          <p:cNvSpPr/>
          <p:nvPr/>
        </p:nvSpPr>
        <p:spPr>
          <a:xfrm rot="16200000">
            <a:off x="5947136" y="1150121"/>
            <a:ext cx="743715" cy="7636128"/>
          </a:xfrm>
          <a:prstGeom prst="leftBrace">
            <a:avLst>
              <a:gd name="adj1" fmla="val 45350"/>
              <a:gd name="adj2" fmla="val 50000"/>
            </a:avLst>
          </a:prstGeom>
          <a:ln w="889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B28FE6-8EA9-B232-9878-8DCB712ED3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B7062A76-8F39-7E82-478C-97534603DE8F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6429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6284" y="1498387"/>
            <a:ext cx="9232490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לשמור נתונים כשיש הרבה?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ידוע כמה – הכי פשוט להשתמש במערך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לא ידוע כמה יהיו או ידוע שכמות הנתונים משתמה – הכי פשוט להשתמש ברשימות ("שרשראות הנתונים")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1F9DB-ABD8-A30D-B8EA-0BA3D8CA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9FE693-358F-A5E2-B879-EF8BF9C7A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C9EDCC87-7F60-836C-B6E1-A6A8EB0BE017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264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59974" y="2471781"/>
            <a:ext cx="923249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מהכלים הנוחים ביותר: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ArrayList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מדובר במחלקה המממשת ממשק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ומכילה די הרבה פעולות מוכנות למימוש הממשק: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הוספה, גישה, מחיקה, חיפוש, המרות ועוד...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1F9DB-ABD8-A30D-B8EA-0BA3D8CA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CA17F8-357E-DB7B-B88D-EC00FE084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FEADF294-69D1-20D7-1E5B-9248EC305C84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669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21F9DB-ABD8-A30D-B8EA-0BA3D8CA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2" name="מלבן 8">
            <a:extLst>
              <a:ext uri="{FF2B5EF4-FFF2-40B4-BE49-F238E27FC236}">
                <a16:creationId xmlns:a16="http://schemas.microsoft.com/office/drawing/2014/main" id="{128DD39B-8087-DCB6-0E9D-7D4E8EAC72A7}"/>
              </a:ext>
            </a:extLst>
          </p:cNvPr>
          <p:cNvSpPr/>
          <p:nvPr/>
        </p:nvSpPr>
        <p:spPr>
          <a:xfrm>
            <a:off x="1691148" y="1814879"/>
            <a:ext cx="92324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 שצריך להגדיר ולאתחל את המשתנה...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F25D8-6891-4393-2374-A220535EA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11" y="2663955"/>
            <a:ext cx="3552780" cy="523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D6521-72C4-F740-D1AD-55E6991D6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079" y="3454775"/>
            <a:ext cx="3315921" cy="523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8141EC-23CB-CA5D-EA26-817AAF877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285" y="6233653"/>
            <a:ext cx="7464540" cy="424272"/>
          </a:xfrm>
          <a:prstGeom prst="rect">
            <a:avLst/>
          </a:prstGeom>
        </p:spPr>
      </p:pic>
      <p:sp>
        <p:nvSpPr>
          <p:cNvPr id="12" name="מלבן 8">
            <a:extLst>
              <a:ext uri="{FF2B5EF4-FFF2-40B4-BE49-F238E27FC236}">
                <a16:creationId xmlns:a16="http://schemas.microsoft.com/office/drawing/2014/main" id="{F6C33371-3068-FC46-6EA3-4CDABB411AD5}"/>
              </a:ext>
            </a:extLst>
          </p:cNvPr>
          <p:cNvSpPr/>
          <p:nvPr/>
        </p:nvSpPr>
        <p:spPr>
          <a:xfrm>
            <a:off x="1858296" y="5119668"/>
            <a:ext cx="92324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וגם להוסיף לרשימה איברים.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AC4CC3-FDBD-CED4-389B-DD5ED00BB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4" name="מלבן 4">
            <a:extLst>
              <a:ext uri="{FF2B5EF4-FFF2-40B4-BE49-F238E27FC236}">
                <a16:creationId xmlns:a16="http://schemas.microsoft.com/office/drawing/2014/main" id="{DD65494F-5A12-77DF-6A0E-E5BE4FAAACFB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1926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64" y="1794618"/>
            <a:ext cx="3204754" cy="3862873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4351717" y="2953561"/>
            <a:ext cx="323958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רכיב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284" y="1882966"/>
            <a:ext cx="2829907" cy="4889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21F9DB-ABD8-A30D-B8EA-0BA3D8CA7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5CA800-E547-A1A4-1D81-5315879F1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34E276F6-DE70-958B-A2E0-E582739F3C60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8092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4102253" y="2999380"/>
            <a:ext cx="323958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בהפעלת האפליקציה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רואים רכיב,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 עוד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מחוברים אליו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5" y="1708957"/>
            <a:ext cx="2829907" cy="4889170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33" y="1708957"/>
            <a:ext cx="2746725" cy="4889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3E9A6-BB6C-5477-C077-AC310E086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CAEAEE-EF02-12F9-E508-2695BBD369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48329E3C-8DF8-625A-5627-A1F6F80BC72E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2811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153265" y="1878503"/>
            <a:ext cx="77646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קובעים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לרכיב,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מגדירים משתנה 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קשר בין רכיב למשתנה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3E9A6-BB6C-5477-C077-AC310E08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EFB755-EB69-99F9-5364-0CBD76596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749" y="3632829"/>
            <a:ext cx="5036832" cy="1450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5E657-1EAF-4420-B36C-F18FD940D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090" y="5259334"/>
            <a:ext cx="2524775" cy="551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8E0AB-400F-6C42-B41C-CB72793FB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065137"/>
            <a:ext cx="5256494" cy="536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0CF6A-8A09-2CEF-F58E-E0441F921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3" name="מלבן 4">
            <a:extLst>
              <a:ext uri="{FF2B5EF4-FFF2-40B4-BE49-F238E27FC236}">
                <a16:creationId xmlns:a16="http://schemas.microsoft.com/office/drawing/2014/main" id="{88986F0D-BC78-8DD7-1473-043FABC64A33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46194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רשים זרימה: דיסק מגנטי 2"/>
          <p:cNvSpPr/>
          <p:nvPr/>
        </p:nvSpPr>
        <p:spPr>
          <a:xfrm>
            <a:off x="1051630" y="2556842"/>
            <a:ext cx="2272937" cy="4178104"/>
          </a:xfrm>
          <a:prstGeom prst="flowChartMagneticDisk">
            <a:avLst/>
          </a:prstGeom>
          <a:ln w="349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מערך או</a:t>
            </a:r>
          </a:p>
          <a:p>
            <a:pPr algn="ctr"/>
            <a:r>
              <a:rPr lang="he-IL" sz="3200" dirty="0"/>
              <a:t>רשימה</a:t>
            </a:r>
          </a:p>
          <a:p>
            <a:pPr algn="ctr"/>
            <a:r>
              <a:rPr lang="en-US" sz="3200" dirty="0"/>
              <a:t>[ ]</a:t>
            </a:r>
          </a:p>
          <a:p>
            <a:pPr algn="ctr"/>
            <a:r>
              <a:rPr lang="en-US" sz="3200" dirty="0" err="1"/>
              <a:t>ArrayList</a:t>
            </a:r>
            <a:r>
              <a:rPr lang="en-US" sz="3200" dirty="0"/>
              <a:t>&lt;&gt;</a:t>
            </a:r>
            <a:endParaRPr lang="he-IL" sz="3200" dirty="0"/>
          </a:p>
        </p:txBody>
      </p:sp>
      <p:sp>
        <p:nvSpPr>
          <p:cNvPr id="4" name="מלבן 3"/>
          <p:cNvSpPr/>
          <p:nvPr/>
        </p:nvSpPr>
        <p:spPr>
          <a:xfrm>
            <a:off x="9079258" y="2556842"/>
            <a:ext cx="2321169" cy="417810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200" dirty="0" err="1"/>
              <a:t>ListView</a:t>
            </a:r>
            <a:endParaRPr lang="en-US" sz="3200" dirty="0"/>
          </a:p>
        </p:txBody>
      </p:sp>
      <p:sp>
        <p:nvSpPr>
          <p:cNvPr id="7" name="הסבר חץ שמאלה-ימינה 6"/>
          <p:cNvSpPr/>
          <p:nvPr/>
        </p:nvSpPr>
        <p:spPr>
          <a:xfrm>
            <a:off x="3484335" y="3302428"/>
            <a:ext cx="5401994" cy="3126043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5441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 err="1"/>
              <a:t>ArrayAdapter</a:t>
            </a:r>
            <a:endParaRPr lang="he-IL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6C8BF-3606-85F3-BD6C-0797B1409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0"/>
            <a:ext cx="737793" cy="1016317"/>
          </a:xfrm>
          <a:prstGeom prst="rect">
            <a:avLst/>
          </a:prstGeom>
        </p:spPr>
      </p:pic>
      <p:sp>
        <p:nvSpPr>
          <p:cNvPr id="8" name="מלבן 8">
            <a:extLst>
              <a:ext uri="{FF2B5EF4-FFF2-40B4-BE49-F238E27FC236}">
                <a16:creationId xmlns:a16="http://schemas.microsoft.com/office/drawing/2014/main" id="{7A163E19-F4A6-52B9-F7E2-4FD7CA605770}"/>
              </a:ext>
            </a:extLst>
          </p:cNvPr>
          <p:cNvSpPr/>
          <p:nvPr/>
        </p:nvSpPr>
        <p:spPr>
          <a:xfrm>
            <a:off x="2188098" y="1406555"/>
            <a:ext cx="77646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יצרנו נתונים, יצרנו רכיב: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הגיע זמן לצור "מתאם"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ולחבר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8CCEE-B9D1-3A8B-0008-6A2388217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0" name="מלבן 4">
            <a:extLst>
              <a:ext uri="{FF2B5EF4-FFF2-40B4-BE49-F238E27FC236}">
                <a16:creationId xmlns:a16="http://schemas.microsoft.com/office/drawing/2014/main" id="{7B78C934-27EE-E13C-B04B-19CF440CC7DA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0521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EE8A17-B9E9-FCA1-46C6-28126790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89" y="3869478"/>
            <a:ext cx="5951439" cy="11618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A2DC2-70AF-4B0D-8B95-D2FA8BFC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0"/>
            <a:ext cx="737793" cy="1016317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FA37A13-F2F7-223B-4CF2-5A781682458D}"/>
              </a:ext>
            </a:extLst>
          </p:cNvPr>
          <p:cNvSpPr/>
          <p:nvPr/>
        </p:nvSpPr>
        <p:spPr>
          <a:xfrm>
            <a:off x="3866012" y="2752509"/>
            <a:ext cx="3082055" cy="782233"/>
          </a:xfrm>
          <a:prstGeom prst="wedgeRoundRectCallout">
            <a:avLst>
              <a:gd name="adj1" fmla="val -3842"/>
              <a:gd name="adj2" fmla="val 10214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עבור אקטיביטי זאת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7F70469-C830-8512-CCCE-2B3DA742E004}"/>
              </a:ext>
            </a:extLst>
          </p:cNvPr>
          <p:cNvSpPr/>
          <p:nvPr/>
        </p:nvSpPr>
        <p:spPr>
          <a:xfrm>
            <a:off x="7832848" y="5385620"/>
            <a:ext cx="3082055" cy="782233"/>
          </a:xfrm>
          <a:prstGeom prst="wedgeRoundRectCallout">
            <a:avLst>
              <a:gd name="adj1" fmla="val -91594"/>
              <a:gd name="adj2" fmla="val -14116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משתמשים בקובץ </a:t>
            </a:r>
            <a:r>
              <a:rPr lang="en-US" sz="2400" dirty="0">
                <a:solidFill>
                  <a:srgbClr val="002060"/>
                </a:solidFill>
              </a:rPr>
              <a:t>xml</a:t>
            </a:r>
            <a:r>
              <a:rPr lang="he-IL" sz="2400" dirty="0">
                <a:solidFill>
                  <a:srgbClr val="002060"/>
                </a:solidFill>
              </a:rPr>
              <a:t> הקיים במערכת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74F6671-99B3-6D30-085A-795C5854F708}"/>
              </a:ext>
            </a:extLst>
          </p:cNvPr>
          <p:cNvSpPr/>
          <p:nvPr/>
        </p:nvSpPr>
        <p:spPr>
          <a:xfrm>
            <a:off x="3043441" y="5880725"/>
            <a:ext cx="3082055" cy="782233"/>
          </a:xfrm>
          <a:prstGeom prst="wedgeRoundRectCallout">
            <a:avLst>
              <a:gd name="adj1" fmla="val -60992"/>
              <a:gd name="adj2" fmla="val -15243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מחברים "מתאים" לקבוצת נתונים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FD63A-81B8-81A1-27F2-772C1B81A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28" y="1701213"/>
            <a:ext cx="4379020" cy="501213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AD1B711-2FF6-E5CD-9DAB-28C964E8E695}"/>
              </a:ext>
            </a:extLst>
          </p:cNvPr>
          <p:cNvSpPr/>
          <p:nvPr/>
        </p:nvSpPr>
        <p:spPr>
          <a:xfrm>
            <a:off x="5663380" y="1701782"/>
            <a:ext cx="2290917" cy="782233"/>
          </a:xfrm>
          <a:prstGeom prst="wedgeRoundRectCallout">
            <a:avLst>
              <a:gd name="adj1" fmla="val -90318"/>
              <a:gd name="adj2" fmla="val -1672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מגדירים "מתאם"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C1D72C-3519-96AC-9FDF-574F582927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6" name="מלבן 4">
            <a:extLst>
              <a:ext uri="{FF2B5EF4-FFF2-40B4-BE49-F238E27FC236}">
                <a16:creationId xmlns:a16="http://schemas.microsoft.com/office/drawing/2014/main" id="{5E61E964-B686-03AF-A283-103295A04C5A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0247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8C6882-16A2-E631-D623-E6FA97334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31" y="3238459"/>
            <a:ext cx="4602266" cy="659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A2DC2-70AF-4B0D-8B95-D2FA8BFC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0"/>
            <a:ext cx="737793" cy="101631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0298C62-9475-94D0-5932-A94F76234DCA}"/>
              </a:ext>
            </a:extLst>
          </p:cNvPr>
          <p:cNvSpPr/>
          <p:nvPr/>
        </p:nvSpPr>
        <p:spPr>
          <a:xfrm>
            <a:off x="8060081" y="2414054"/>
            <a:ext cx="391885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מצרפים "מתאם"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adapter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לרכיב מסוג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FA37A13-F2F7-223B-4CF2-5A781682458D}"/>
              </a:ext>
            </a:extLst>
          </p:cNvPr>
          <p:cNvSpPr/>
          <p:nvPr/>
        </p:nvSpPr>
        <p:spPr>
          <a:xfrm>
            <a:off x="1898858" y="2022937"/>
            <a:ext cx="3082055" cy="782233"/>
          </a:xfrm>
          <a:prstGeom prst="wedgeRoundRectCallout">
            <a:avLst>
              <a:gd name="adj1" fmla="val -17560"/>
              <a:gd name="adj2" fmla="val 13356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לרכיב </a:t>
            </a:r>
            <a:r>
              <a:rPr lang="en-US" sz="2400" dirty="0" err="1">
                <a:solidFill>
                  <a:srgbClr val="002060"/>
                </a:solidFill>
              </a:rPr>
              <a:t>ListView</a:t>
            </a:r>
            <a:r>
              <a:rPr lang="he-IL" sz="2400" dirty="0">
                <a:solidFill>
                  <a:srgbClr val="002060"/>
                </a:solidFill>
              </a:rPr>
              <a:t>...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4800351-705D-57A0-48BD-F0B72DF7DBD0}"/>
              </a:ext>
            </a:extLst>
          </p:cNvPr>
          <p:cNvSpPr/>
          <p:nvPr/>
        </p:nvSpPr>
        <p:spPr>
          <a:xfrm>
            <a:off x="2083916" y="5038280"/>
            <a:ext cx="3082055" cy="782233"/>
          </a:xfrm>
          <a:prstGeom prst="wedgeRoundRectCallout">
            <a:avLst>
              <a:gd name="adj1" fmla="val 14194"/>
              <a:gd name="adj2" fmla="val -21173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...מחברים...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B1EF693-4C72-D546-AC70-271AA51FD281}"/>
              </a:ext>
            </a:extLst>
          </p:cNvPr>
          <p:cNvSpPr/>
          <p:nvPr/>
        </p:nvSpPr>
        <p:spPr>
          <a:xfrm>
            <a:off x="5749262" y="4119182"/>
            <a:ext cx="3082055" cy="782233"/>
          </a:xfrm>
          <a:prstGeom prst="wedgeRoundRectCallout">
            <a:avLst>
              <a:gd name="adj1" fmla="val -41224"/>
              <a:gd name="adj2" fmla="val -8963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rgbClr val="002060"/>
                </a:solidFill>
              </a:rPr>
              <a:t>..."מתאם"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151A11-EF2A-781A-D0DD-B41F322A7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0" name="מלבן 4">
            <a:extLst>
              <a:ext uri="{FF2B5EF4-FFF2-40B4-BE49-F238E27FC236}">
                <a16:creationId xmlns:a16="http://schemas.microsoft.com/office/drawing/2014/main" id="{A8E8AE7D-61ED-4841-03A9-3883D39661DD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975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E6C8BF-3606-85F3-BD6C-0797B1409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0"/>
            <a:ext cx="737793" cy="1016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EAD7C5-90B8-A25B-862E-B71DD3350FEB}"/>
              </a:ext>
            </a:extLst>
          </p:cNvPr>
          <p:cNvSpPr/>
          <p:nvPr/>
        </p:nvSpPr>
        <p:spPr>
          <a:xfrm>
            <a:off x="1727051" y="3275783"/>
            <a:ext cx="391885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מקבלים רשימה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תרגילים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5E579-1675-0910-058D-635A6EBD3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12" y="1130709"/>
            <a:ext cx="2537460" cy="563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42BB4-CD9E-4BEB-7ED4-848786538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2F163B48-E180-3E0E-295D-C0B9A243BEC6}"/>
              </a:ext>
            </a:extLst>
          </p:cNvPr>
          <p:cNvSpPr/>
          <p:nvPr/>
        </p:nvSpPr>
        <p:spPr>
          <a:xfrm>
            <a:off x="8180439" y="0"/>
            <a:ext cx="19861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ListView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94081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ppt/theme/themeOverride1.xml><?xml version="1.0" encoding="utf-8"?>
<a:themeOverride xmlns:a="http://schemas.openxmlformats.org/drawingml/2006/main">
  <a:clrScheme name="מעגל">
    <a:dk1>
      <a:sysClr val="windowText" lastClr="000000"/>
    </a:dk1>
    <a:lt1>
      <a:sysClr val="window" lastClr="FFFFFF"/>
    </a:lt1>
    <a:dk2>
      <a:srgbClr val="252C36"/>
    </a:dk2>
    <a:lt2>
      <a:srgbClr val="7C96A3"/>
    </a:lt2>
    <a:accent1>
      <a:srgbClr val="4FD093"/>
    </a:accent1>
    <a:accent2>
      <a:srgbClr val="54BCDF"/>
    </a:accent2>
    <a:accent3>
      <a:srgbClr val="A262D0"/>
    </a:accent3>
    <a:accent4>
      <a:srgbClr val="D7537B"/>
    </a:accent4>
    <a:accent5>
      <a:srgbClr val="E78045"/>
    </a:accent5>
    <a:accent6>
      <a:srgbClr val="84C350"/>
    </a:accent6>
    <a:hlink>
      <a:srgbClr val="22FFFF"/>
    </a:hlink>
    <a:folHlink>
      <a:srgbClr val="9BF3F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293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Assistant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143</cp:revision>
  <dcterms:created xsi:type="dcterms:W3CDTF">2019-01-05T16:01:25Z</dcterms:created>
  <dcterms:modified xsi:type="dcterms:W3CDTF">2024-07-11T05:27:14Z</dcterms:modified>
</cp:coreProperties>
</file>