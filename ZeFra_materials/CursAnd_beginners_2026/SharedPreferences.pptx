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8"/>
  </p:notesMasterIdLst>
  <p:sldIdLst>
    <p:sldId id="360" r:id="rId2"/>
    <p:sldId id="361" r:id="rId3"/>
    <p:sldId id="362" r:id="rId4"/>
    <p:sldId id="363" r:id="rId5"/>
    <p:sldId id="364" r:id="rId6"/>
    <p:sldId id="3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681" autoAdjust="0"/>
    <p:restoredTop sz="95387" autoAdjust="0"/>
  </p:normalViewPr>
  <p:slideViewPr>
    <p:cSldViewPr snapToGrid="0">
      <p:cViewPr varScale="1">
        <p:scale>
          <a:sx n="114" d="100"/>
          <a:sy n="114" d="100"/>
        </p:scale>
        <p:origin x="2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0A6810C6-C423-4326-A62B-BF9354099DBC}" type="datetimeFigureOut">
              <a:rPr lang="en-IL" smtClean="0"/>
              <a:t>02/09/2023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36376DCF-EEAA-435E-8EAD-9508B6C9ACF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8024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2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6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6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0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1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5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0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5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5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4057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99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6590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3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39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E9D25-E08B-499D-BC1A-BC0EC51EDF97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942E772-5EE8-4C00-A02B-28178A13C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8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1EF0EE-6EA3-4FED-928C-6C9AD5166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4537" y="542366"/>
            <a:ext cx="7766936" cy="1158844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 err="1"/>
              <a:t>SharedPreferences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31931-C259-4918-906B-910A6C540A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92702" y="3672392"/>
            <a:ext cx="813979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sz="4000" dirty="0">
                <a:solidFill>
                  <a:schemeClr val="tx1"/>
                </a:solidFill>
                <a:latin typeface="Courier New" panose="02070309020205020404" pitchFamily="49" charset="0"/>
              </a:rPr>
              <a:t>יגאל שטודינר</a:t>
            </a:r>
          </a:p>
        </p:txBody>
      </p:sp>
    </p:spTree>
    <p:extLst>
      <p:ext uri="{BB962C8B-B14F-4D97-AF65-F5344CB8AC3E}">
        <p14:creationId xmlns:p14="http://schemas.microsoft.com/office/powerpoint/2010/main" val="335164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1EF0EE-6EA3-4FED-928C-6C9AD5166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6148" y="192940"/>
            <a:ext cx="7766936" cy="757928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 err="1"/>
              <a:t>SharedPreferences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31931-C259-4918-906B-910A6C540A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0757" y="2167834"/>
            <a:ext cx="8139798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4000">
                <a:solidFill>
                  <a:schemeClr val="tx1"/>
                </a:solidFill>
                <a:latin typeface="Courier New" panose="02070309020205020404" pitchFamily="49" charset="0"/>
              </a:rPr>
              <a:t>עבודה פשוטה </a:t>
            </a:r>
            <a:r>
              <a:rPr lang="he-IL" altLang="he-IL" sz="4000" dirty="0">
                <a:solidFill>
                  <a:schemeClr val="tx1"/>
                </a:solidFill>
                <a:latin typeface="Courier New" panose="02070309020205020404" pitchFamily="49" charset="0"/>
              </a:rPr>
              <a:t>ונוחה מעבודה עם בסיסי נתונים או עם קבצים</a:t>
            </a:r>
          </a:p>
          <a:p>
            <a:pPr marL="571500" lvl="0" indent="-571500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4000" dirty="0">
                <a:solidFill>
                  <a:schemeClr val="tx1"/>
                </a:solidFill>
                <a:latin typeface="Courier New" panose="02070309020205020404" pitchFamily="49" charset="0"/>
              </a:rPr>
              <a:t>מאפשר שמירה של ערכים בודדים בצורה של </a:t>
            </a:r>
            <a:r>
              <a:rPr lang="en-US" altLang="he-IL" sz="4000" dirty="0">
                <a:solidFill>
                  <a:schemeClr val="tx1"/>
                </a:solidFill>
                <a:latin typeface="Courier New" panose="02070309020205020404" pitchFamily="49" charset="0"/>
              </a:rPr>
              <a:t>key-value</a:t>
            </a:r>
          </a:p>
          <a:p>
            <a:pPr marL="571500" lvl="0" indent="-571500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4000" dirty="0">
                <a:solidFill>
                  <a:schemeClr val="tx1"/>
                </a:solidFill>
                <a:latin typeface="Courier New" panose="02070309020205020404" pitchFamily="49" charset="0"/>
              </a:rPr>
              <a:t>מאפשר שמירה של מידע רלבנטי עבור האפליקציה, כמו למשל שם המשתמש</a:t>
            </a:r>
          </a:p>
          <a:p>
            <a:pPr marL="571500" lvl="0" indent="-571500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4000" dirty="0">
                <a:solidFill>
                  <a:schemeClr val="tx1"/>
                </a:solidFill>
                <a:latin typeface="Courier New" panose="02070309020205020404" pitchFamily="49" charset="0"/>
              </a:rPr>
              <a:t>מידע זמין במעבר בין מסכים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DD61F703-336F-0F23-A49D-CE6326B08306}"/>
              </a:ext>
            </a:extLst>
          </p:cNvPr>
          <p:cNvSpPr txBox="1">
            <a:spLocks/>
          </p:cNvSpPr>
          <p:nvPr/>
        </p:nvSpPr>
        <p:spPr>
          <a:xfrm>
            <a:off x="1307509" y="1180387"/>
            <a:ext cx="7766936" cy="757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dirty="0"/>
            </a:br>
            <a:r>
              <a:rPr lang="he-IL" dirty="0"/>
              <a:t>למה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41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1EF0EE-6EA3-4FED-928C-6C9AD5166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6148" y="192940"/>
            <a:ext cx="7766936" cy="773206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 err="1"/>
              <a:t>SharedPreferences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31931-C259-4918-906B-910A6C540A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6896" y="2152556"/>
            <a:ext cx="889176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שלב ראשון - </a:t>
            </a:r>
            <a:r>
              <a:rPr lang="en-US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import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sz="2400" dirty="0">
                <a:solidFill>
                  <a:schemeClr val="tx1"/>
                </a:solidFill>
                <a:latin typeface="Courier New" panose="02070309020205020404" pitchFamily="49" charset="0"/>
              </a:rPr>
              <a:t>import </a:t>
            </a:r>
            <a:r>
              <a:rPr lang="en-US" altLang="he-IL" sz="2400" dirty="0" err="1">
                <a:solidFill>
                  <a:schemeClr val="tx1"/>
                </a:solidFill>
                <a:latin typeface="Courier New" panose="02070309020205020404" pitchFamily="49" charset="0"/>
              </a:rPr>
              <a:t>android.content.SharedPreferences</a:t>
            </a:r>
            <a:r>
              <a:rPr lang="en-US" altLang="he-IL" sz="2400" dirty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marL="457200" lvl="0" indent="-45720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שלב שני - יצירת </a:t>
            </a:r>
            <a:r>
              <a:rPr lang="en-US" altLang="he-IL" sz="2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</a:t>
            </a:r>
            <a:endParaRPr lang="en-US" altLang="he-IL" sz="2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</a:t>
            </a:r>
            <a:r>
              <a:rPr lang="en-US" altLang="he-IL" sz="2000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he-IL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</a:t>
            </a:r>
            <a:r>
              <a:rPr lang="en-US" altLang="he-IL" sz="2000" dirty="0">
                <a:solidFill>
                  <a:schemeClr val="tx1"/>
                </a:solidFill>
                <a:latin typeface="Courier New" panose="02070309020205020404" pitchFamily="49" charset="0"/>
              </a:rPr>
              <a:t> = </a:t>
            </a:r>
            <a:r>
              <a:rPr lang="en-US" altLang="he-IL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getSharedPreferences</a:t>
            </a:r>
            <a:r>
              <a:rPr lang="en-US" altLang="he-IL" sz="2000" dirty="0">
                <a:solidFill>
                  <a:schemeClr val="tx1"/>
                </a:solidFill>
                <a:latin typeface="Courier New" panose="02070309020205020404" pitchFamily="49" charset="0"/>
              </a:rPr>
              <a:t>(“</a:t>
            </a:r>
            <a:r>
              <a:rPr lang="en-US" altLang="he-IL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MyPreferences</a:t>
            </a:r>
            <a:r>
              <a:rPr lang="en-US" altLang="he-IL" sz="2000" dirty="0">
                <a:solidFill>
                  <a:schemeClr val="tx1"/>
                </a:solidFill>
                <a:latin typeface="Courier New" panose="02070309020205020404" pitchFamily="49" charset="0"/>
              </a:rPr>
              <a:t>", MODE_PRIVATE);</a:t>
            </a:r>
          </a:p>
          <a:p>
            <a:pPr marL="342900" lvl="0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שלב שלישי – פתיחה לעריכה</a:t>
            </a:r>
            <a:endParaRPr lang="en-US" altLang="he-IL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SharedPreferences.Editor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editPref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 = </a:t>
            </a: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sharedPreferences.edit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</a:p>
          <a:p>
            <a:pPr marL="285750" lvl="0" indent="-28575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שלב רביעי – מכניסים ערכים</a:t>
            </a:r>
            <a:endParaRPr lang="en-US" altLang="he-IL" sz="2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editPref.putInt("max", value);</a:t>
            </a:r>
          </a:p>
          <a:p>
            <a:pPr marL="285750" lvl="0" indent="-28575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שלב חמישי – כותבים ל </a:t>
            </a:r>
            <a:r>
              <a:rPr lang="en-US" altLang="he-IL" sz="2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</a:t>
            </a:r>
            <a:endParaRPr lang="en-US" altLang="he-IL" sz="2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editPref.commit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  <a:endParaRPr lang="he-IL" altLang="he-IL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DD61F703-336F-0F23-A49D-CE6326B08306}"/>
              </a:ext>
            </a:extLst>
          </p:cNvPr>
          <p:cNvSpPr txBox="1">
            <a:spLocks/>
          </p:cNvSpPr>
          <p:nvPr/>
        </p:nvSpPr>
        <p:spPr>
          <a:xfrm>
            <a:off x="1307509" y="1180387"/>
            <a:ext cx="7766936" cy="757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dirty="0"/>
            </a:br>
            <a:r>
              <a:rPr lang="he-IL" dirty="0"/>
              <a:t>איך כותבים?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83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1EF0EE-6EA3-4FED-928C-6C9AD5166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6148" y="192940"/>
            <a:ext cx="7766936" cy="773206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 err="1"/>
              <a:t>SharedPreferences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31931-C259-4918-906B-910A6C540A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6896" y="2583444"/>
            <a:ext cx="889176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שלב ראשון - </a:t>
            </a:r>
            <a:r>
              <a:rPr lang="en-US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import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sz="2400" dirty="0">
                <a:solidFill>
                  <a:schemeClr val="tx1"/>
                </a:solidFill>
                <a:latin typeface="Courier New" panose="02070309020205020404" pitchFamily="49" charset="0"/>
              </a:rPr>
              <a:t>import </a:t>
            </a:r>
            <a:r>
              <a:rPr lang="en-US" altLang="he-IL" sz="2400" dirty="0" err="1">
                <a:solidFill>
                  <a:schemeClr val="tx1"/>
                </a:solidFill>
                <a:latin typeface="Courier New" panose="02070309020205020404" pitchFamily="49" charset="0"/>
              </a:rPr>
              <a:t>android.content.SharedPreferences</a:t>
            </a:r>
            <a:r>
              <a:rPr lang="en-US" altLang="he-IL" sz="2400" dirty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marL="457200" lvl="0" indent="-45720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שלב שני - יצירת </a:t>
            </a:r>
            <a:r>
              <a:rPr lang="en-US" altLang="he-IL" sz="2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</a:t>
            </a:r>
            <a:endParaRPr lang="en-US" altLang="he-IL" sz="2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</a:t>
            </a:r>
            <a:r>
              <a:rPr lang="en-US" altLang="he-IL" sz="2000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he-IL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</a:t>
            </a:r>
            <a:r>
              <a:rPr lang="en-US" altLang="he-IL" sz="2000" dirty="0">
                <a:solidFill>
                  <a:schemeClr val="tx1"/>
                </a:solidFill>
                <a:latin typeface="Courier New" panose="02070309020205020404" pitchFamily="49" charset="0"/>
              </a:rPr>
              <a:t> = </a:t>
            </a:r>
            <a:r>
              <a:rPr lang="en-US" altLang="he-IL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getSharedPreferences</a:t>
            </a:r>
            <a:r>
              <a:rPr lang="en-US" altLang="he-IL" sz="2000" dirty="0">
                <a:solidFill>
                  <a:schemeClr val="tx1"/>
                </a:solidFill>
                <a:latin typeface="Courier New" panose="02070309020205020404" pitchFamily="49" charset="0"/>
              </a:rPr>
              <a:t>(“</a:t>
            </a:r>
            <a:r>
              <a:rPr lang="en-US" altLang="he-IL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MyPreferences</a:t>
            </a:r>
            <a:r>
              <a:rPr lang="en-US" altLang="he-IL" sz="2000" dirty="0">
                <a:solidFill>
                  <a:schemeClr val="tx1"/>
                </a:solidFill>
                <a:latin typeface="Courier New" panose="02070309020205020404" pitchFamily="49" charset="0"/>
              </a:rPr>
              <a:t>", MODE_PRIVATE);</a:t>
            </a:r>
          </a:p>
          <a:p>
            <a:pPr marL="342900" lvl="0" indent="-34290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800" dirty="0">
                <a:solidFill>
                  <a:schemeClr val="tx1"/>
                </a:solidFill>
                <a:latin typeface="Courier New" panose="02070309020205020404" pitchFamily="49" charset="0"/>
              </a:rPr>
              <a:t>שלב שלישי – קוראים ערכים</a:t>
            </a:r>
            <a:endParaRPr lang="en-US" altLang="he-IL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int max = </a:t>
            </a: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sharedPreferences.getInt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("max",0);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הערך השני הוא ערך ברירת המחדל. אם עדיין לא נשמר ערך מוכנס אל המשתנה ערך ברירת המחדל.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DD61F703-336F-0F23-A49D-CE6326B08306}"/>
              </a:ext>
            </a:extLst>
          </p:cNvPr>
          <p:cNvSpPr txBox="1">
            <a:spLocks/>
          </p:cNvSpPr>
          <p:nvPr/>
        </p:nvSpPr>
        <p:spPr>
          <a:xfrm>
            <a:off x="1307509" y="1180387"/>
            <a:ext cx="7766936" cy="757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dirty="0"/>
            </a:br>
            <a:r>
              <a:rPr lang="he-IL" dirty="0"/>
              <a:t>איך קוראים?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6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1EF0EE-6EA3-4FED-928C-6C9AD5166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6148" y="192940"/>
            <a:ext cx="7766936" cy="773206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 err="1"/>
              <a:t>SharedPreferences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31931-C259-4918-906B-910A6C540A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6896" y="3445220"/>
            <a:ext cx="88917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editPref.clear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מוחק את כל הערכים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he-IL" altLang="he-IL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editPref.remove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(“max”);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מוחק ערך </a:t>
            </a:r>
            <a:r>
              <a:rPr lang="he-IL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מסויים</a:t>
            </a:r>
            <a:endParaRPr lang="he-IL" altLang="he-IL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DD61F703-336F-0F23-A49D-CE6326B08306}"/>
              </a:ext>
            </a:extLst>
          </p:cNvPr>
          <p:cNvSpPr txBox="1">
            <a:spLocks/>
          </p:cNvSpPr>
          <p:nvPr/>
        </p:nvSpPr>
        <p:spPr>
          <a:xfrm>
            <a:off x="1307509" y="1180387"/>
            <a:ext cx="7766936" cy="757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dirty="0"/>
            </a:br>
            <a:r>
              <a:rPr lang="he-IL" dirty="0"/>
              <a:t>ואפשר גם למחוק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94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1EF0EE-6EA3-4FED-928C-6C9AD5166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6148" y="192940"/>
            <a:ext cx="7766936" cy="773206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 err="1"/>
              <a:t>SharedPreferences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31931-C259-4918-906B-910A6C540A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6896" y="2891223"/>
            <a:ext cx="889176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editPref.putString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(“</a:t>
            </a: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player_name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", </a:t>
            </a: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pname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);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מחרוזות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editPref.putFloat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(“average", avg);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מספרים ממשיים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editPref.putBoolean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(“status", true);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ערכים </a:t>
            </a:r>
            <a:r>
              <a:rPr lang="he-IL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בוליאנים</a:t>
            </a:r>
            <a:endParaRPr lang="he-IL" altLang="he-IL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editPref.putLong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(“</a:t>
            </a:r>
            <a:r>
              <a:rPr lang="en-US" altLang="he-IL" dirty="0" err="1">
                <a:solidFill>
                  <a:schemeClr val="tx1"/>
                </a:solidFill>
                <a:latin typeface="Courier New" panose="02070309020205020404" pitchFamily="49" charset="0"/>
              </a:rPr>
              <a:t>big_number</a:t>
            </a:r>
            <a:r>
              <a:rPr lang="en-US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", </a:t>
            </a:r>
            <a:r>
              <a:rPr lang="en-US" altLang="he-IL">
                <a:solidFill>
                  <a:schemeClr val="tx1"/>
                </a:solidFill>
                <a:latin typeface="Courier New" panose="02070309020205020404" pitchFamily="49" charset="0"/>
              </a:rPr>
              <a:t>bnum);</a:t>
            </a:r>
            <a:endParaRPr lang="en-US" altLang="he-IL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he-IL" altLang="he-IL" dirty="0">
                <a:solidFill>
                  <a:schemeClr val="tx1"/>
                </a:solidFill>
                <a:latin typeface="Courier New" panose="02070309020205020404" pitchFamily="49" charset="0"/>
              </a:rPr>
              <a:t>מספרים שלמים גדולים יותר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he-IL" altLang="he-IL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DD61F703-336F-0F23-A49D-CE6326B08306}"/>
              </a:ext>
            </a:extLst>
          </p:cNvPr>
          <p:cNvSpPr txBox="1">
            <a:spLocks/>
          </p:cNvSpPr>
          <p:nvPr/>
        </p:nvSpPr>
        <p:spPr>
          <a:xfrm>
            <a:off x="1307509" y="1180387"/>
            <a:ext cx="7766936" cy="757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n-US" dirty="0"/>
            </a:br>
            <a:r>
              <a:rPr lang="he-IL" dirty="0"/>
              <a:t>וחוץ ממספרים שלמים...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14467"/>
      </p:ext>
    </p:extLst>
  </p:cSld>
  <p:clrMapOvr>
    <a:masterClrMapping/>
  </p:clrMapOvr>
</p:sld>
</file>

<file path=ppt/theme/theme1.xml><?xml version="1.0" encoding="utf-8"?>
<a:theme xmlns:a="http://schemas.openxmlformats.org/drawingml/2006/main" name="פיאה">
  <a:themeElements>
    <a:clrScheme name="פיאה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פיאה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פיאה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3040</TotalTime>
  <Words>257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Trebuchet MS</vt:lpstr>
      <vt:lpstr>Wingdings 3</vt:lpstr>
      <vt:lpstr>פיאה</vt:lpstr>
      <vt:lpstr> SharedPreferences</vt:lpstr>
      <vt:lpstr> SharedPreferences</vt:lpstr>
      <vt:lpstr> SharedPreferences</vt:lpstr>
      <vt:lpstr> SharedPreferences</vt:lpstr>
      <vt:lpstr> SharedPreferences</vt:lpstr>
      <vt:lpstr> SharedPreferences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מבני נתונים</dc:title>
  <dc:creator>Admin</dc:creator>
  <cp:lastModifiedBy>יגאל שטודינר</cp:lastModifiedBy>
  <cp:revision>145</cp:revision>
  <dcterms:created xsi:type="dcterms:W3CDTF">2021-07-13T16:10:32Z</dcterms:created>
  <dcterms:modified xsi:type="dcterms:W3CDTF">2023-02-09T18:20:51Z</dcterms:modified>
</cp:coreProperties>
</file>