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sldIdLst>
    <p:sldId id="270" r:id="rId2"/>
    <p:sldId id="285" r:id="rId3"/>
    <p:sldId id="301" r:id="rId4"/>
    <p:sldId id="293" r:id="rId5"/>
    <p:sldId id="302" r:id="rId6"/>
    <p:sldId id="303" r:id="rId7"/>
    <p:sldId id="304" r:id="rId8"/>
    <p:sldId id="296" r:id="rId9"/>
    <p:sldId id="297" r:id="rId10"/>
    <p:sldId id="298" r:id="rId11"/>
    <p:sldId id="300" r:id="rId12"/>
    <p:sldId id="305" r:id="rId13"/>
    <p:sldId id="307" r:id="rId14"/>
    <p:sldId id="309" r:id="rId15"/>
    <p:sldId id="308" r:id="rId16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70" d="100"/>
          <a:sy n="70" d="100"/>
        </p:scale>
        <p:origin x="138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חבר ישר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כותרת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9" name="כותרת משנה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e-IL" smtClean="0"/>
              <a:t>לחץ כדי לערוך סגנון כותרת משנה של תבנית בסיס</a:t>
            </a:r>
            <a:endParaRPr kumimoji="0" lang="en-US"/>
          </a:p>
        </p:txBody>
      </p:sp>
      <p:sp>
        <p:nvSpPr>
          <p:cNvPr id="16" name="מציין מיקום של תאריך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2" name="מציין מיקום של כותרת תחתונה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5" name="מציין מיקום של מספר שקופית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כותרת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27" name="מציין מיקום תוכן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25" name="מציין מיקום של תאריך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19" name="מציין מיקום של כותרת תחתונה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he-IL"/>
          </a:p>
        </p:txBody>
      </p:sp>
      <p:sp>
        <p:nvSpPr>
          <p:cNvPr id="16" name="מציין מיקום של מספר שקופית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חבר ישר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מציין מיקום טקסט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19" name="מציין מיקום של תאריך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11" name="מציין מיקום של כותרת תחתונה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מציין מיקום של מספר שקופית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  <p:sp>
        <p:nvSpPr>
          <p:cNvPr id="8" name="כותרת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כותרת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4" name="מציין מיקום תוכן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13" name="מציין מיקום תוכן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21" name="מציין מיקום של תאריך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10" name="מציין מיקום של כותרת תחתונה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1" name="מציין מיקום של מספר שקופית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כותרת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3" name="מציין מיקום טקסט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25" name="מציין מיקום טקסט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28" name="מציין מיקום תוכן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10" name="מציין מיקום של תאריך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מחבר ישר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כותרת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2" name="מציין מיקום של תאריך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21" name="מציין מיקום של כותרת תחתונה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andro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24" name="מציין מיקום של כותרת תחתונה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1457325" cy="1011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1457325" cy="1011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חבר ישר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כותרת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26" name="מציין מיקום טקסט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  <p:sp>
        <p:nvSpPr>
          <p:cNvPr id="14" name="מציין מיקום תוכן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25" name="מציין מיקום של תאריך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29" name="מציין מיקום של כותרת תחתונה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ציין מיקום של תמונה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he-IL" smtClean="0"/>
              <a:t>לחץ על הסמל כדי להוסיף תמונה</a:t>
            </a:r>
            <a:endParaRPr kumimoji="0" lang="en-US" dirty="0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1" name="מציין מיקום של מספר שקופית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  <p:sp>
        <p:nvSpPr>
          <p:cNvPr id="17" name="כותרת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26" name="מציין מיקום טקסט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smtClean="0"/>
              <a:t>רמה שנייה</a:t>
            </a:r>
          </a:p>
          <a:p>
            <a:pPr lvl="2" eaLnBrk="1" latinLnBrk="0" hangingPunct="1"/>
            <a:r>
              <a:rPr lang="he-IL" smtClean="0"/>
              <a:t>רמה שלישית</a:t>
            </a:r>
          </a:p>
          <a:p>
            <a:pPr lvl="3" eaLnBrk="1" latinLnBrk="0" hangingPunct="1"/>
            <a:r>
              <a:rPr lang="he-IL" smtClean="0"/>
              <a:t>רמה רביעית</a:t>
            </a:r>
          </a:p>
          <a:p>
            <a:pPr lvl="4" eaLnBrk="1" latinLnBrk="0" hangingPunct="1"/>
            <a:r>
              <a:rPr lang="he-IL" smtClean="0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חבר ישר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מציין מיקום טקסט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e-IL" smtClean="0"/>
              <a:t>לחץ כדי לערוך סגנונות טקסט של תבנית בסיס</a:t>
            </a:r>
          </a:p>
          <a:p>
            <a:pPr lvl="1" eaLnBrk="1" latinLnBrk="0" hangingPunct="1"/>
            <a:r>
              <a:rPr kumimoji="0" lang="he-IL" smtClean="0"/>
              <a:t>רמה שנייה</a:t>
            </a:r>
          </a:p>
          <a:p>
            <a:pPr lvl="2" eaLnBrk="1" latinLnBrk="0" hangingPunct="1"/>
            <a:r>
              <a:rPr kumimoji="0" lang="he-IL" smtClean="0"/>
              <a:t>רמה שלישית</a:t>
            </a:r>
          </a:p>
          <a:p>
            <a:pPr lvl="3" eaLnBrk="1" latinLnBrk="0" hangingPunct="1"/>
            <a:r>
              <a:rPr kumimoji="0" lang="he-IL" smtClean="0"/>
              <a:t>רמה רביעית</a:t>
            </a:r>
          </a:p>
          <a:p>
            <a:pPr lvl="4" eaLnBrk="1" latinLnBrk="0" hangingPunct="1"/>
            <a:r>
              <a:rPr kumimoji="0" lang="he-IL" smtClean="0"/>
              <a:t>רמה חמישית</a:t>
            </a:r>
            <a:endParaRPr kumimoji="0" lang="en-US"/>
          </a:p>
        </p:txBody>
      </p:sp>
      <p:sp>
        <p:nvSpPr>
          <p:cNvPr id="11" name="מציין מיקום של תאריך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ABEDE9E9-CF75-485B-9437-3A9A6DC7300A}" type="datetimeFigureOut">
              <a:rPr lang="he-IL" smtClean="0"/>
              <a:t>ט'/טבת/תשע"ו</a:t>
            </a:fld>
            <a:endParaRPr lang="he-IL"/>
          </a:p>
        </p:txBody>
      </p:sp>
      <p:sp>
        <p:nvSpPr>
          <p:cNvPr id="28" name="מציין מיקום של כותרת תחתונה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1F6ED090-52F1-4F2F-A267-8F29E05E833A}" type="slidenum">
              <a:rPr lang="he-IL" smtClean="0"/>
              <a:t>‹#›</a:t>
            </a:fld>
            <a:endParaRPr lang="he-IL"/>
          </a:p>
        </p:txBody>
      </p:sp>
      <p:sp>
        <p:nvSpPr>
          <p:cNvPr id="10" name="מציין מיקום של כותרת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he-IL" smtClean="0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9" name="מחבר ישר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מחבר ישר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1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r" rtl="1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r" rtl="1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r" rtl="1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r" rtl="1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r" rtl="1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r" rtl="1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r" rtl="1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r" rtl="1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r" rtl="1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702568" y="548680"/>
            <a:ext cx="4259500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6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מקום לתמונות</a:t>
            </a:r>
          </a:p>
          <a:p>
            <a:pPr algn="ctr"/>
            <a:r>
              <a:rPr lang="en-US" sz="6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ImageView</a:t>
            </a:r>
            <a:endParaRPr lang="he-IL" sz="6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3768" y="2852936"/>
            <a:ext cx="627814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מדובר במרכיב המהווה מקום בו ניתן להציב תמונה אותה לקחים מקובץ גרפי.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3607" y="3861048"/>
            <a:ext cx="627814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חשוב לזכור: </a:t>
            </a:r>
            <a:r>
              <a:rPr lang="he-IL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מדובר בתמונה עצמה, אלא רק במקום בו נתן להציב תמונה</a:t>
            </a:r>
            <a:endParaRPr lang="he-IL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36512" y="5230941"/>
            <a:ext cx="627814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באותו מקום ניתן להציב תמונות שונות (להחליף תמונות).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6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64324"/>
            <a:ext cx="4763689" cy="5793676"/>
          </a:xfrm>
          <a:prstGeom prst="rect">
            <a:avLst/>
          </a:prstGeom>
        </p:spPr>
      </p:pic>
      <p:sp>
        <p:nvSpPr>
          <p:cNvPr id="5" name="הסבר מלבני מעוגל 4"/>
          <p:cNvSpPr/>
          <p:nvPr/>
        </p:nvSpPr>
        <p:spPr>
          <a:xfrm>
            <a:off x="6228184" y="2564904"/>
            <a:ext cx="2802508" cy="1268457"/>
          </a:xfrm>
          <a:prstGeom prst="wedgeRoundRectCallout">
            <a:avLst>
              <a:gd name="adj1" fmla="val -223404"/>
              <a:gd name="adj2" fmla="val 279943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כאן נמצאים מרכיבים לשימוש במרכיבים גרפיים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הסבר מלבני מעוגל 5"/>
          <p:cNvSpPr/>
          <p:nvPr/>
        </p:nvSpPr>
        <p:spPr>
          <a:xfrm>
            <a:off x="6084168" y="430095"/>
            <a:ext cx="2802508" cy="1268457"/>
          </a:xfrm>
          <a:prstGeom prst="wedgeRoundRectCallout">
            <a:avLst>
              <a:gd name="adj1" fmla="val -96788"/>
              <a:gd name="adj2" fmla="val 188489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מקום להצגת התמונה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48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4944"/>
            <a:ext cx="9144000" cy="2160240"/>
          </a:xfrm>
          <a:prstGeom prst="rect">
            <a:avLst/>
          </a:prstGeom>
        </p:spPr>
      </p:pic>
      <p:sp>
        <p:nvSpPr>
          <p:cNvPr id="6" name="הסבר מלבני מעוגל 5"/>
          <p:cNvSpPr/>
          <p:nvPr/>
        </p:nvSpPr>
        <p:spPr>
          <a:xfrm>
            <a:off x="6084168" y="430095"/>
            <a:ext cx="2802508" cy="1268457"/>
          </a:xfrm>
          <a:prstGeom prst="wedgeRoundRectCallout">
            <a:avLst>
              <a:gd name="adj1" fmla="val -96788"/>
              <a:gd name="adj2" fmla="val 188489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קודים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9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840" y="1079560"/>
            <a:ext cx="7130236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dirty="0" smtClean="0">
                <a:latin typeface="Guttman Vilna" panose="02010401010101010101" pitchFamily="2" charset="-79"/>
                <a:ea typeface="Tahoma" panose="020B0604030504040204" pitchFamily="34" charset="0"/>
                <a:cs typeface="Guttman Vilna" panose="02010401010101010101" pitchFamily="2" charset="-79"/>
              </a:rPr>
              <a:t>כאשר </a:t>
            </a:r>
            <a:r>
              <a:rPr lang="he-IL" sz="2800" dirty="0" smtClean="0">
                <a:latin typeface="Guttman Vilna" panose="02010401010101010101" pitchFamily="2" charset="-79"/>
                <a:ea typeface="Tahoma" panose="020B0604030504040204" pitchFamily="34" charset="0"/>
                <a:cs typeface="Guttman Vilna" panose="02010401010101010101" pitchFamily="2" charset="-79"/>
              </a:rPr>
              <a:t>רוצים להשתמש </a:t>
            </a:r>
            <a:r>
              <a:rPr lang="he-IL" sz="2800" dirty="0" smtClean="0">
                <a:latin typeface="Guttman Vilna" panose="02010401010101010101" pitchFamily="2" charset="-79"/>
                <a:ea typeface="Tahoma" panose="020B0604030504040204" pitchFamily="34" charset="0"/>
                <a:cs typeface="Guttman Vilna" panose="02010401010101010101" pitchFamily="2" charset="-79"/>
              </a:rPr>
              <a:t>באפליקציה בתמונות (קבצים גרפיים) - צריך לבצע מספר </a:t>
            </a:r>
            <a:r>
              <a:rPr lang="he-IL" sz="2800" dirty="0" smtClean="0">
                <a:latin typeface="Guttman Vilna" panose="02010401010101010101" pitchFamily="2" charset="-79"/>
                <a:ea typeface="Tahoma" panose="020B0604030504040204" pitchFamily="34" charset="0"/>
                <a:cs typeface="Guttman Vilna" panose="02010401010101010101" pitchFamily="2" charset="-79"/>
              </a:rPr>
              <a:t>שלבי הכנה.</a:t>
            </a:r>
            <a:endParaRPr lang="he-IL" sz="2800" dirty="0">
              <a:latin typeface="Guttman Vilna" panose="02010401010101010101" pitchFamily="2" charset="-79"/>
              <a:ea typeface="Tahoma" panose="020B0604030504040204" pitchFamily="34" charset="0"/>
              <a:cs typeface="Guttman Vilna" panose="02010401010101010101" pitchFamily="2" charset="-79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852936"/>
            <a:ext cx="9144000" cy="31700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שלב 1: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להכין קבצים גרפיים (לצייר, להוריד האינטרנט, לצלם...). </a:t>
            </a: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						שמור </a:t>
            </a: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על זכויות יוצרים!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מומלץ להשתמש בקבצים מסוג 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png</a:t>
            </a:r>
            <a:endParaRPr lang="he-IL"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גודל התמונה בקובץ (לא גודל של קובץ!) צריך להיות "סביר"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במידה ומתכוונים להחליף באותו מקום כמה תמונות – כדאי שיהיו באותו גודל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שם הקובץ בו נמצאת תמונה </a:t>
            </a:r>
            <a:r>
              <a:rPr lang="he-IL" sz="2000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חייב </a:t>
            </a: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להיות רשום ב</a:t>
            </a:r>
            <a:r>
              <a:rPr lang="he-IL" sz="2000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אותיות קטנות בלבד</a:t>
            </a:r>
            <a:endParaRPr lang="he-IL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93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5840" y="1079560"/>
            <a:ext cx="7130236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dirty="0" smtClean="0">
                <a:latin typeface="Guttman Vilna" panose="02010401010101010101" pitchFamily="2" charset="-79"/>
                <a:ea typeface="Tahoma" panose="020B0604030504040204" pitchFamily="34" charset="0"/>
                <a:cs typeface="Guttman Vilna" panose="02010401010101010101" pitchFamily="2" charset="-79"/>
              </a:rPr>
              <a:t>כאשר </a:t>
            </a:r>
            <a:r>
              <a:rPr lang="he-IL" sz="2800" dirty="0" smtClean="0">
                <a:latin typeface="Guttman Vilna" panose="02010401010101010101" pitchFamily="2" charset="-79"/>
                <a:ea typeface="Tahoma" panose="020B0604030504040204" pitchFamily="34" charset="0"/>
                <a:cs typeface="Guttman Vilna" panose="02010401010101010101" pitchFamily="2" charset="-79"/>
              </a:rPr>
              <a:t>רוצים להשתמש </a:t>
            </a:r>
            <a:r>
              <a:rPr lang="he-IL" sz="2800" dirty="0" smtClean="0">
                <a:latin typeface="Guttman Vilna" panose="02010401010101010101" pitchFamily="2" charset="-79"/>
                <a:ea typeface="Tahoma" panose="020B0604030504040204" pitchFamily="34" charset="0"/>
                <a:cs typeface="Guttman Vilna" panose="02010401010101010101" pitchFamily="2" charset="-79"/>
              </a:rPr>
              <a:t>באפליקציה בתמונות (קבצים גרפיים) - צריך לבצע מספר </a:t>
            </a:r>
            <a:r>
              <a:rPr lang="he-IL" sz="2800" dirty="0" smtClean="0">
                <a:latin typeface="Guttman Vilna" panose="02010401010101010101" pitchFamily="2" charset="-79"/>
                <a:ea typeface="Tahoma" panose="020B0604030504040204" pitchFamily="34" charset="0"/>
                <a:cs typeface="Guttman Vilna" panose="02010401010101010101" pitchFamily="2" charset="-79"/>
              </a:rPr>
              <a:t>שלבי הכנה.</a:t>
            </a:r>
            <a:endParaRPr lang="he-IL" sz="2800" dirty="0">
              <a:latin typeface="Guttman Vilna" panose="02010401010101010101" pitchFamily="2" charset="-79"/>
              <a:ea typeface="Tahoma" panose="020B0604030504040204" pitchFamily="34" charset="0"/>
              <a:cs typeface="Guttman Vilna" panose="02010401010101010101" pitchFamily="2" charset="-79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852936"/>
            <a:ext cx="9144000" cy="178510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שלב </a:t>
            </a:r>
            <a:r>
              <a:rPr lang="he-IL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2:</a:t>
            </a:r>
            <a:endParaRPr lang="he-IL" sz="20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לסמן קובץ או קבצים אותם רוצים להוסיף לאפליקציה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לבצע "העתק"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לחזור ל-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studio</a:t>
            </a: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ולסמן תיקיה 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drawable</a:t>
            </a:r>
            <a:r>
              <a:rPr lang="he-IL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ולבצע "הדבק"</a:t>
            </a:r>
            <a:endParaRPr lang="he-IL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714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 rotWithShape="1">
          <a:blip r:embed="rId2"/>
          <a:srcRect l="51179"/>
          <a:stretch/>
        </p:blipFill>
        <p:spPr>
          <a:xfrm>
            <a:off x="2195736" y="404664"/>
            <a:ext cx="5289230" cy="609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15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 rotWithShape="1">
          <a:blip r:embed="rId2"/>
          <a:srcRect r="41441"/>
          <a:stretch/>
        </p:blipFill>
        <p:spPr>
          <a:xfrm>
            <a:off x="1619672" y="332656"/>
            <a:ext cx="6480720" cy="622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68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334" y="2009911"/>
            <a:ext cx="9168334" cy="26195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9752" y="188640"/>
            <a:ext cx="6673685" cy="7848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שלב34</a:t>
            </a:r>
            <a:r>
              <a:rPr lang="he-IL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להציב על פני המסך מרכיב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ImageView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הסבר מלבני מעוגל 3"/>
          <p:cNvSpPr/>
          <p:nvPr/>
        </p:nvSpPr>
        <p:spPr>
          <a:xfrm>
            <a:off x="2419683" y="223233"/>
            <a:ext cx="1794918" cy="1268457"/>
          </a:xfrm>
          <a:prstGeom prst="wedgeRoundRectCallout">
            <a:avLst>
              <a:gd name="adj1" fmla="val 150435"/>
              <a:gd name="adj2" fmla="val 190470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מרכיב "מקום לתמונה" ברשימת מרכיבים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הסבר מלבני מעוגל 4"/>
          <p:cNvSpPr/>
          <p:nvPr/>
        </p:nvSpPr>
        <p:spPr>
          <a:xfrm>
            <a:off x="2195736" y="6065912"/>
            <a:ext cx="4037730" cy="792088"/>
          </a:xfrm>
          <a:prstGeom prst="wedgeRoundRectCallout">
            <a:avLst>
              <a:gd name="adj1" fmla="val -52832"/>
              <a:gd name="adj2" fmla="val -23341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מרכיב "מקום לתמונה" על המסך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37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492896"/>
            <a:ext cx="8324850" cy="3790950"/>
          </a:xfrm>
          <a:prstGeom prst="rect">
            <a:avLst/>
          </a:prstGeom>
        </p:spPr>
      </p:pic>
      <p:sp>
        <p:nvSpPr>
          <p:cNvPr id="4" name="הסבר מלבני מעוגל 3"/>
          <p:cNvSpPr/>
          <p:nvPr/>
        </p:nvSpPr>
        <p:spPr>
          <a:xfrm>
            <a:off x="5580112" y="188640"/>
            <a:ext cx="3240360" cy="1268457"/>
          </a:xfrm>
          <a:prstGeom prst="wedgeRoundRectCallout">
            <a:avLst>
              <a:gd name="adj1" fmla="val -84310"/>
              <a:gd name="adj2" fmla="val 29757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>
              <a:lnSpc>
                <a:spcPct val="200000"/>
              </a:lnSpc>
            </a:pPr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קודים לתכונות של </a:t>
            </a:r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מרכיבים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ImageView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37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9752" y="188640"/>
            <a:ext cx="6673685" cy="161582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שלב 5: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במידה ויש בזה צורך -- לשנות </a:t>
            </a:r>
            <a:r>
              <a:rPr lang="he-IL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קוד שמציין איזו תמונה יש להציב במרכיב 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ImageView</a:t>
            </a:r>
            <a:endParaRPr lang="he-IL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(לציין שם הקובץ בו נמצאת התמונה הרצויה) 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04864"/>
            <a:ext cx="659476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הסבר מלבני מעוגל 3"/>
          <p:cNvSpPr/>
          <p:nvPr/>
        </p:nvSpPr>
        <p:spPr>
          <a:xfrm>
            <a:off x="5676594" y="5573840"/>
            <a:ext cx="3384376" cy="1268457"/>
          </a:xfrm>
          <a:prstGeom prst="wedgeRoundRectCallout">
            <a:avLst>
              <a:gd name="adj1" fmla="val -102905"/>
              <a:gd name="adj2" fmla="val -81349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קוד (שורה) המציין איזה תמונה </a:t>
            </a:r>
            <a:r>
              <a:rPr lang="he-IL" sz="1600" b="1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רוצים</a:t>
            </a:r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להציב במרכיב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ImageView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אליפסה 4"/>
          <p:cNvSpPr/>
          <p:nvPr/>
        </p:nvSpPr>
        <p:spPr>
          <a:xfrm>
            <a:off x="4211960" y="4149080"/>
            <a:ext cx="792088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5377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84784"/>
            <a:ext cx="273367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הסבר מלבני מעוגל 2"/>
          <p:cNvSpPr/>
          <p:nvPr/>
        </p:nvSpPr>
        <p:spPr>
          <a:xfrm>
            <a:off x="3851920" y="1483112"/>
            <a:ext cx="4680520" cy="1268457"/>
          </a:xfrm>
          <a:prstGeom prst="wedgeRoundRectCallout">
            <a:avLst>
              <a:gd name="adj1" fmla="val -66264"/>
              <a:gd name="adj2" fmla="val 108213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תמונה רצויה מוצגת ב</a:t>
            </a:r>
            <a:r>
              <a:rPr lang="he-IL" sz="1600" b="1" u="sng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אותו מרכיב</a:t>
            </a:r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ImageView </a:t>
            </a:r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עקב שינוי קוד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554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79512" y="1772816"/>
            <a:ext cx="8751947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he-IL" sz="5400" b="1" dirty="0" smtClean="0">
                <a:ln>
                  <a:solidFill>
                    <a:srgbClr val="00B0F0"/>
                  </a:solidFill>
                </a:ln>
                <a:solidFill>
                  <a:srgbClr val="FF0000"/>
                </a:solidFill>
                <a:latin typeface="Guttman Mantova" panose="02010401010101010101" pitchFamily="2" charset="-79"/>
                <a:cs typeface="Guttman Mantova" panose="02010401010101010101" pitchFamily="2" charset="-79"/>
              </a:rPr>
              <a:t>"</a:t>
            </a:r>
            <a:r>
              <a:rPr lang="he-IL" sz="5400" b="1" dirty="0" smtClean="0">
                <a:ln>
                  <a:solidFill>
                    <a:srgbClr val="00B0F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ttman Mantova" panose="02010401010101010101" pitchFamily="2" charset="-79"/>
                <a:cs typeface="Guttman Mantova" panose="02010401010101010101" pitchFamily="2" charset="-79"/>
              </a:rPr>
              <a:t>כל מה שניתן לעשות ב-</a:t>
            </a:r>
            <a:r>
              <a:rPr lang="en-US" sz="5400" b="1" dirty="0" smtClean="0">
                <a:ln>
                  <a:solidFill>
                    <a:srgbClr val="00B0F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Guttman Mantova" panose="02010401010101010101" pitchFamily="2" charset="-79"/>
              </a:rPr>
              <a:t>xml</a:t>
            </a:r>
            <a:r>
              <a:rPr lang="he-IL" sz="5400" b="1" dirty="0" smtClean="0">
                <a:ln>
                  <a:solidFill>
                    <a:srgbClr val="00B0F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ttman Mantova" panose="02010401010101010101" pitchFamily="2" charset="-79"/>
                <a:cs typeface="Guttman Mantova" panose="02010401010101010101" pitchFamily="2" charset="-79"/>
              </a:rPr>
              <a:t>,</a:t>
            </a:r>
          </a:p>
          <a:p>
            <a:pPr algn="ctr"/>
            <a:r>
              <a:rPr lang="he-IL" sz="5400" b="1" cap="none" spc="0" dirty="0" smtClean="0">
                <a:ln>
                  <a:solidFill>
                    <a:srgbClr val="00B0F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ttman Mantova" panose="02010401010101010101" pitchFamily="2" charset="-79"/>
                <a:cs typeface="Guttman Mantova" panose="02010401010101010101" pitchFamily="2" charset="-79"/>
              </a:rPr>
              <a:t>ניתן גם לעשות ב-</a:t>
            </a:r>
            <a:r>
              <a:rPr lang="en-US" sz="5400" b="1" cap="none" spc="0" dirty="0" smtClean="0">
                <a:ln>
                  <a:solidFill>
                    <a:srgbClr val="00B0F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Guttman Mantova" panose="02010401010101010101" pitchFamily="2" charset="-79"/>
              </a:rPr>
              <a:t>java</a:t>
            </a:r>
            <a:r>
              <a:rPr lang="he-IL" sz="5400" b="1" cap="none" spc="0" dirty="0" smtClean="0">
                <a:ln>
                  <a:solidFill>
                    <a:srgbClr val="00B0F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uttman Mantova" panose="02010401010101010101" pitchFamily="2" charset="-79"/>
                <a:cs typeface="Guttman Mantova" panose="02010401010101010101" pitchFamily="2" charset="-79"/>
              </a:rPr>
              <a:t>"</a:t>
            </a:r>
          </a:p>
          <a:p>
            <a:endParaRPr lang="he-IL" sz="5400" b="1" dirty="0" smtClean="0">
              <a:ln>
                <a:solidFill>
                  <a:srgbClr val="00B0F0"/>
                </a:solidFill>
              </a:ln>
              <a:solidFill>
                <a:srgbClr val="FF0000"/>
              </a:solidFill>
              <a:latin typeface="Guttman Hatzvi" panose="02010401010101010101" pitchFamily="2" charset="-79"/>
              <a:cs typeface="Guttman Hatzvi" panose="02010401010101010101" pitchFamily="2" charset="-79"/>
            </a:endParaRPr>
          </a:p>
          <a:p>
            <a:r>
              <a:rPr lang="he-IL" sz="5400" b="1" dirty="0" smtClean="0">
                <a:ln>
                  <a:solidFill>
                    <a:srgbClr val="00B0F0"/>
                  </a:solidFill>
                </a:ln>
                <a:solidFill>
                  <a:srgbClr val="FF0000"/>
                </a:solidFill>
                <a:latin typeface="Guttman Hatzvi" panose="02010401010101010101" pitchFamily="2" charset="-79"/>
                <a:cs typeface="Guttman Hatzvi" panose="02010401010101010101" pitchFamily="2" charset="-79"/>
              </a:rPr>
              <a:t>(כך אמר יבגני)</a:t>
            </a:r>
            <a:endParaRPr lang="he-IL" sz="5400" b="1" cap="none" spc="0" dirty="0">
              <a:ln>
                <a:solidFill>
                  <a:srgbClr val="00B0F0"/>
                </a:solidFill>
              </a:ln>
              <a:solidFill>
                <a:srgbClr val="FF0000"/>
              </a:solidFill>
              <a:effectLst/>
              <a:latin typeface="Guttman Hatzvi" panose="02010401010101010101" pitchFamily="2" charset="-79"/>
              <a:cs typeface="Guttman Hatzvi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21933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835696" y="-171400"/>
            <a:ext cx="668484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יוצרים קשר</a:t>
            </a:r>
          </a:p>
          <a:p>
            <a:pPr algn="ctr"/>
            <a:r>
              <a:rPr lang="he-IL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בין מזהים (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he-IL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של מרכיבים</a:t>
            </a:r>
          </a:p>
          <a:p>
            <a:pPr algn="ctr"/>
            <a:r>
              <a:rPr lang="he-IL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לבין משתני 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he-IL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28" y="2276872"/>
            <a:ext cx="6876256" cy="460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309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699792" y="0"/>
            <a:ext cx="483818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מבצעים הצבת תמונה</a:t>
            </a:r>
          </a:p>
          <a:p>
            <a:pPr algn="ctr"/>
            <a:r>
              <a:rPr lang="he-IL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הנלקחת מקובץ</a:t>
            </a:r>
          </a:p>
          <a:p>
            <a:pPr algn="ctr"/>
            <a:r>
              <a:rPr lang="he-IL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אשר נמצא ב-</a:t>
            </a:r>
            <a:r>
              <a:rPr lang="en-US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drawable</a:t>
            </a:r>
            <a:endParaRPr lang="he-IL" sz="36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he-IL" sz="3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לתוך מרכיב "מסגרת לתמונה"</a:t>
            </a:r>
            <a:endParaRPr lang="he-IL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077072"/>
            <a:ext cx="7325177" cy="1080120"/>
          </a:xfrm>
          <a:prstGeom prst="rect">
            <a:avLst/>
          </a:prstGeom>
        </p:spPr>
      </p:pic>
      <p:sp>
        <p:nvSpPr>
          <p:cNvPr id="5" name="הסבר מלבני מעוגל 4"/>
          <p:cNvSpPr/>
          <p:nvPr/>
        </p:nvSpPr>
        <p:spPr>
          <a:xfrm>
            <a:off x="1619672" y="2332405"/>
            <a:ext cx="1800200" cy="1024588"/>
          </a:xfrm>
          <a:prstGeom prst="wedgeRoundRectCallout">
            <a:avLst>
              <a:gd name="adj1" fmla="val -57167"/>
              <a:gd name="adj2" fmla="val 149506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משתנה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הסבר מלבני מעוגל 5"/>
          <p:cNvSpPr/>
          <p:nvPr/>
        </p:nvSpPr>
        <p:spPr>
          <a:xfrm>
            <a:off x="4688904" y="5833412"/>
            <a:ext cx="1800200" cy="1024588"/>
          </a:xfrm>
          <a:prstGeom prst="wedgeRoundRectCallout">
            <a:avLst>
              <a:gd name="adj1" fmla="val 55035"/>
              <a:gd name="adj2" fmla="val -143539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קובץ אשר מכיל תמונה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824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597655" y="-171400"/>
            <a:ext cx="7160935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מבצעים הצבת תמונה</a:t>
            </a:r>
          </a:p>
          <a:p>
            <a:pPr algn="ctr"/>
            <a:r>
              <a:rPr lang="he-IL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הנלקחת מקובץ</a:t>
            </a:r>
          </a:p>
          <a:p>
            <a:pPr algn="ctr"/>
            <a:r>
              <a:rPr lang="he-IL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אשר נמצא ב-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drawable</a:t>
            </a:r>
            <a:endParaRPr lang="he-IL" sz="5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he-IL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לתוך מרכיב "מסגרת לתמונה"</a:t>
            </a:r>
            <a:endParaRPr lang="he-IL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99" y="3244920"/>
            <a:ext cx="6951613" cy="342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756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droid1">
  <a:themeElements>
    <a:clrScheme name="טרק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טרק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טרק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android1</Template>
  <TotalTime>611</TotalTime>
  <Words>263</Words>
  <Application>Microsoft Office PowerPoint</Application>
  <PresentationFormat>‫הצגה על המסך (4:3)</PresentationFormat>
  <Paragraphs>47</Paragraphs>
  <Slides>15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10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26" baseType="lpstr">
      <vt:lpstr>Aharoni</vt:lpstr>
      <vt:lpstr>Arial</vt:lpstr>
      <vt:lpstr>Franklin Gothic Book</vt:lpstr>
      <vt:lpstr>Franklin Gothic Medium</vt:lpstr>
      <vt:lpstr>Guttman Hatzvi</vt:lpstr>
      <vt:lpstr>Guttman Mantova</vt:lpstr>
      <vt:lpstr>Guttman Vilna</vt:lpstr>
      <vt:lpstr>Tahoma</vt:lpstr>
      <vt:lpstr>Times New Roman</vt:lpstr>
      <vt:lpstr>Wingdings 2</vt:lpstr>
      <vt:lpstr>android1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</dc:title>
  <dc:creator>Zeev</dc:creator>
  <cp:lastModifiedBy>hp</cp:lastModifiedBy>
  <cp:revision>61</cp:revision>
  <dcterms:created xsi:type="dcterms:W3CDTF">2013-10-03T07:58:58Z</dcterms:created>
  <dcterms:modified xsi:type="dcterms:W3CDTF">2015-12-21T07:48:54Z</dcterms:modified>
</cp:coreProperties>
</file>