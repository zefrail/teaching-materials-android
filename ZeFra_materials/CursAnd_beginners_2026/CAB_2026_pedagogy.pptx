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7" r:id="rId2"/>
    <p:sldId id="266" r:id="rId3"/>
    <p:sldId id="309" r:id="rId4"/>
    <p:sldId id="310" r:id="rId5"/>
    <p:sldId id="304" r:id="rId6"/>
    <p:sldId id="298" r:id="rId7"/>
    <p:sldId id="300" r:id="rId8"/>
    <p:sldId id="306" r:id="rId9"/>
    <p:sldId id="307" r:id="rId10"/>
    <p:sldId id="311" r:id="rId11"/>
    <p:sldId id="308" r:id="rId12"/>
    <p:sldId id="314" r:id="rId13"/>
    <p:sldId id="312" r:id="rId14"/>
    <p:sldId id="313" r:id="rId15"/>
    <p:sldId id="302" r:id="rId16"/>
    <p:sldId id="29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ט"ז/שבט/תשפ"ו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ט"ז/שבט/תשפ"ו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1514168" y="1040078"/>
            <a:ext cx="10087896" cy="50783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אנחנו לא מתכנתים.</a:t>
            </a:r>
          </a:p>
          <a:p>
            <a:pPr algn="ctr" rtl="1"/>
            <a:r>
              <a:rPr lang="he-IL" sz="4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אנחנו מורים.</a:t>
            </a:r>
          </a:p>
          <a:p>
            <a:pPr algn="ctr" rtl="1"/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מטרתנו = ללמד.</a:t>
            </a:r>
          </a:p>
          <a:p>
            <a:pPr algn="ctr" rtl="1"/>
            <a:endParaRPr lang="he-IL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itchFamily="2" charset="-79"/>
              <a:cs typeface="Assistant" pitchFamily="2" charset="-79"/>
            </a:endParaRPr>
          </a:p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  <a:cs typeface="Assistant" pitchFamily="2" charset="-79"/>
              </a:rPr>
              <a:t>יש הבדל עצום</a:t>
            </a:r>
          </a:p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  <a:cs typeface="Assistant" pitchFamily="2" charset="-79"/>
              </a:rPr>
              <a:t>בין </a:t>
            </a:r>
            <a:r>
              <a:rPr lang="he-IL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  <a:cs typeface="Assistant" pitchFamily="2" charset="-79"/>
              </a:rPr>
              <a:t>לדעת לבנות אפליקציות</a:t>
            </a:r>
          </a:p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  <a:cs typeface="Assistant" pitchFamily="2" charset="-79"/>
              </a:rPr>
              <a:t>לבין ללמד אחרים לדעת </a:t>
            </a:r>
            <a:r>
              <a:rPr lang="he-IL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  <a:cs typeface="Assistant" pitchFamily="2" charset="-79"/>
              </a:rPr>
              <a:t>לבנות אפליקציות</a:t>
            </a:r>
          </a:p>
        </p:txBody>
      </p:sp>
      <p:sp>
        <p:nvSpPr>
          <p:cNvPr id="4" name="מלבן 4">
            <a:extLst>
              <a:ext uri="{FF2B5EF4-FFF2-40B4-BE49-F238E27FC236}">
                <a16:creationId xmlns:a16="http://schemas.microsoft.com/office/drawing/2014/main" id="{0E95738F-66B5-6F1B-8A8D-63D7494AEED6}"/>
              </a:ext>
            </a:extLst>
          </p:cNvPr>
          <p:cNvSpPr/>
          <p:nvPr/>
        </p:nvSpPr>
        <p:spPr>
          <a:xfrm>
            <a:off x="5747898" y="-60597"/>
            <a:ext cx="322876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eorgia Pro Cond" panose="02040506050405020303" pitchFamily="18" charset="0"/>
                <a:cs typeface="Guttman Vilna" panose="02010401010101010101" pitchFamily="2" charset="-79"/>
              </a:rPr>
              <a:t>היבטים פדגוגיים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63F72D-24C0-BB91-E324-0CC7F3E1B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23761"/>
            <a:ext cx="737793" cy="1016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633C7F-DB76-D94D-69DA-E4AB2B98FF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58"/>
            <a:ext cx="1111954" cy="16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006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1685936" y="1698413"/>
            <a:ext cx="9865200" cy="452431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המטרה היום-יומית שלנו</a:t>
            </a:r>
          </a:p>
          <a:p>
            <a:pPr algn="ctr" rtl="1"/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היא להקנות ידע, הבנה ויכולת לתלמידים.</a:t>
            </a:r>
          </a:p>
          <a:p>
            <a:pPr algn="ctr" rtl="1"/>
            <a:endParaRPr lang="he-IL" sz="4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itchFamily="2" charset="-79"/>
              <a:cs typeface="Assistant" pitchFamily="2" charset="-79"/>
            </a:endParaRPr>
          </a:p>
          <a:p>
            <a:pPr algn="ctr" rtl="1"/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המטרה הסופית שלנו</a:t>
            </a:r>
          </a:p>
          <a:p>
            <a:pPr algn="ctr" rtl="1"/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היא הצלחת התלמידים</a:t>
            </a:r>
          </a:p>
          <a:p>
            <a:pPr algn="ctr" rtl="1"/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בבחינת הבגרות.</a:t>
            </a:r>
          </a:p>
        </p:txBody>
      </p:sp>
    </p:spTree>
    <p:extLst>
      <p:ext uri="{BB962C8B-B14F-4D97-AF65-F5344CB8AC3E}">
        <p14:creationId xmlns:p14="http://schemas.microsoft.com/office/powerpoint/2010/main" val="674396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42F11-1E89-CE8D-C29A-9F84ABDF1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8F5A3FC6-E5EB-DA93-D4E8-9013E8632108}"/>
              </a:ext>
            </a:extLst>
          </p:cNvPr>
          <p:cNvSpPr/>
          <p:nvPr/>
        </p:nvSpPr>
        <p:spPr>
          <a:xfrm>
            <a:off x="2490649" y="1698413"/>
            <a:ext cx="8255786" cy="378565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ה"מצפן" שלנו היא תוכנית הלימוד</a:t>
            </a:r>
          </a:p>
          <a:p>
            <a:pPr algn="ctr" rtl="1"/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של משרד החינוך.</a:t>
            </a:r>
          </a:p>
          <a:p>
            <a:pPr algn="ctr" rtl="1"/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אבל!</a:t>
            </a:r>
          </a:p>
          <a:p>
            <a:pPr algn="ctr" rtl="1"/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יש לנו תוכנית הלימוד,</a:t>
            </a:r>
          </a:p>
          <a:p>
            <a:pPr algn="ctr" rtl="1"/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אבל אין לנו גבולות בפרויקטים.</a:t>
            </a:r>
          </a:p>
        </p:txBody>
      </p:sp>
    </p:spTree>
    <p:extLst>
      <p:ext uri="{BB962C8B-B14F-4D97-AF65-F5344CB8AC3E}">
        <p14:creationId xmlns:p14="http://schemas.microsoft.com/office/powerpoint/2010/main" val="430637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D57FA-4891-3731-7692-FC920DD78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592E3C57-6AE7-3B5F-AEC6-F51BBE04FD17}"/>
              </a:ext>
            </a:extLst>
          </p:cNvPr>
          <p:cNvSpPr/>
          <p:nvPr/>
        </p:nvSpPr>
        <p:spPr>
          <a:xfrm>
            <a:off x="1287603" y="1905506"/>
            <a:ext cx="10661894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ובכל זאת אנחנו חייבים לזכור:</a:t>
            </a:r>
          </a:p>
          <a:p>
            <a:pPr algn="ctr" rtl="1"/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מערכת חינוך היא לא תעשיית </a:t>
            </a:r>
            <a:r>
              <a:rPr lang="en-US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IT</a:t>
            </a:r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.</a:t>
            </a:r>
          </a:p>
          <a:p>
            <a:pPr algn="ctr" rtl="1"/>
            <a:endParaRPr lang="he-IL" sz="4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itchFamily="2" charset="-79"/>
              <a:cs typeface="Assistant" pitchFamily="2" charset="-79"/>
            </a:endParaRPr>
          </a:p>
          <a:p>
            <a:pPr algn="ctr" rtl="1"/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לכל שטוב בתעשייה – טוב גם במערכת חינוך.</a:t>
            </a:r>
          </a:p>
        </p:txBody>
      </p:sp>
    </p:spTree>
    <p:extLst>
      <p:ext uri="{BB962C8B-B14F-4D97-AF65-F5344CB8AC3E}">
        <p14:creationId xmlns:p14="http://schemas.microsoft.com/office/powerpoint/2010/main" val="2963940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2447657" y="1401683"/>
            <a:ext cx="7925567" cy="526297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8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מצבינו מוזר משהו:</a:t>
            </a:r>
          </a:p>
          <a:p>
            <a:pPr algn="ctr" rtl="1"/>
            <a:r>
              <a:rPr lang="he-IL" sz="48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אנחנו מלמדים חומר מקצועי לגמרי</a:t>
            </a:r>
          </a:p>
          <a:p>
            <a:pPr algn="ctr" rtl="1"/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בעזרת כלים מקצועיים לגמרי,</a:t>
            </a:r>
          </a:p>
          <a:p>
            <a:pPr algn="ctr" rtl="1"/>
            <a:r>
              <a:rPr lang="he-IL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  <a:cs typeface="Assistant" pitchFamily="2" charset="-79"/>
              </a:rPr>
              <a:t>אבל</a:t>
            </a:r>
          </a:p>
          <a:p>
            <a:pPr algn="ctr" rtl="1"/>
            <a:r>
              <a:rPr lang="he-IL" sz="48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  <a:cs typeface="Assistant" pitchFamily="2" charset="-79"/>
              </a:rPr>
              <a:t>בלי</a:t>
            </a:r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 תמיכה טכנית מקצועית,</a:t>
            </a:r>
          </a:p>
          <a:p>
            <a:pPr algn="ctr" rtl="1"/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 בלי מחשבים מקצועיים,</a:t>
            </a:r>
          </a:p>
          <a:p>
            <a:pPr algn="ctr" rtl="1"/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בלי חומרי לימוד מרוכזים.</a:t>
            </a:r>
          </a:p>
        </p:txBody>
      </p:sp>
    </p:spTree>
    <p:extLst>
      <p:ext uri="{BB962C8B-B14F-4D97-AF65-F5344CB8AC3E}">
        <p14:creationId xmlns:p14="http://schemas.microsoft.com/office/powerpoint/2010/main" val="2159025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1580187" y="2709583"/>
            <a:ext cx="9031639" cy="378565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המשימה שלנו לא פשוטה בכלל:</a:t>
            </a:r>
          </a:p>
          <a:p>
            <a:pPr algn="ctr" rtl="1"/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לעמוד בדרישות של משרד החינוך.</a:t>
            </a:r>
          </a:p>
          <a:p>
            <a:pPr algn="ctr" rtl="1"/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לא</a:t>
            </a:r>
            <a:r>
              <a:rPr lang="he-IL" sz="48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 להגביל יצירתיות</a:t>
            </a:r>
          </a:p>
          <a:p>
            <a:pPr algn="ctr" rtl="1"/>
            <a:r>
              <a:rPr lang="he-IL" sz="48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ורצון להשתמש בדברים מעבר לדרישות.</a:t>
            </a:r>
          </a:p>
          <a:p>
            <a:pPr algn="ctr" rtl="1"/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לדאוג גם לעיצוב וגם לתכנות.</a:t>
            </a:r>
            <a:endParaRPr lang="he-IL" sz="48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559344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1865759" y="1638124"/>
            <a:ext cx="8845691" cy="40703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"אם לך יש תפוח ולי יש תפוח ונחליף,</a:t>
            </a:r>
          </a:p>
          <a:p>
            <a:pPr algn="ctr" rtl="1">
              <a:lnSpc>
                <a:spcPct val="150000"/>
              </a:lnSpc>
            </a:pPr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לכל אחד יהיה תפוח אחד.</a:t>
            </a:r>
          </a:p>
          <a:p>
            <a:pPr algn="ctr" rtl="1">
              <a:lnSpc>
                <a:spcPct val="150000"/>
              </a:lnSpc>
            </a:pPr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אם לך יש רעיון ולי יש רעין ונחליף,</a:t>
            </a:r>
          </a:p>
          <a:p>
            <a:pPr algn="ctr" rtl="1">
              <a:lnSpc>
                <a:spcPct val="150000"/>
              </a:lnSpc>
            </a:pPr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לכל אחד יהיו שני רעיונות"</a:t>
            </a:r>
          </a:p>
        </p:txBody>
      </p:sp>
      <p:sp>
        <p:nvSpPr>
          <p:cNvPr id="3" name="מלבן 2"/>
          <p:cNvSpPr/>
          <p:nvPr/>
        </p:nvSpPr>
        <p:spPr>
          <a:xfrm>
            <a:off x="8300541" y="5708469"/>
            <a:ext cx="311912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George Bernard Shaw</a:t>
            </a:r>
            <a:endParaRPr lang="he-IL" sz="2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12223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2788844" y="1707530"/>
            <a:ext cx="6614311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8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ספרים – כמעט ואין</a:t>
            </a:r>
          </a:p>
          <a:p>
            <a:pPr algn="ctr" rtl="1"/>
            <a:r>
              <a:rPr lang="he-IL" sz="48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(פרט מספרים של זאב וחבריו</a:t>
            </a:r>
          </a:p>
          <a:p>
            <a:pPr algn="ctr" rtl="1"/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ואולי יש עוד</a:t>
            </a:r>
            <a:r>
              <a:rPr lang="he-IL" sz="48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...)</a:t>
            </a:r>
          </a:p>
        </p:txBody>
      </p:sp>
      <p:pic>
        <p:nvPicPr>
          <p:cNvPr id="1026" name="Picture 2" descr="Нет описания фото.">
            <a:extLst>
              <a:ext uri="{FF2B5EF4-FFF2-40B4-BE49-F238E27FC236}">
                <a16:creationId xmlns:a16="http://schemas.microsoft.com/office/drawing/2014/main" id="{4D871E8F-31E7-4D9A-ACF7-BDAEEF957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6323" y="4398459"/>
            <a:ext cx="1479633" cy="1972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Нет описания фото.">
            <a:extLst>
              <a:ext uri="{FF2B5EF4-FFF2-40B4-BE49-F238E27FC236}">
                <a16:creationId xmlns:a16="http://schemas.microsoft.com/office/drawing/2014/main" id="{50F52796-2B3E-728B-C71E-399D06202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3480" y="4481335"/>
            <a:ext cx="3721502" cy="2096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708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2843054" y="1235643"/>
            <a:ext cx="6181500" cy="219335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en-US" sz="4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Stackoverflow</a:t>
            </a:r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 – בהחלט!</a:t>
            </a:r>
          </a:p>
          <a:p>
            <a:pPr algn="ctr" rtl="1">
              <a:lnSpc>
                <a:spcPct val="150000"/>
              </a:lnSpc>
            </a:pPr>
            <a:r>
              <a:rPr lang="en-US" sz="4800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Appschool</a:t>
            </a:r>
            <a:r>
              <a:rPr lang="he-IL" sz="48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 – כמובן!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B46B9-00C1-562A-62A9-A8EE67E64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504" y="4613713"/>
            <a:ext cx="3932631" cy="17362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CE2455-5525-4BFB-1DAF-3159C666D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043801"/>
            <a:ext cx="5079421" cy="2576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083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972FB-061F-20F8-0E46-1A14ECFF0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04BE6C1D-9FC5-5791-84B4-E737ADF8FDB8}"/>
              </a:ext>
            </a:extLst>
          </p:cNvPr>
          <p:cNvSpPr/>
          <p:nvPr/>
        </p:nvSpPr>
        <p:spPr>
          <a:xfrm>
            <a:off x="3044523" y="3074275"/>
            <a:ext cx="6102953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אתם מכירים</a:t>
            </a:r>
          </a:p>
          <a:p>
            <a:pPr algn="ctr" rtl="1"/>
            <a:r>
              <a:rPr lang="he-IL" sz="48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מקורות מידע וידע נוספים?</a:t>
            </a:r>
          </a:p>
          <a:p>
            <a:pPr algn="ctr" rtl="1"/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ספרו לנו כאן, בהשתלמות!</a:t>
            </a:r>
            <a:endParaRPr lang="he-IL" sz="48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79365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4">
            <a:extLst>
              <a:ext uri="{FF2B5EF4-FFF2-40B4-BE49-F238E27FC236}">
                <a16:creationId xmlns:a16="http://schemas.microsoft.com/office/drawing/2014/main" id="{5966B7B5-E1B8-0709-99AA-4F8A5EF3347C}"/>
              </a:ext>
            </a:extLst>
          </p:cNvPr>
          <p:cNvSpPr/>
          <p:nvPr/>
        </p:nvSpPr>
        <p:spPr>
          <a:xfrm>
            <a:off x="1769807" y="1776417"/>
            <a:ext cx="9934058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בינה מלאכותית (</a:t>
            </a:r>
            <a:r>
              <a:rPr lang="en-US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Century" panose="02040604050505020304" pitchFamily="18" charset="0"/>
                <a:cs typeface="Assistant" pitchFamily="2" charset="-79"/>
              </a:rPr>
              <a:t>AI</a:t>
            </a:r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)?</a:t>
            </a:r>
          </a:p>
          <a:p>
            <a:pPr algn="ctr" rtl="1"/>
            <a:r>
              <a:rPr lang="he-IL" sz="48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כמובן!</a:t>
            </a:r>
          </a:p>
          <a:p>
            <a:pPr algn="ctr" rtl="1"/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ושוב – אבל...</a:t>
            </a:r>
          </a:p>
          <a:p>
            <a:pPr algn="ctr" rtl="1"/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אבל עדיין אף אחד ליכול להגיד</a:t>
            </a:r>
          </a:p>
          <a:p>
            <a:pPr algn="ctr" rtl="1"/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שהוא יודע איך להשתמש </a:t>
            </a:r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Century" panose="02040604050505020304" pitchFamily="18" charset="0"/>
                <a:cs typeface="Assistant" pitchFamily="2" charset="-79"/>
              </a:rPr>
              <a:t>ב-</a:t>
            </a:r>
            <a:r>
              <a:rPr lang="en-US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Century" panose="02040604050505020304" pitchFamily="18" charset="0"/>
                <a:cs typeface="Assistant" pitchFamily="2" charset="-79"/>
              </a:rPr>
              <a:t> AI</a:t>
            </a:r>
            <a:endParaRPr lang="he-IL" sz="4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Century" panose="02040604050505020304" pitchFamily="18" charset="0"/>
              <a:cs typeface="Assistant" pitchFamily="2" charset="-79"/>
            </a:endParaRPr>
          </a:p>
          <a:p>
            <a:pPr algn="ctr" rtl="1"/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Century" panose="02040604050505020304" pitchFamily="18" charset="0"/>
                <a:cs typeface="Assistant" pitchFamily="2" charset="-79"/>
              </a:rPr>
              <a:t>בצורה "נכונה" בחינוך.</a:t>
            </a:r>
            <a:endParaRPr lang="he-IL" sz="4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976102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B5AF0-8B31-0BE2-2BB7-766B2B012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4">
            <a:extLst>
              <a:ext uri="{FF2B5EF4-FFF2-40B4-BE49-F238E27FC236}">
                <a16:creationId xmlns:a16="http://schemas.microsoft.com/office/drawing/2014/main" id="{DEF732B0-612F-4CA7-691F-0E045A18CBA3}"/>
              </a:ext>
            </a:extLst>
          </p:cNvPr>
          <p:cNvSpPr/>
          <p:nvPr/>
        </p:nvSpPr>
        <p:spPr>
          <a:xfrm>
            <a:off x="1769807" y="1776417"/>
            <a:ext cx="9934058" cy="526297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בינה מלאכותית (</a:t>
            </a:r>
            <a:r>
              <a:rPr lang="en-US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Century" panose="02040604050505020304" pitchFamily="18" charset="0"/>
                <a:cs typeface="Assistant" pitchFamily="2" charset="-79"/>
              </a:rPr>
              <a:t>AI</a:t>
            </a:r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)?</a:t>
            </a:r>
          </a:p>
          <a:p>
            <a:pPr algn="ctr" rtl="1"/>
            <a:r>
              <a:rPr lang="he-IL" sz="48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כמובן!</a:t>
            </a:r>
          </a:p>
          <a:p>
            <a:pPr algn="ctr" rtl="1"/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ושוב – אבל...</a:t>
            </a:r>
          </a:p>
          <a:p>
            <a:pPr algn="ctr" rtl="1"/>
            <a:endParaRPr lang="he-IL" sz="4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itchFamily="2" charset="-79"/>
              <a:cs typeface="Assistant" pitchFamily="2" charset="-79"/>
            </a:endParaRPr>
          </a:p>
          <a:p>
            <a:pPr algn="ctr" rtl="1"/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אנא לא לשכוח</a:t>
            </a:r>
          </a:p>
          <a:p>
            <a:pPr algn="ctr" rtl="1"/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שזב ממש לא בינה</a:t>
            </a:r>
          </a:p>
          <a:p>
            <a:pPr algn="ctr" rtl="1"/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והיא יותר מידי מלאכותית...</a:t>
            </a:r>
          </a:p>
        </p:txBody>
      </p:sp>
    </p:spTree>
    <p:extLst>
      <p:ext uri="{BB962C8B-B14F-4D97-AF65-F5344CB8AC3E}">
        <p14:creationId xmlns:p14="http://schemas.microsoft.com/office/powerpoint/2010/main" val="2984307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CC48A-F6BF-69DA-D04B-F4EDBF1A2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4">
            <a:extLst>
              <a:ext uri="{FF2B5EF4-FFF2-40B4-BE49-F238E27FC236}">
                <a16:creationId xmlns:a16="http://schemas.microsoft.com/office/drawing/2014/main" id="{640CEE55-3BB2-7DE6-2EC7-6B40021A144F}"/>
              </a:ext>
            </a:extLst>
          </p:cNvPr>
          <p:cNvSpPr/>
          <p:nvPr/>
        </p:nvSpPr>
        <p:spPr>
          <a:xfrm>
            <a:off x="1710813" y="1595021"/>
            <a:ext cx="9934058" cy="526297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עדיין אנחנו בחיפושי שיטות</a:t>
            </a:r>
          </a:p>
          <a:p>
            <a:pPr algn="ctr" rtl="1"/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שתעזרו לתלמידים להיות</a:t>
            </a:r>
          </a:p>
          <a:p>
            <a:pPr algn="ctr" rtl="1"/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יודעים יותר, חכמים יותר</a:t>
            </a:r>
          </a:p>
          <a:p>
            <a:pPr algn="ctr" rtl="1"/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ולא חמקניים וטיפשים יותר.</a:t>
            </a:r>
          </a:p>
          <a:p>
            <a:pPr algn="ctr" rtl="1"/>
            <a:endParaRPr lang="he-IL" sz="4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itchFamily="2" charset="-79"/>
              <a:cs typeface="Assistant" pitchFamily="2" charset="-79"/>
            </a:endParaRPr>
          </a:p>
          <a:p>
            <a:pPr algn="ctr" rtl="1"/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איך </a:t>
            </a:r>
            <a:r>
              <a:rPr lang="en-US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AI</a:t>
            </a:r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 יכול לעזור לתלמידינו</a:t>
            </a:r>
          </a:p>
          <a:p>
            <a:pPr algn="ctr" rtl="1"/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להים "שכל" ולא "ידיים".</a:t>
            </a:r>
          </a:p>
        </p:txBody>
      </p:sp>
    </p:spTree>
    <p:extLst>
      <p:ext uri="{BB962C8B-B14F-4D97-AF65-F5344CB8AC3E}">
        <p14:creationId xmlns:p14="http://schemas.microsoft.com/office/powerpoint/2010/main" val="1027341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11B36-6A1D-1408-FC26-4417FA685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4">
            <a:extLst>
              <a:ext uri="{FF2B5EF4-FFF2-40B4-BE49-F238E27FC236}">
                <a16:creationId xmlns:a16="http://schemas.microsoft.com/office/drawing/2014/main" id="{5F097141-96F8-6341-5927-066E99467BCB}"/>
              </a:ext>
            </a:extLst>
          </p:cNvPr>
          <p:cNvSpPr/>
          <p:nvPr/>
        </p:nvSpPr>
        <p:spPr>
          <a:xfrm>
            <a:off x="1710813" y="1595021"/>
            <a:ext cx="993405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גם בהשתלמות שלנו</a:t>
            </a:r>
          </a:p>
          <a:p>
            <a:pPr algn="ctr" rtl="1"/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ננסה לעזור אחד לשני</a:t>
            </a:r>
          </a:p>
          <a:p>
            <a:pPr algn="ctr" rtl="1"/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בנושא </a:t>
            </a:r>
            <a:r>
              <a:rPr lang="he-IL" sz="4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הזא</a:t>
            </a:r>
            <a:endParaRPr lang="he-IL" sz="4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85121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372494" y="1855322"/>
            <a:ext cx="11667297" cy="424731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b="1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Guttman-Aram" panose="02010401010101010101" pitchFamily="2" charset="-79"/>
                <a:cs typeface="Guttman-Aram" panose="02010401010101010101" pitchFamily="2" charset="-79"/>
              </a:rPr>
              <a:t>סז"מ</a:t>
            </a:r>
            <a:endParaRPr lang="he-IL" sz="5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r" rtl="1"/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בלוג </a:t>
            </a:r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https://daatec.blogspot.com/</a:t>
            </a:r>
          </a:p>
          <a:p>
            <a:pPr algn="r" rtl="1"/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cs typeface="Shmulik CLM" panose="02000603000000000000" pitchFamily="2" charset="-79"/>
              </a:rPr>
              <a:t>בלוג</a:t>
            </a:r>
            <a:r>
              <a:rPr lang="he-IL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https://zefra-android.blogspot.com/</a:t>
            </a:r>
          </a:p>
          <a:p>
            <a:pPr algn="r" rtl="1"/>
            <a:r>
              <a:rPr lang="en-US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cs typeface="Shmulik CLM" panose="02000603000000000000" pitchFamily="2" charset="-79"/>
              </a:rPr>
              <a:t>Telegram</a:t>
            </a:r>
            <a:r>
              <a:rPr lang="he-IL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https://t.me/zefra_android</a:t>
            </a:r>
          </a:p>
          <a:p>
            <a:pPr algn="r" rtl="1"/>
            <a:endParaRPr lang="he-IL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8471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3449380" y="2375375"/>
            <a:ext cx="63610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9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עכשיו נתחיל</a:t>
            </a:r>
            <a:endParaRPr lang="he-IL" sz="9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1918275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657</TotalTime>
  <Words>339</Words>
  <Application>Microsoft Office PowerPoint</Application>
  <PresentationFormat>Widescreen</PresentationFormat>
  <Paragraphs>76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Assistant</vt:lpstr>
      <vt:lpstr>Century</vt:lpstr>
      <vt:lpstr>Georgia Pro Cond</vt:lpstr>
      <vt:lpstr>Guttman Vilna</vt:lpstr>
      <vt:lpstr>Guttman-Aram</vt:lpstr>
      <vt:lpstr>Shmulik CLM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107</cp:revision>
  <dcterms:created xsi:type="dcterms:W3CDTF">2019-01-05T16:01:25Z</dcterms:created>
  <dcterms:modified xsi:type="dcterms:W3CDTF">2026-02-03T10:20:39Z</dcterms:modified>
</cp:coreProperties>
</file>