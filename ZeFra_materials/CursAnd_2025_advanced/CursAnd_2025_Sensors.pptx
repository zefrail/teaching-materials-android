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7" r:id="rId2"/>
    <p:sldId id="318" r:id="rId3"/>
    <p:sldId id="319" r:id="rId4"/>
    <p:sldId id="324" r:id="rId5"/>
    <p:sldId id="320" r:id="rId6"/>
    <p:sldId id="321" r:id="rId7"/>
    <p:sldId id="322" r:id="rId8"/>
    <p:sldId id="323" r:id="rId9"/>
    <p:sldId id="330" r:id="rId10"/>
    <p:sldId id="325" r:id="rId11"/>
    <p:sldId id="331" r:id="rId12"/>
    <p:sldId id="334" r:id="rId13"/>
    <p:sldId id="332" r:id="rId14"/>
    <p:sldId id="333" r:id="rId15"/>
    <p:sldId id="32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451545" y="1884420"/>
            <a:ext cx="2855269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חיישנים</a:t>
            </a:r>
          </a:p>
          <a:p>
            <a:pPr algn="ctr" rtl="1"/>
            <a:endParaRPr lang="en-US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Sensors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2DED2-C3B1-E14A-8D5C-8077B425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811A1E-1943-976D-375D-C0CA1E9C4248}"/>
              </a:ext>
            </a:extLst>
          </p:cNvPr>
          <p:cNvSpPr/>
          <p:nvPr/>
        </p:nvSpPr>
        <p:spPr>
          <a:xfrm>
            <a:off x="9022239" y="0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E0C300-734D-C7F6-AC5D-CC70113C03C9}"/>
              </a:ext>
            </a:extLst>
          </p:cNvPr>
          <p:cNvSpPr/>
          <p:nvPr/>
        </p:nvSpPr>
        <p:spPr>
          <a:xfrm>
            <a:off x="9061568" y="0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147172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64175" y="1598115"/>
            <a:ext cx="973644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חיישנים הם מרכיבים אלקטרוניים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שמזהים ומודדים מאפיינים פיזיים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כגון תנועה, אור, טמפרטורה וקול (ועוד הרבה...).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למכשירי אנדרואיד יש מגוון חיישנים מובנים, המשמשים לספק נתונים לאפליקציות.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730627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למכשירי אנדרואיד יש מגוון חיישנים, כולל: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מד תאוצה: מודד תאוצה והטיה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ג'ירוסקופ: מודד סיבוב ומהירות זוויתית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מגנומטר: מודד את השדה המגנטי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חיישן קירבה: מזהה כאשר חפץ נמצא ליד המכשיר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חיישן אור: מודד את רמות האור הסביבה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2169249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44511" y="1558785"/>
            <a:ext cx="9736443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לפני שנעבור על מספר דוגמאות,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חשוב לציין כמה עובדות בעייתיות 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הקשורות לשימוש בחיישנים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בפרויקט לבגרות: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רוב החיישנים הם די ספציפיים ולא קל למצוא איך לשלב אותם באפליקציה "כללית"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 בטוח שחיישן הדרוש כן קיים בכל מכשיר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יכולות של חלק מהחיישנים הן יחסית מוגבלות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1854373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Motion Sensors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Environmental Sensors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Position Sensors 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Ambient Light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Proximity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Accelerometer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Gyroscope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Barometer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Compass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Pedometer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Hall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ru-RU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27323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urw-din"/>
                <a:cs typeface="Assistant" panose="00000500000000000000" pitchFamily="2" charset="-79"/>
              </a:rPr>
              <a:t>…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420368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794009"/>
            <a:ext cx="973644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באמולטור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יש אפשרות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לבצע הדמיית שימוש בחלק מחיישנים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("הפופולריים", נפוצים)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מנת להגיע לחיישנים של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אמולטור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יש לפתוח לוח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Extended controls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ולבחור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Virtual sensors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486240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קיימים שתי תת-לוחיות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657CF-DAE5-92B0-25D6-E7541FF52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37" y="2379405"/>
            <a:ext cx="5443937" cy="4314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DA6E28-82F8-A74C-089D-8032CB81B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314" y="2379406"/>
            <a:ext cx="5443937" cy="431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22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גישה לשימוש בחיישנים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מתאפשרת דרך עצם מסוג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SensorManager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אשר יוצר גישה לשירות מערכתית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SENSOR_SERVICE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29302-19E4-B4E1-B867-0874B1886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8" y="5253270"/>
            <a:ext cx="11911323" cy="36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7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2266707"/>
            <a:ext cx="973644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קיימם ממשק מיוחד עבור חיישנים</a:t>
            </a:r>
          </a:p>
          <a:p>
            <a:pPr algn="ctr" rtl="1"/>
            <a:r>
              <a:rPr lang="en-US" sz="4400" b="0" i="0" dirty="0" err="1">
                <a:solidFill>
                  <a:srgbClr val="374151"/>
                </a:solidFill>
                <a:effectLst/>
                <a:latin typeface="Söhne"/>
              </a:rPr>
              <a:t>SensorEventListener</a:t>
            </a:r>
            <a:r>
              <a:rPr lang="en-US" sz="44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endParaRPr lang="he-IL" sz="4400" b="0" i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אשר משמש לטיפול באירועי חיישן וקבלת נתוני חיישן.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2133243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684732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רשימת כל החיישנים במכשיר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0BE4B-681A-A663-87AA-20ADC080A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29" y="3526365"/>
            <a:ext cx="11030942" cy="3090745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17DCE5D-7D22-7D14-576E-0A6E42450985}"/>
              </a:ext>
            </a:extLst>
          </p:cNvPr>
          <p:cNvSpPr/>
          <p:nvPr/>
        </p:nvSpPr>
        <p:spPr>
          <a:xfrm>
            <a:off x="1227777" y="2227506"/>
            <a:ext cx="2911603" cy="525526"/>
          </a:xfrm>
          <a:prstGeom prst="wedgeRoundRectCallout">
            <a:avLst>
              <a:gd name="adj1" fmla="val 82501"/>
              <a:gd name="adj2" fmla="val 27391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גישה לשירות חיישנים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78FCCDA-B629-706D-1ED6-33EF9E7421EF}"/>
              </a:ext>
            </a:extLst>
          </p:cNvPr>
          <p:cNvSpPr/>
          <p:nvPr/>
        </p:nvSpPr>
        <p:spPr>
          <a:xfrm>
            <a:off x="7181209" y="1701980"/>
            <a:ext cx="3783012" cy="525526"/>
          </a:xfrm>
          <a:prstGeom prst="wedgeRoundRectCallout">
            <a:avLst>
              <a:gd name="adj1" fmla="val -19902"/>
              <a:gd name="adj2" fmla="val 42733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אופציה: רשימה של כל החיישנים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60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684732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רשימת כל החיישנים במכשיר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6BB586-555B-A61C-FD19-97C120DC7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950" y="1524000"/>
            <a:ext cx="24003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33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1016317"/>
            <a:ext cx="973644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כדי להעביר חיישן למצב "פעיל"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צריך "לרשום" אותו לשימוש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2C31D-9B37-6320-437B-B2A207DEF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750" y="4026642"/>
            <a:ext cx="7382114" cy="1074612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4CC5CC1-3D2E-E606-231B-3D8B7308A7AB}"/>
              </a:ext>
            </a:extLst>
          </p:cNvPr>
          <p:cNvSpPr/>
          <p:nvPr/>
        </p:nvSpPr>
        <p:spPr>
          <a:xfrm>
            <a:off x="8367252" y="2645168"/>
            <a:ext cx="2733366" cy="619141"/>
          </a:xfrm>
          <a:prstGeom prst="wedgeRoundRectCallout">
            <a:avLst>
              <a:gd name="adj1" fmla="val -49874"/>
              <a:gd name="adj2" fmla="val 19720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משתנה מסוג "מאזין"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6FEFE61-AA42-58E8-5A5A-F3E9E7E4B291}"/>
              </a:ext>
            </a:extLst>
          </p:cNvPr>
          <p:cNvSpPr/>
          <p:nvPr/>
        </p:nvSpPr>
        <p:spPr>
          <a:xfrm>
            <a:off x="496530" y="5554016"/>
            <a:ext cx="2733366" cy="619141"/>
          </a:xfrm>
          <a:prstGeom prst="wedgeRoundRectCallout">
            <a:avLst>
              <a:gd name="adj1" fmla="val 68472"/>
              <a:gd name="adj2" fmla="val -20615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משתנה מסוג "חיישן"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40CD8877-61B8-5BD1-83A9-29902FDBB426}"/>
              </a:ext>
            </a:extLst>
          </p:cNvPr>
          <p:cNvSpPr/>
          <p:nvPr/>
        </p:nvSpPr>
        <p:spPr>
          <a:xfrm>
            <a:off x="7492181" y="5841683"/>
            <a:ext cx="2733366" cy="619141"/>
          </a:xfrm>
          <a:prstGeom prst="wedgeRoundRectCallout">
            <a:avLst>
              <a:gd name="adj1" fmla="val -47715"/>
              <a:gd name="adj2" fmla="val -16963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זמן המתנה לתגובה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221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E69BE2-D7D2-DEE4-5A50-4A06C13C6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946" y="3516533"/>
            <a:ext cx="6982631" cy="1351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684732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"טלטול" המכשיר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17DCE5D-7D22-7D14-576E-0A6E42450985}"/>
              </a:ext>
            </a:extLst>
          </p:cNvPr>
          <p:cNvSpPr/>
          <p:nvPr/>
        </p:nvSpPr>
        <p:spPr>
          <a:xfrm>
            <a:off x="1493248" y="1996240"/>
            <a:ext cx="2911603" cy="525526"/>
          </a:xfrm>
          <a:prstGeom prst="wedgeRoundRectCallout">
            <a:avLst>
              <a:gd name="adj1" fmla="val 82501"/>
              <a:gd name="adj2" fmla="val 27391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גישה לשירות חיישנים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78FCCDA-B629-706D-1ED6-33EF9E7421EF}"/>
              </a:ext>
            </a:extLst>
          </p:cNvPr>
          <p:cNvSpPr/>
          <p:nvPr/>
        </p:nvSpPr>
        <p:spPr>
          <a:xfrm>
            <a:off x="1347423" y="4336233"/>
            <a:ext cx="1484671" cy="525527"/>
          </a:xfrm>
          <a:prstGeom prst="wedgeRoundRectCallout">
            <a:avLst>
              <a:gd name="adj1" fmla="val 126124"/>
              <a:gd name="adj2" fmla="val -7033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חיישן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A715132-2E6F-D9FF-8CC8-0537E012F6B1}"/>
              </a:ext>
            </a:extLst>
          </p:cNvPr>
          <p:cNvSpPr/>
          <p:nvPr/>
        </p:nvSpPr>
        <p:spPr>
          <a:xfrm>
            <a:off x="4847304" y="5647741"/>
            <a:ext cx="2974662" cy="525527"/>
          </a:xfrm>
          <a:prstGeom prst="wedgeRoundRectCallout">
            <a:avLst>
              <a:gd name="adj1" fmla="val 18370"/>
              <a:gd name="adj2" fmla="val -22001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"מאזין" לאירועי חיישן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47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3DA37FF-2797-B9C9-BEB1-AE43E8B7B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758" y="1454172"/>
            <a:ext cx="8778376" cy="5251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684732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"טלטול" המכשיר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78FCCDA-B629-706D-1ED6-33EF9E7421EF}"/>
              </a:ext>
            </a:extLst>
          </p:cNvPr>
          <p:cNvSpPr/>
          <p:nvPr/>
        </p:nvSpPr>
        <p:spPr>
          <a:xfrm>
            <a:off x="354365" y="1517790"/>
            <a:ext cx="1484671" cy="525527"/>
          </a:xfrm>
          <a:prstGeom prst="wedgeRoundRectCallout">
            <a:avLst>
              <a:gd name="adj1" fmla="val 96985"/>
              <a:gd name="adj2" fmla="val 1597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סוג החיישן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9F649DD0-6672-32DC-FDB0-239BE65407F0}"/>
              </a:ext>
            </a:extLst>
          </p:cNvPr>
          <p:cNvSpPr/>
          <p:nvPr/>
        </p:nvSpPr>
        <p:spPr>
          <a:xfrm>
            <a:off x="581530" y="3007377"/>
            <a:ext cx="1484671" cy="660055"/>
          </a:xfrm>
          <a:prstGeom prst="wedgeRoundRectCallout">
            <a:avLst>
              <a:gd name="adj1" fmla="val 97647"/>
              <a:gd name="adj2" fmla="val -5311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הפעלת ה"מאזין"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D1FE83-7E69-3FD7-CBE3-700454EDF80B}"/>
              </a:ext>
            </a:extLst>
          </p:cNvPr>
          <p:cNvSpPr/>
          <p:nvPr/>
        </p:nvSpPr>
        <p:spPr>
          <a:xfrm>
            <a:off x="9634589" y="2783693"/>
            <a:ext cx="2341101" cy="1109881"/>
          </a:xfrm>
          <a:prstGeom prst="wedgeRoundRectCallout">
            <a:avLst>
              <a:gd name="adj1" fmla="val -103386"/>
              <a:gd name="adj2" fmla="val 465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זיהוי שינויים בנתונים החיישן באירוע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97C9F0F6-B832-19FC-C5FA-FC078AE89571}"/>
              </a:ext>
            </a:extLst>
          </p:cNvPr>
          <p:cNvSpPr/>
          <p:nvPr/>
        </p:nvSpPr>
        <p:spPr>
          <a:xfrm>
            <a:off x="8777755" y="4759394"/>
            <a:ext cx="2341101" cy="1109881"/>
          </a:xfrm>
          <a:prstGeom prst="wedgeRoundRectCallout">
            <a:avLst>
              <a:gd name="adj1" fmla="val -181923"/>
              <a:gd name="adj2" fmla="val -7862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טיפול בתוצאות </a:t>
            </a:r>
            <a:r>
              <a:rPr lang="he-IL" sz="2000" b="1" dirty="0" err="1">
                <a:solidFill>
                  <a:srgbClr val="C00000"/>
                </a:solidFill>
              </a:rPr>
              <a:t>שהיתקלו</a:t>
            </a:r>
            <a:r>
              <a:rPr lang="he-IL" sz="2000" b="1" dirty="0">
                <a:solidFill>
                  <a:srgbClr val="C00000"/>
                </a:solidFill>
              </a:rPr>
              <a:t> מחיישן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06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911892" y="334383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מדידת מרחק ממכשיר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C3507-CF8C-A30F-B0E7-8EE7F78FD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587" y="1316402"/>
            <a:ext cx="9212825" cy="532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8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3685</TotalTime>
  <Words>313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Assistant</vt:lpstr>
      <vt:lpstr>Consolas</vt:lpstr>
      <vt:lpstr>Segoe UI Semibold</vt:lpstr>
      <vt:lpstr>Shmulik CLM</vt:lpstr>
      <vt:lpstr>Söhne</vt:lpstr>
      <vt:lpstr>Tw Cen MT</vt:lpstr>
      <vt:lpstr>urw-din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344</cp:revision>
  <dcterms:created xsi:type="dcterms:W3CDTF">2019-01-05T16:01:25Z</dcterms:created>
  <dcterms:modified xsi:type="dcterms:W3CDTF">2025-02-16T11:59:15Z</dcterms:modified>
</cp:coreProperties>
</file>