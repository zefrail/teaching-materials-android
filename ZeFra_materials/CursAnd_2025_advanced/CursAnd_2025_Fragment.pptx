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73" r:id="rId3"/>
    <p:sldId id="481" r:id="rId4"/>
    <p:sldId id="485" r:id="rId5"/>
    <p:sldId id="489" r:id="rId6"/>
    <p:sldId id="484" r:id="rId7"/>
    <p:sldId id="486" r:id="rId8"/>
    <p:sldId id="490" r:id="rId9"/>
    <p:sldId id="487" r:id="rId10"/>
    <p:sldId id="491" r:id="rId11"/>
    <p:sldId id="492" r:id="rId12"/>
    <p:sldId id="488" r:id="rId13"/>
    <p:sldId id="493" r:id="rId14"/>
    <p:sldId id="499" r:id="rId15"/>
    <p:sldId id="496" r:id="rId16"/>
    <p:sldId id="497" r:id="rId17"/>
    <p:sldId id="494" r:id="rId18"/>
    <p:sldId id="500" r:id="rId19"/>
    <p:sldId id="506" r:id="rId20"/>
    <p:sldId id="495" r:id="rId21"/>
    <p:sldId id="501" r:id="rId22"/>
    <p:sldId id="50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ט'/אדר/תשפ"ה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716985" y="2397183"/>
            <a:ext cx="4758034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Fragment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66C4-2929-B804-C1E4-C24EEFB6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9171B52-B63B-F96D-58D4-ACC19F3CAFA5}"/>
              </a:ext>
            </a:extLst>
          </p:cNvPr>
          <p:cNvSpPr/>
          <p:nvPr/>
        </p:nvSpPr>
        <p:spPr>
          <a:xfrm>
            <a:off x="1046923" y="1398649"/>
            <a:ext cx="10098153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מדובר ב"רכיב מורכב מרכיבים",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ממש דומה לאקטיביטי.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אלא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שאקטיביטי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יכולה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להופיע על המסך ללא פרגמנט,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ופרגמנט יכול להופיע על המסך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רק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כחלק של אקטיביטי</a:t>
            </a:r>
            <a:endParaRPr lang="he-IL" sz="3200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72784-C2E0-2323-1F17-F74C07C2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EAD51-BFF4-0552-92B8-B74A0CAF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74422-42AD-1AAE-51A4-226A6D0F6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17F900E-D68D-09F9-B792-847DD0087FC8}"/>
              </a:ext>
            </a:extLst>
          </p:cNvPr>
          <p:cNvSpPr/>
          <p:nvPr/>
        </p:nvSpPr>
        <p:spPr>
          <a:xfrm>
            <a:off x="1046923" y="1398649"/>
            <a:ext cx="10098153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לצור בתוך אקטיביטי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מספר פרגמנטים ולהציג אותם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כולם בו זמני על המסך.</a:t>
            </a:r>
          </a:p>
          <a:p>
            <a:pPr algn="ct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לצור מספר פרגמנטים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שבאותו מקום על המסך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יתחלפו אחד עם השני.</a:t>
            </a:r>
            <a:endParaRPr lang="he-IL" sz="32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B047BF-ABE9-2106-E685-70C5C7819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178502-A8FF-B004-7D39-46EF8C714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0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6C9C4-E94E-1124-BCB1-A29FA01D8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6909F93-4849-E409-5CB0-799FAFB41132}"/>
              </a:ext>
            </a:extLst>
          </p:cNvPr>
          <p:cNvSpPr/>
          <p:nvPr/>
        </p:nvSpPr>
        <p:spPr>
          <a:xfrm>
            <a:off x="1428949" y="395384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מספר פרגמנטים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בו זמני על אותו מסך</a:t>
            </a:r>
            <a:endParaRPr lang="he-IL" sz="32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C0CB6-D895-E4BE-8505-32ACAE208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6BBECF-57B9-91B5-942B-3FF5F6029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14" name="מציין מיקום תוכן 4">
            <a:extLst>
              <a:ext uri="{FF2B5EF4-FFF2-40B4-BE49-F238E27FC236}">
                <a16:creationId xmlns:a16="http://schemas.microsoft.com/office/drawing/2014/main" id="{0B32EE87-BDC3-BBE3-DD17-8E274A59D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656" y="2376858"/>
            <a:ext cx="673417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82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4E0E9-9055-C015-9A33-45B79098E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6C33D3CC-D3B5-CA47-5052-28413C7F0E1E}"/>
              </a:ext>
            </a:extLst>
          </p:cNvPr>
          <p:cNvSpPr/>
          <p:nvPr/>
        </p:nvSpPr>
        <p:spPr>
          <a:xfrm>
            <a:off x="1428949" y="395384"/>
            <a:ext cx="1009815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פרגמנטים מתחלפים</a:t>
            </a:r>
            <a:endParaRPr lang="he-IL" sz="32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9B5EA4-2181-18F7-AAE0-109C7FAA0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FE0F80-3BE3-7E9E-F57D-C35FAAAB3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2B27C8-161D-E425-4B23-5A9AC47F5269}"/>
              </a:ext>
            </a:extLst>
          </p:cNvPr>
          <p:cNvSpPr/>
          <p:nvPr/>
        </p:nvSpPr>
        <p:spPr>
          <a:xfrm>
            <a:off x="5476568" y="3500284"/>
            <a:ext cx="2477729" cy="30578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23F-F76F-5AE0-BE87-ABFE540B7087}"/>
              </a:ext>
            </a:extLst>
          </p:cNvPr>
          <p:cNvSpPr/>
          <p:nvPr/>
        </p:nvSpPr>
        <p:spPr>
          <a:xfrm>
            <a:off x="5710083" y="5596157"/>
            <a:ext cx="2010697" cy="6642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חלק קבוע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2CC97B-EAF6-F588-067F-025DF4DB11F5}"/>
              </a:ext>
            </a:extLst>
          </p:cNvPr>
          <p:cNvSpPr/>
          <p:nvPr/>
        </p:nvSpPr>
        <p:spPr>
          <a:xfrm>
            <a:off x="5710083" y="3677045"/>
            <a:ext cx="2010697" cy="16913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שטח לפרגמנטים</a:t>
            </a:r>
          </a:p>
          <a:p>
            <a:pPr algn="ctr"/>
            <a:r>
              <a:rPr lang="he-IL" dirty="0"/>
              <a:t>מתחלפים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E45523-678A-3122-67EC-C7BF969BF868}"/>
              </a:ext>
            </a:extLst>
          </p:cNvPr>
          <p:cNvSpPr/>
          <p:nvPr/>
        </p:nvSpPr>
        <p:spPr>
          <a:xfrm>
            <a:off x="8595851" y="2344092"/>
            <a:ext cx="2010697" cy="16913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Fragment #1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9588C0-F5D3-8C17-B3B2-D5CD0C1C5436}"/>
              </a:ext>
            </a:extLst>
          </p:cNvPr>
          <p:cNvSpPr/>
          <p:nvPr/>
        </p:nvSpPr>
        <p:spPr>
          <a:xfrm>
            <a:off x="5716227" y="1581172"/>
            <a:ext cx="2010697" cy="169136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Fragment #2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416FCD-0B63-6D6E-4A9D-8031E7A5D3B2}"/>
              </a:ext>
            </a:extLst>
          </p:cNvPr>
          <p:cNvSpPr/>
          <p:nvPr/>
        </p:nvSpPr>
        <p:spPr>
          <a:xfrm>
            <a:off x="2673143" y="2347756"/>
            <a:ext cx="2010697" cy="169136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Fragment #3</a:t>
            </a:r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5DCFD068-2A16-55E5-601D-677AE49789EE}"/>
              </a:ext>
            </a:extLst>
          </p:cNvPr>
          <p:cNvSpPr/>
          <p:nvPr/>
        </p:nvSpPr>
        <p:spPr>
          <a:xfrm flipH="1" flipV="1">
            <a:off x="7561006" y="4098713"/>
            <a:ext cx="1283108" cy="76944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510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B5FFC082-4168-D348-7C77-DADC4D627E90}"/>
              </a:ext>
            </a:extLst>
          </p:cNvPr>
          <p:cNvSpPr/>
          <p:nvPr/>
        </p:nvSpPr>
        <p:spPr>
          <a:xfrm flipV="1">
            <a:off x="4517920" y="4098711"/>
            <a:ext cx="1283108" cy="846914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510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FE2B4EB-0CDC-B702-7158-F6C7B9DDCCBD}"/>
              </a:ext>
            </a:extLst>
          </p:cNvPr>
          <p:cNvSpPr/>
          <p:nvPr/>
        </p:nvSpPr>
        <p:spPr>
          <a:xfrm>
            <a:off x="6513869" y="3379333"/>
            <a:ext cx="403123" cy="5358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3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F79B3-19DD-997B-2C2F-0DC0D75F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648C7A32-A7BC-09EE-E5FD-F168DCB5B1E0}"/>
              </a:ext>
            </a:extLst>
          </p:cNvPr>
          <p:cNvSpPr/>
          <p:nvPr/>
        </p:nvSpPr>
        <p:spPr>
          <a:xfrm>
            <a:off x="1046923" y="1981477"/>
            <a:ext cx="10098153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בגדול שימוש בפרגמנטים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הוא "דרך מקבילה"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לשימוש במספר אקטיביטי.</a:t>
            </a:r>
            <a:endParaRPr lang="he-IL" sz="32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0F0700-5048-7F36-4370-A1BBFDDC1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F1EE4C-9790-536E-80FC-BA0A9BA8E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70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9A9D7-17EB-FF27-1952-10AC3B1F5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094BA2C1-CE87-8178-44EB-42B4942DE2D1}"/>
              </a:ext>
            </a:extLst>
          </p:cNvPr>
          <p:cNvSpPr/>
          <p:nvPr/>
        </p:nvSpPr>
        <p:spPr>
          <a:xfrm>
            <a:off x="1046923" y="221297"/>
            <a:ext cx="1009815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"מעגל חיים" של פרגמנט</a:t>
            </a:r>
            <a:endParaRPr lang="he-IL" sz="32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75EC6-9B83-15D7-CC46-13892B3EF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1CFBD7-8A75-EC8F-A804-A199E4F21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1026" name="Picture 2" descr="Fragment Life Cycle">
            <a:extLst>
              <a:ext uri="{FF2B5EF4-FFF2-40B4-BE49-F238E27FC236}">
                <a16:creationId xmlns:a16="http://schemas.microsoft.com/office/drawing/2014/main" id="{53B76C79-4854-853D-98F7-04065F6DC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980" y="1212035"/>
            <a:ext cx="3254271" cy="564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49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83632-237B-0614-26E9-E1B39D6C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81C1E4EB-BD47-4C26-25C1-CA510E672E9D}"/>
              </a:ext>
            </a:extLst>
          </p:cNvPr>
          <p:cNvSpPr/>
          <p:nvPr/>
        </p:nvSpPr>
        <p:spPr>
          <a:xfrm>
            <a:off x="910907" y="877540"/>
            <a:ext cx="10098153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onAttach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(Activity)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הוא נקרא פעם אחת בלבד כאשר הוא משויך לפעילות.</a:t>
            </a: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onCreate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הוא משמש לאתחול הפרגמנט.</a:t>
            </a:r>
          </a:p>
          <a:p>
            <a:pPr algn="ctr" rtl="1"/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onCreateView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LayoutInflater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ViewGroup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 Bundle)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 ומחזיר היררכיית תצוגה.</a:t>
            </a:r>
          </a:p>
          <a:p>
            <a:pPr algn="ctr" rtl="1"/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onActivityCreated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זה נקרא לאחר השלמת השיטה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onCreate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8652C7-EA18-063C-BC52-227B9E352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2B3102-6048-37E4-A368-8170364CF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223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3BFF-BD52-810B-DE2F-365AF1888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09825B1E-424A-9726-0EC9-033770051E84}"/>
              </a:ext>
            </a:extLst>
          </p:cNvPr>
          <p:cNvSpPr/>
          <p:nvPr/>
        </p:nvSpPr>
        <p:spPr>
          <a:xfrm>
            <a:off x="1046923" y="582572"/>
            <a:ext cx="10098153" cy="60016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onViewStateRestored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הוא מספק למקטע מידע שכל המצב השמור של היררכיית תצוגת הפרגמנט שוחזר.</a:t>
            </a:r>
          </a:p>
          <a:p>
            <a:pPr algn="ctr"/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onStart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</a:p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הופך את השבר לגלוי.</a:t>
            </a:r>
          </a:p>
          <a:p>
            <a:pPr algn="ctr"/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onResume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</a:p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הופך את הפרגמנט לאינטראקטיבי.</a:t>
            </a:r>
          </a:p>
          <a:p>
            <a:pPr algn="ctr"/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onPause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</a:p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נקרא כאשר הפרגמנט אינו אינטראקטיבי יותר.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C91CB8-E599-A30F-328D-B67E81993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B09866-D901-19A9-1E91-31A79F7A5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61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DB48-8CDF-1BA5-0713-20C67D09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2801002-E411-61FB-4B9F-8883696FC201}"/>
              </a:ext>
            </a:extLst>
          </p:cNvPr>
          <p:cNvSpPr/>
          <p:nvPr/>
        </p:nvSpPr>
        <p:spPr>
          <a:xfrm>
            <a:off x="1046923" y="582572"/>
            <a:ext cx="10098153" cy="60016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onStop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</a:p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נקרא כאשר השבר אינו נראה עוד.</a:t>
            </a:r>
          </a:p>
          <a:p>
            <a:pPr algn="ctr"/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onDestroyView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</a:p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מאפשר למקטע לנקות משאבים.</a:t>
            </a:r>
          </a:p>
          <a:p>
            <a:pPr algn="ctr"/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onDestroy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</a:p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מאפשר למקטע לבצע ניקוי סופי של מצב המקטע.</a:t>
            </a:r>
          </a:p>
          <a:p>
            <a:pPr algn="ctr"/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onDetach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</a:p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זה נקרא רגע לפני שהפרגמנט אינו משויך עוד </a:t>
            </a:r>
            <a:r>
              <a:rPr lang="he-IL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לפעילותו.דע</a:t>
            </a:r>
            <a:endParaRPr lang="he-IL" sz="20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2F5ABB-9294-0B49-7BB0-D56A14CE3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964BFB-E727-37EC-81C3-42A5208C4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2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21470-B4DB-0B4B-95CE-21AD34FC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7EC9BCA-FE4E-3D11-314D-7467A4689C92}"/>
              </a:ext>
            </a:extLst>
          </p:cNvPr>
          <p:cNvSpPr/>
          <p:nvPr/>
        </p:nvSpPr>
        <p:spPr>
          <a:xfrm>
            <a:off x="1154865" y="2168085"/>
            <a:ext cx="10098153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לפרכמנט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אין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Context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משלו,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לכן יש צורך להשתמש ב-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context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של אקטיביטי בה פרגמנט מופיע</a:t>
            </a:r>
            <a:endParaRPr lang="he-IL" sz="32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0717D-AAF9-F6F9-72B4-3092F0BDE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244B62-8FAD-E98E-DF65-A2DA9A470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00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06E2A-D21F-CEFA-26BE-2B61F1649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0256E5-9260-882C-8D7D-9C51ABDB5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8" y="582067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F1D58F-36DB-2368-CF74-12BE5DA99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166" y="442527"/>
            <a:ext cx="1700981" cy="17009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E0C688-C4C7-5DD6-1925-2F870900D62A}"/>
              </a:ext>
            </a:extLst>
          </p:cNvPr>
          <p:cNvSpPr txBox="1"/>
          <p:nvPr/>
        </p:nvSpPr>
        <p:spPr>
          <a:xfrm>
            <a:off x="1671485" y="582067"/>
            <a:ext cx="889819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getContext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שימושי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לקבלת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ההקשר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אך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עשוי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להיות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null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en-US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getActivity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שימושי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לקבלת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הפעילות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אך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עשוי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להיות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null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en-US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requireContext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דרך בטוחה לקבל קשר ל-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context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חריג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אם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הפרגמנט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אינו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מצורף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</a:t>
            </a:r>
          </a:p>
          <a:p>
            <a:pPr algn="ctr" rtl="1"/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requireActivity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היא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דרך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בטוחה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להשיג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פעילות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 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חריגה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אם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הפרגמנט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אינו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מצורף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8947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D8F3-2AB9-D77B-B1B1-76AEE803A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27B12A9-8B6A-5D44-CDAA-CAEF5FD32688}"/>
              </a:ext>
            </a:extLst>
          </p:cNvPr>
          <p:cNvSpPr/>
          <p:nvPr/>
        </p:nvSpPr>
        <p:spPr>
          <a:xfrm>
            <a:off x="1046923" y="1443525"/>
            <a:ext cx="10098153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איך יוצרים פרגמנט?</a:t>
            </a:r>
          </a:p>
          <a:p>
            <a:pPr algn="ct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14350" indent="-514350" algn="r" rtl="1">
              <a:buFont typeface="+mj-lt"/>
              <a:buAutoNum type="arabicPeriod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יוצרים באקטיביטי מקום להצגת בו פרגמנטים ("חלון")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יוצרים פרגמנט דרך תפריט שך 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Android studio</a:t>
            </a:r>
            <a:endParaRPr lang="he-IL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14350" indent="-514350" algn="r" rtl="1">
              <a:buFont typeface="+mj-lt"/>
              <a:buAutoNum type="arabicPeriod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מעצבים (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xml</a:t>
            </a: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 פרגמנט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רושמים פקודות ופעולות הדרושים בשימוש בפרגמנט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אם מדובר בפרגמנטים מתחלפים – רושמים פקודות באקטיביטי</a:t>
            </a:r>
            <a:endParaRPr lang="he-IL" sz="2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ea typeface="Cascadia Code" panose="020B0609020000020004" pitchFamily="49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CC6271-DB41-0F7E-4285-ECEDE7483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AFEF06-8607-FD5E-9813-F322B0143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92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5A0F-5DA2-B589-9E69-2A1D956B5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05EEBC2A-516F-4948-A488-4B06D59CD290}"/>
              </a:ext>
            </a:extLst>
          </p:cNvPr>
          <p:cNvSpPr/>
          <p:nvPr/>
        </p:nvSpPr>
        <p:spPr>
          <a:xfrm>
            <a:off x="1046923" y="1644861"/>
            <a:ext cx="10098153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FragmentManager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endParaRPr lang="he-IL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מחלקה באנדרואיד שמנהלת פרגמנטים באפליקציה. </a:t>
            </a:r>
            <a:endParaRPr lang="en-US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הוא מספק שיטות להוספה, הסרה, החלפה, הסתרה והצגת פרגמנטים, כמו גם ניהול מצבם.</a:t>
            </a:r>
          </a:p>
          <a:p>
            <a:pPr algn="ctr" rtl="1"/>
            <a:endParaRPr lang="he-IL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FragmentManager</a:t>
            </a:r>
            <a:r>
              <a:rPr lang="en-US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 </a:t>
            </a:r>
            <a:r>
              <a:rPr lang="en-US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fragmentManager</a:t>
            </a:r>
            <a:r>
              <a:rPr lang="en-US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 = </a:t>
            </a:r>
            <a:r>
              <a:rPr lang="en-US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getSupportFragmentManager</a:t>
            </a:r>
            <a:r>
              <a:rPr lang="en-US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42D288-642A-6A17-BEBA-A8BB3F9E9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DD130F-F426-DF82-CA54-1BCE56B92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06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585FB-D175-A040-939D-76466FE4A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86548796-23E8-DB3D-EB4B-8ABCD054EDDA}"/>
              </a:ext>
            </a:extLst>
          </p:cNvPr>
          <p:cNvSpPr/>
          <p:nvPr/>
        </p:nvSpPr>
        <p:spPr>
          <a:xfrm>
            <a:off x="1046923" y="936938"/>
            <a:ext cx="10098153" cy="54476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FragmentTransaction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endParaRPr lang="he-IL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מנהל פעולות על פרגמנטים</a:t>
            </a:r>
          </a:p>
          <a:p>
            <a:pPr algn="ctr" rtl="1"/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כגון הוספה, מחיקה והחלפה.</a:t>
            </a:r>
          </a:p>
          <a:p>
            <a:pPr algn="ctr" rtl="1"/>
            <a:endParaRPr lang="he-IL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/>
            <a:r>
              <a:rPr lang="en-US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FragmentTransaction</a:t>
            </a:r>
            <a:r>
              <a:rPr lang="en-US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 transaction = </a:t>
            </a:r>
            <a:r>
              <a:rPr lang="en-US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getSupportFragmentManager</a:t>
            </a:r>
            <a:r>
              <a:rPr lang="en-US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().</a:t>
            </a:r>
            <a:r>
              <a:rPr lang="en-US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beginTransaction</a:t>
            </a:r>
            <a:r>
              <a:rPr lang="en-US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();</a:t>
            </a:r>
            <a:endParaRPr lang="ru-RU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light" panose="020B0402040204020203" pitchFamily="34" charset="0"/>
              <a:ea typeface="Cascadia Code" panose="020B0609020000020004" pitchFamily="49" charset="0"/>
              <a:cs typeface="Segoe UI Semilight" panose="020B0402040204020203" pitchFamily="34" charset="0"/>
            </a:endParaRPr>
          </a:p>
          <a:p>
            <a:pPr algn="ctr"/>
            <a:endParaRPr lang="ru-RU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light" panose="020B0402040204020203" pitchFamily="34" charset="0"/>
              <a:ea typeface="Cascadia Code" panose="020B0609020000020004" pitchFamily="49" charset="0"/>
              <a:cs typeface="Segoe UI Semilight" panose="020B0402040204020203" pitchFamily="34" charset="0"/>
            </a:endParaRPr>
          </a:p>
          <a:p>
            <a:pPr algn="ctr"/>
            <a:endParaRPr lang="ru-RU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light" panose="020B0402040204020203" pitchFamily="34" charset="0"/>
              <a:ea typeface="Cascadia Code" panose="020B0609020000020004" pitchFamily="49" charset="0"/>
              <a:cs typeface="Segoe UI Semilight" panose="020B0402040204020203" pitchFamily="34" charset="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transaction.replace</a:t>
            </a:r>
            <a:r>
              <a:rPr lang="fr-FR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</a:t>
            </a:r>
            <a:r>
              <a:rPr lang="fr-FR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R.id.fragment_container</a:t>
            </a:r>
            <a:r>
              <a:rPr lang="fr-FR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, new </a:t>
            </a:r>
            <a:r>
              <a:rPr lang="fr-FR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MyFragment</a:t>
            </a:r>
            <a:r>
              <a:rPr lang="fr-FR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());</a:t>
            </a:r>
            <a:endParaRPr lang="ru-RU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light" panose="020B0402040204020203" pitchFamily="34" charset="0"/>
              <a:ea typeface="Cascadia Code" panose="020B0609020000020004" pitchFamily="49" charset="0"/>
              <a:cs typeface="Segoe UI Semilight" panose="020B0402040204020203" pitchFamily="34" charset="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transaction.add</a:t>
            </a:r>
            <a:r>
              <a:rPr lang="fr-FR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</a:t>
            </a:r>
            <a:r>
              <a:rPr lang="fr-FR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R.id.fragment_container</a:t>
            </a:r>
            <a:r>
              <a:rPr lang="fr-FR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, new </a:t>
            </a:r>
            <a:r>
              <a:rPr lang="fr-FR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MyFragment</a:t>
            </a:r>
            <a:r>
              <a:rPr lang="fr-FR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());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transaction.remove</a:t>
            </a:r>
            <a:r>
              <a:rPr lang="en-US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(fragment);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transaction.hide</a:t>
            </a:r>
            <a:r>
              <a:rPr lang="fr-FR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(fragment);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transaction.show</a:t>
            </a:r>
            <a:r>
              <a:rPr lang="fr-FR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(fragment);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transaction.commit</a:t>
            </a:r>
            <a:r>
              <a:rPr lang="en-US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();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transaction.addToBackStack</a:t>
            </a:r>
            <a:r>
              <a:rPr lang="en-US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Cascadia Code" panose="020B0609020000020004" pitchFamily="49" charset="0"/>
                <a:cs typeface="Segoe UI Semilight" panose="020B0402040204020203" pitchFamily="34" charset="0"/>
              </a:rPr>
              <a:t>(null);</a:t>
            </a:r>
          </a:p>
          <a:p>
            <a:pPr algn="ctr"/>
            <a:endParaRPr lang="he-IL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light" panose="020B0402040204020203" pitchFamily="34" charset="0"/>
              <a:ea typeface="Cascadia Code" panose="020B0609020000020004" pitchFamily="49" charset="0"/>
              <a:cs typeface="Segoe UI Semilight" panose="020B04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4617E-C384-8C00-9B71-CDB58BAD9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1D12F8-81F8-9476-85A7-19DAF9579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08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0292-E22C-53A2-B101-1439AA3F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8328DBBA-243D-0357-C730-198B5D02DE95}"/>
              </a:ext>
            </a:extLst>
          </p:cNvPr>
          <p:cNvSpPr/>
          <p:nvPr/>
        </p:nvSpPr>
        <p:spPr>
          <a:xfrm>
            <a:off x="1046923" y="917224"/>
            <a:ext cx="1009815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פעולה (שלמה) להצגת פרגמנט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464CCD-437D-37CB-3097-9DE000631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71F255-A7FF-7DE2-7131-068C36A5E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2289AC9-8BE3-2714-D330-C05675A8F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871" y="2701715"/>
            <a:ext cx="10638354" cy="294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96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D0F2-FE53-A2EE-7A80-FF70272A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F6E55BA9-7CE8-7E82-86C6-585C9FBC57AC}"/>
              </a:ext>
            </a:extLst>
          </p:cNvPr>
          <p:cNvSpPr/>
          <p:nvPr/>
        </p:nvSpPr>
        <p:spPr>
          <a:xfrm>
            <a:off x="1046923" y="1846648"/>
            <a:ext cx="10098153" cy="29238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איך מעבירים נתונים...</a:t>
            </a:r>
          </a:p>
          <a:p>
            <a:pPr algn="ct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14350" indent="-51435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...בין פרגמנט לאקטיביטי</a:t>
            </a:r>
          </a:p>
          <a:p>
            <a:pPr marL="514350" indent="-51435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...בין אקטיביטי לפרגמנט</a:t>
            </a:r>
          </a:p>
          <a:p>
            <a:pPr marL="514350" indent="-514350" algn="r" rtl="1">
              <a:buFont typeface="Arial" panose="020B0604020202020204" pitchFamily="34" charset="0"/>
              <a:buChar char="•"/>
            </a:pPr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…בין פרגמנט לפרגמנט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B7FFE-E6B5-56E9-20EB-8645C2E26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93B1E0-BB25-B1DA-4DD0-FAAC53E8A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277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7442-B73A-BCCA-83B4-1AAD1A420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08C2C40C-8867-94C8-3A1D-F3497CA1E40F}"/>
              </a:ext>
            </a:extLst>
          </p:cNvPr>
          <p:cNvSpPr/>
          <p:nvPr/>
        </p:nvSpPr>
        <p:spPr>
          <a:xfrm>
            <a:off x="1115749" y="253390"/>
            <a:ext cx="10098153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להעביר נתונים בעזרת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Bundle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en-US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זהו "מיכל נתונים" המשמש להעברת נתונים בין רכיבים (למשל בין פרגמנטים).</a:t>
            </a:r>
          </a:p>
          <a:p>
            <a:pPr algn="ctr" rtl="1"/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חבילה מעביר נתונים בתוך אפליקציה,</a:t>
            </a:r>
          </a:p>
          <a:p>
            <a:pPr algn="ctr" rtl="1"/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כגון בעת ​​העברת נתונים מקטע אחד למשנהו</a:t>
            </a:r>
          </a:p>
          <a:p>
            <a:pPr algn="ctr" rtl="1"/>
            <a:r>
              <a:rPr lang="he-IL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או שמירה על מצב פעילות (למשל כאשר המסך מסובב).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3337F-13A5-0ADC-4FFA-6F4AAA032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E2894-59EF-9778-A0CA-7EF98ECAE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67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7C795-C690-315E-DA51-E01E5F8E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4D5B1CA-AF3C-AD33-5804-0D3538D862C1}"/>
              </a:ext>
            </a:extLst>
          </p:cNvPr>
          <p:cNvSpPr/>
          <p:nvPr/>
        </p:nvSpPr>
        <p:spPr>
          <a:xfrm>
            <a:off x="1115749" y="253390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להעביר נתונים בעזרת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Bundle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43D94-9452-C4BF-4B2F-4F38114A1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4B3518-30EE-71AD-8290-08EF46026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BE2A54-137C-4946-25BC-366211F90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656" y="1699940"/>
            <a:ext cx="4694327" cy="34445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79A1DFA-ECE8-D84F-F7FC-DB2DF996B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1383" y="4303171"/>
            <a:ext cx="4938188" cy="2301439"/>
          </a:xfrm>
          <a:prstGeom prst="rect">
            <a:avLst/>
          </a:prstGeom>
        </p:spPr>
      </p:pic>
      <p:sp>
        <p:nvSpPr>
          <p:cNvPr id="17" name="Arrow: Bent 16">
            <a:extLst>
              <a:ext uri="{FF2B5EF4-FFF2-40B4-BE49-F238E27FC236}">
                <a16:creationId xmlns:a16="http://schemas.microsoft.com/office/drawing/2014/main" id="{B2DBB4D5-48A3-57FE-53AA-F34F5D479172}"/>
              </a:ext>
            </a:extLst>
          </p:cNvPr>
          <p:cNvSpPr/>
          <p:nvPr/>
        </p:nvSpPr>
        <p:spPr>
          <a:xfrm rot="5400000">
            <a:off x="6730217" y="1112642"/>
            <a:ext cx="2420295" cy="396076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228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B577-8E7E-1055-8FDF-708AA353A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63F80BF-1EEE-920F-26E7-74CC9545618C}"/>
              </a:ext>
            </a:extLst>
          </p:cNvPr>
          <p:cNvSpPr/>
          <p:nvPr/>
        </p:nvSpPr>
        <p:spPr>
          <a:xfrm>
            <a:off x="1115749" y="253390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להעביר נתונים בעזרת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UI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E2FDE4-D803-7F2C-083C-95D41EC02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8DC2DF-CAA7-C3E5-30E3-995D0F645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33E7EB-D8C9-6DEC-9B0E-4CF9D08ED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026" y="1953330"/>
            <a:ext cx="10716799" cy="1533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F7DCB1-B8B0-6932-BE52-F5E136FAA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214" y="5303522"/>
            <a:ext cx="4811571" cy="13010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21E14D-0D45-19F5-055E-FEF9A240A3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6398" y="4158358"/>
            <a:ext cx="7128456" cy="423473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A52125E1-12B6-9DC6-FA7C-D38AA7C8F074}"/>
              </a:ext>
            </a:extLst>
          </p:cNvPr>
          <p:cNvSpPr/>
          <p:nvPr/>
        </p:nvSpPr>
        <p:spPr>
          <a:xfrm>
            <a:off x="4984955" y="3598606"/>
            <a:ext cx="2438400" cy="4234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F1DB6E2A-2F2D-E16D-323D-170BF2B1E4A6}"/>
              </a:ext>
            </a:extLst>
          </p:cNvPr>
          <p:cNvSpPr/>
          <p:nvPr/>
        </p:nvSpPr>
        <p:spPr>
          <a:xfrm>
            <a:off x="4945625" y="4803449"/>
            <a:ext cx="2438400" cy="4234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66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A8EFA-5D61-DE94-DBF2-D99D6936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A17271ED-A772-8CAA-6070-5888A98E19C6}"/>
              </a:ext>
            </a:extLst>
          </p:cNvPr>
          <p:cNvSpPr/>
          <p:nvPr/>
        </p:nvSpPr>
        <p:spPr>
          <a:xfrm>
            <a:off x="1115749" y="2028616"/>
            <a:ext cx="10098153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להעביר נתונים בעזרת</a:t>
            </a:r>
          </a:p>
          <a:p>
            <a:pPr algn="ctr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ViewModel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LiveData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או בעזרת</a:t>
            </a:r>
            <a:endParaRPr lang="ru-RU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SharedPreferences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39EA3-F959-A213-059E-746DD0939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D656FD-5430-7C8F-1AD5-4A71329CC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73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A5D53-C54D-D1AA-FFEE-5D3F03945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F8D6A375-D899-6F40-84CC-5D1A26191073}"/>
              </a:ext>
            </a:extLst>
          </p:cNvPr>
          <p:cNvSpPr/>
          <p:nvPr/>
        </p:nvSpPr>
        <p:spPr>
          <a:xfrm>
            <a:off x="1046923" y="110252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להעביר נתונים בעזרת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SharedPreferences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4561E-C2B2-916A-A00B-F3C68E901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9A8F89-0B78-0F0B-7D40-36042C153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D4CF6E-81A2-F0C1-4E98-038FF3568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527" y="2038012"/>
            <a:ext cx="8142260" cy="1446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B068C3-053F-D9D4-F86F-98C53A5D4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7889" y="4498583"/>
            <a:ext cx="10040582" cy="1125467"/>
          </a:xfrm>
          <a:prstGeom prst="rect">
            <a:avLst/>
          </a:prstGeom>
        </p:spPr>
      </p:pic>
      <p:sp>
        <p:nvSpPr>
          <p:cNvPr id="8" name="Arrow: Bent 7">
            <a:extLst>
              <a:ext uri="{FF2B5EF4-FFF2-40B4-BE49-F238E27FC236}">
                <a16:creationId xmlns:a16="http://schemas.microsoft.com/office/drawing/2014/main" id="{16B7BF96-0F9B-DD71-9EBE-16F71819AB99}"/>
              </a:ext>
            </a:extLst>
          </p:cNvPr>
          <p:cNvSpPr/>
          <p:nvPr/>
        </p:nvSpPr>
        <p:spPr>
          <a:xfrm rot="5400000">
            <a:off x="8956981" y="1599732"/>
            <a:ext cx="2420295" cy="338668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991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2867</TotalTime>
  <Words>521</Words>
  <Application>Microsoft Office PowerPoint</Application>
  <PresentationFormat>Widescreen</PresentationFormat>
  <Paragraphs>125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Georgia Pro Black</vt:lpstr>
      <vt:lpstr>Segoe UI Semibold</vt:lpstr>
      <vt:lpstr>Segoe UI Semilight</vt:lpstr>
      <vt:lpstr>Times New Roman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451</cp:revision>
  <dcterms:created xsi:type="dcterms:W3CDTF">2019-01-05T16:01:25Z</dcterms:created>
  <dcterms:modified xsi:type="dcterms:W3CDTF">2025-03-09T09:51:42Z</dcterms:modified>
</cp:coreProperties>
</file>