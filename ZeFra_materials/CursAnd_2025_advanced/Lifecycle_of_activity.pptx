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89" r:id="rId3"/>
    <p:sldId id="258" r:id="rId4"/>
    <p:sldId id="396" r:id="rId5"/>
    <p:sldId id="397" r:id="rId6"/>
    <p:sldId id="398" r:id="rId7"/>
    <p:sldId id="399" r:id="rId8"/>
    <p:sldId id="400" r:id="rId9"/>
    <p:sldId id="390" r:id="rId10"/>
    <p:sldId id="391" r:id="rId11"/>
    <p:sldId id="401" r:id="rId12"/>
    <p:sldId id="392" r:id="rId13"/>
    <p:sldId id="393" r:id="rId14"/>
    <p:sldId id="394" r:id="rId15"/>
    <p:sldId id="39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257740" y="1639138"/>
            <a:ext cx="4495140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  <a:cs typeface="Levenim MT" panose="02010502060101010101" pitchFamily="2" charset="-79"/>
              </a:rPr>
              <a:t>Lifecycle</a:t>
            </a: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  <a:cs typeface="Levenim MT" panose="02010502060101010101" pitchFamily="2" charset="-79"/>
            </a:endParaRP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  <a:cs typeface="Levenim MT" panose="02010502060101010101" pitchFamily="2" charset="-79"/>
              </a:rPr>
              <a:t>activity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  <a:cs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817D51C-98F8-6211-A842-A03D6151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151" y="182971"/>
            <a:ext cx="4886325" cy="631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17289" y="1923773"/>
            <a:ext cx="8976852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נקראת כאשר אקטיביטי נוצרת לראשונה. 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כאן מתבצעת יצירת ממשק המשתמש 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באמצעות פעולה 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setContentView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EB1D7-C76C-B073-66D1-CCBB2837FA5E}"/>
              </a:ext>
            </a:extLst>
          </p:cNvPr>
          <p:cNvSpPr/>
          <p:nvPr/>
        </p:nvSpPr>
        <p:spPr>
          <a:xfrm>
            <a:off x="4602383" y="783154"/>
            <a:ext cx="31838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onCreate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A0AC9C-725E-BA7E-7181-C6CDAB2FA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30" y="4678497"/>
            <a:ext cx="5857339" cy="1754326"/>
          </a:xfrm>
          <a:prstGeom prst="rect">
            <a:avLst/>
          </a:prstGeom>
        </p:spPr>
      </p:pic>
      <p:sp>
        <p:nvSpPr>
          <p:cNvPr id="3" name="מלבן 1">
            <a:extLst>
              <a:ext uri="{FF2B5EF4-FFF2-40B4-BE49-F238E27FC236}">
                <a16:creationId xmlns:a16="http://schemas.microsoft.com/office/drawing/2014/main" id="{1A0B5164-2649-9290-FBED-BC58B0DDE9A3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504335" y="1933605"/>
            <a:ext cx="10078065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 מומלץ לבצע פעולות ארוכות טווח ב-</a:t>
            </a:r>
            <a:r>
              <a:rPr lang="en-US" sz="32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onCreate</a:t>
            </a:r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כמו הורדת נתונים מהרשת או ביצוע חישובים מורכבים, למשל.</a:t>
            </a:r>
          </a:p>
          <a:p>
            <a:pPr algn="ctr" rtl="1"/>
            <a:endParaRPr lang="he-IL" sz="32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הסיבה לכך היא ש-</a:t>
            </a:r>
            <a:r>
              <a:rPr lang="en-US" sz="32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onCreate</a:t>
            </a:r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פועל על הזרם הראשי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וכל פעולה ארוכת טווח יכולה להאט את התגובה של ממשק המשתמש ולגרום ל-</a:t>
            </a:r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Application Not Responding</a:t>
            </a:r>
            <a:r>
              <a:rPr lang="he-IL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(האפליקציה מפסיקה להגיב לאינטראקציות של המשתמש).</a:t>
            </a:r>
            <a:endParaRPr lang="he-IL" sz="32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EB1D7-C76C-B073-66D1-CCBB2837FA5E}"/>
              </a:ext>
            </a:extLst>
          </p:cNvPr>
          <p:cNvSpPr/>
          <p:nvPr/>
        </p:nvSpPr>
        <p:spPr>
          <a:xfrm>
            <a:off x="4602383" y="783154"/>
            <a:ext cx="31838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onCreate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" name="מלבן 1">
            <a:extLst>
              <a:ext uri="{FF2B5EF4-FFF2-40B4-BE49-F238E27FC236}">
                <a16:creationId xmlns:a16="http://schemas.microsoft.com/office/drawing/2014/main" id="{9C6AD3E5-58CF-FFB3-8EFC-A5E284A576CC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794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27120" y="3801734"/>
            <a:ext cx="9606119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עצם מסוג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Bundle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המופיע כפרמטר ב-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onCreate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יכול לשמש או להעברת נתונים בין אקטיביטי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או כדי </a:t>
            </a:r>
            <a:r>
              <a:rPr lang="he-IL" sz="3600" u="sng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לשמור את המצב של 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כאשר היא נוצרת מחדש.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EB1D7-C76C-B073-66D1-CCBB2837FA5E}"/>
              </a:ext>
            </a:extLst>
          </p:cNvPr>
          <p:cNvSpPr/>
          <p:nvPr/>
        </p:nvSpPr>
        <p:spPr>
          <a:xfrm>
            <a:off x="4602383" y="783154"/>
            <a:ext cx="31838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onCreate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A0AC9C-725E-BA7E-7181-C6CDAB2FA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655" y="1810532"/>
            <a:ext cx="5857339" cy="1754326"/>
          </a:xfrm>
          <a:prstGeom prst="rect">
            <a:avLst/>
          </a:prstGeom>
        </p:spPr>
      </p:pic>
      <p:sp>
        <p:nvSpPr>
          <p:cNvPr id="3" name="מלבן 1">
            <a:extLst>
              <a:ext uri="{FF2B5EF4-FFF2-40B4-BE49-F238E27FC236}">
                <a16:creationId xmlns:a16="http://schemas.microsoft.com/office/drawing/2014/main" id="{6A710447-1836-5F31-7E30-2FC6CC6CC2C7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7599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789469" y="1913941"/>
            <a:ext cx="9380377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כאשר אקטיביטי נוצרת מחדש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he-IL" sz="3200" i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למשל, כאשר המסך מסובב או שינוי תצורת המכשיר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המערכת קוראת לפעולה 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onCreate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ומעבירה לה את האובייקט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Bundle 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כפרמטר.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אם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הושמדה ונוצרת מחדש,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ה"חבילה" יכולה להכיל נתונים שמורים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he-IL" sz="3200" i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שנשמרו בקריאה קודמת לפעולה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).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EB1D7-C76C-B073-66D1-CCBB2837FA5E}"/>
              </a:ext>
            </a:extLst>
          </p:cNvPr>
          <p:cNvSpPr/>
          <p:nvPr/>
        </p:nvSpPr>
        <p:spPr>
          <a:xfrm>
            <a:off x="4602383" y="783154"/>
            <a:ext cx="31838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onCreate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" name="מלבן 1">
            <a:extLst>
              <a:ext uri="{FF2B5EF4-FFF2-40B4-BE49-F238E27FC236}">
                <a16:creationId xmlns:a16="http://schemas.microsoft.com/office/drawing/2014/main" id="{903233C0-1908-CE81-CB66-EF89A6721E89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8087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6EB1D7-C76C-B073-66D1-CCBB2837FA5E}"/>
              </a:ext>
            </a:extLst>
          </p:cNvPr>
          <p:cNvSpPr/>
          <p:nvPr/>
        </p:nvSpPr>
        <p:spPr>
          <a:xfrm>
            <a:off x="4602383" y="783154"/>
            <a:ext cx="31838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onCreate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F2742-FF5C-DC83-3BCF-AFCAE65A3099}"/>
              </a:ext>
            </a:extLst>
          </p:cNvPr>
          <p:cNvSpPr/>
          <p:nvPr/>
        </p:nvSpPr>
        <p:spPr>
          <a:xfrm>
            <a:off x="1789469" y="1913941"/>
            <a:ext cx="938037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דוגמה לשמירת נתונים כדי לא לאבד אותם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5FC91-324D-BB0A-B7A7-5AF744D0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907" y="3277146"/>
            <a:ext cx="6376024" cy="2051938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86A33645-74CB-4C24-C826-9346E6F17887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1783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6EB1D7-C76C-B073-66D1-CCBB2837FA5E}"/>
              </a:ext>
            </a:extLst>
          </p:cNvPr>
          <p:cNvSpPr/>
          <p:nvPr/>
        </p:nvSpPr>
        <p:spPr>
          <a:xfrm>
            <a:off x="4602383" y="783154"/>
            <a:ext cx="31838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onCreate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F2742-FF5C-DC83-3BCF-AFCAE65A3099}"/>
              </a:ext>
            </a:extLst>
          </p:cNvPr>
          <p:cNvSpPr/>
          <p:nvPr/>
        </p:nvSpPr>
        <p:spPr>
          <a:xfrm>
            <a:off x="1789469" y="1913941"/>
            <a:ext cx="938037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דוגמה ל"חילוץ" של הנתונים שנשמרו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F10B99-F0B1-F6A7-BA53-948F09ACC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623" y="3151753"/>
            <a:ext cx="7507769" cy="3090242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DD37A326-8AFE-F20F-C20A-42EA7928AF2C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3904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2051592"/>
            <a:ext cx="8042787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נקראת כאשר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הופכת לגלויה למשתמש.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עם זאת, בשלב זה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u="sng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עדיין לא מוכנה לאינטראקציה עם המשתמש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מכיוון שהיא עשויה להיות מוסתרת חלקית על ידי רכיבי ממשק משתמש אחרים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(ע"י חלון 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AlertDialog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למשל).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D3DB73-03A1-BA11-73EC-DDDC496D685E}"/>
              </a:ext>
            </a:extLst>
          </p:cNvPr>
          <p:cNvSpPr/>
          <p:nvPr/>
        </p:nvSpPr>
        <p:spPr>
          <a:xfrm>
            <a:off x="4887206" y="783154"/>
            <a:ext cx="2614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onStart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30150FE0-8454-891B-3CF1-E03FE74DFBB9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5193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2051592"/>
            <a:ext cx="8042787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מתבצעת כאשר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 הופכת להיות </a:t>
            </a:r>
            <a:r>
              <a:rPr lang="he-IL" sz="3600" u="sng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נגישה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למשתמש.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כדאי לשקול ולהחליט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אילו פעולות להפעיל ב-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onStart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ואילו פעולות להפעיל ב-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onResume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482E5-EC96-D4D3-DF1C-BC9BBB427E1C}"/>
              </a:ext>
            </a:extLst>
          </p:cNvPr>
          <p:cNvSpPr/>
          <p:nvPr/>
        </p:nvSpPr>
        <p:spPr>
          <a:xfrm>
            <a:off x="4550991" y="783154"/>
            <a:ext cx="32866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onResume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1C2A27F6-EA13-6186-8C42-39C09E34F6D1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64505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2051592"/>
            <a:ext cx="8042787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שוב: פעולה זו נקראת כאשר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מתחילה ליצור אינטראקציה עם המשתמש. 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בשלב זה, האפליקציה שלך נמצאת בחזית והמשתמש יכול ליצור איתה אינטראקציה.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482E5-EC96-D4D3-DF1C-BC9BBB427E1C}"/>
              </a:ext>
            </a:extLst>
          </p:cNvPr>
          <p:cNvSpPr/>
          <p:nvPr/>
        </p:nvSpPr>
        <p:spPr>
          <a:xfrm>
            <a:off x="4550991" y="783154"/>
            <a:ext cx="32866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onResume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960AC277-B6A1-6D10-0DDA-814B5D111E76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0457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1691237"/>
            <a:ext cx="8042787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נקראת כאשר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הנוכחית מאבדת מיקוד ונכנסת לרקע.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זה קורה כאשר בגלל פעילות כלשהי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"מסך" מאבד "מצב אקטיבי" (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focus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אבל עדיין נמצא "בשכבה תחתונה".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זאת מתאימה לשמירת נתונים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שעלולים להימחק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E5B140-2E09-73F6-6735-C2E33818A9CF}"/>
              </a:ext>
            </a:extLst>
          </p:cNvPr>
          <p:cNvSpPr/>
          <p:nvPr/>
        </p:nvSpPr>
        <p:spPr>
          <a:xfrm>
            <a:off x="4758216" y="508158"/>
            <a:ext cx="28328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onPause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92CF8B4F-2235-24B5-8538-F092CE7C4007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24296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2051592"/>
            <a:ext cx="9045678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נקראת כאשר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כבר אינה גלויה יותר למשתמש. 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לדוגמה, כאשר המשתמש עובר לאפליקציה אחרת.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בפעולה זו מומלץ לבצע, למשל:</a:t>
            </a:r>
          </a:p>
          <a:p>
            <a:pPr algn="ctr" rtl="1"/>
            <a:r>
              <a:rPr lang="he-IL" sz="3200" i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שחרור משאבים</a:t>
            </a:r>
          </a:p>
          <a:p>
            <a:pPr algn="ctr" rtl="1"/>
            <a:r>
              <a:rPr lang="he-IL" sz="3200" i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עצירת אנימציה</a:t>
            </a:r>
          </a:p>
          <a:p>
            <a:pPr algn="ctr" rtl="1"/>
            <a:r>
              <a:rPr lang="he-IL" sz="3200" i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לשמור נתונים</a:t>
            </a:r>
            <a:endParaRPr lang="he-IL" sz="3200" i="1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AA62C8-B139-ECA5-6FE5-362C68849F50}"/>
              </a:ext>
            </a:extLst>
          </p:cNvPr>
          <p:cNvSpPr/>
          <p:nvPr/>
        </p:nvSpPr>
        <p:spPr>
          <a:xfrm>
            <a:off x="4933404" y="783154"/>
            <a:ext cx="2521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onStop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E8AA6DBC-648F-6E93-9F59-830EEA243FF8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1627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2051592"/>
            <a:ext cx="804278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נקראת לפני השמדת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זה יכול לקרות בגלל שהמערכת "הורגת"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את התהליך או בגלל </a:t>
            </a:r>
            <a:r>
              <a:rPr lang="he-IL" sz="360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שנקראת פעולה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finish()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33BC5-5821-23FD-51F1-0BCAF18E4F5D}"/>
              </a:ext>
            </a:extLst>
          </p:cNvPr>
          <p:cNvSpPr/>
          <p:nvPr/>
        </p:nvSpPr>
        <p:spPr>
          <a:xfrm>
            <a:off x="4515245" y="783154"/>
            <a:ext cx="3358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onDestroy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7A2D1573-A159-62FC-F723-617CDEBE79E6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31561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2051592"/>
            <a:ext cx="87507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פעולה זו נקראת לאחר שהפעילות שהופסקה הופכת שוב לגלויה.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33BC5-5821-23FD-51F1-0BCAF18E4F5D}"/>
              </a:ext>
            </a:extLst>
          </p:cNvPr>
          <p:cNvSpPr/>
          <p:nvPr/>
        </p:nvSpPr>
        <p:spPr>
          <a:xfrm>
            <a:off x="4602577" y="783154"/>
            <a:ext cx="31835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onRestart</a:t>
            </a:r>
            <a:r>
              <a:rPr lang="en-US" sz="5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()</a:t>
            </a:r>
            <a:endParaRPr lang="en-US" sz="54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מלבן 1">
            <a:extLst>
              <a:ext uri="{FF2B5EF4-FFF2-40B4-BE49-F238E27FC236}">
                <a16:creationId xmlns:a16="http://schemas.microsoft.com/office/drawing/2014/main" id="{A0AC75A5-9940-D700-6107-F0FCBFA0B115}"/>
              </a:ext>
            </a:extLst>
          </p:cNvPr>
          <p:cNvSpPr/>
          <p:nvPr/>
        </p:nvSpPr>
        <p:spPr>
          <a:xfrm>
            <a:off x="8756801" y="75268"/>
            <a:ext cx="20329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Activity</a:t>
            </a:r>
            <a:endParaRPr lang="he-IL" sz="4000" b="1" dirty="0">
              <a:ln/>
              <a:solidFill>
                <a:schemeClr val="accent3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35879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2547</TotalTime>
  <Words>399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Levenim MT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232</cp:revision>
  <dcterms:created xsi:type="dcterms:W3CDTF">2019-01-05T16:01:25Z</dcterms:created>
  <dcterms:modified xsi:type="dcterms:W3CDTF">2025-03-09T06:12:39Z</dcterms:modified>
</cp:coreProperties>
</file>