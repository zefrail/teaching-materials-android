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66" r:id="rId3"/>
    <p:sldId id="474" r:id="rId4"/>
    <p:sldId id="473" r:id="rId5"/>
    <p:sldId id="475" r:id="rId6"/>
    <p:sldId id="476" r:id="rId7"/>
    <p:sldId id="478" r:id="rId8"/>
    <p:sldId id="485" r:id="rId9"/>
    <p:sldId id="477" r:id="rId10"/>
    <p:sldId id="479" r:id="rId11"/>
    <p:sldId id="480" r:id="rId12"/>
    <p:sldId id="481" r:id="rId13"/>
    <p:sldId id="482" r:id="rId14"/>
    <p:sldId id="483" r:id="rId15"/>
    <p:sldId id="48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2T15:47:21.5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24575,'11'0'0,"0"1"0,0 1 0,0 0 0,0 0 0,-1 1 0,1 0 0,-1 1 0,18 9 0,5 5 0,38 29 0,-43-27 0,54 28 0,83 46 0,-115-65 0,-37-20 0,0-1 0,25 11 0,5-1 0,-17-7 0,52 15 0,-49-19 0,-1 0 0,-1 2 0,1 1 0,-2 1 0,1 2 0,29 18 0,-14-3 0,2-3 0,1-1 0,69 26 0,-105-47 0,275 114 0,-237-94 0,0-2 0,1-3 0,1-1 0,97 18 0,-48-13 0,130 48 0,-162-51 0,70 11 0,28 8 0,-59-8 0,291 74 0,-340-90 0,78 29 0,-79-23 0,81 17 0,-27-12-139,148 53 0,96 61-244,-245-94 349,69 17 34,-100-37 0,89 42 0,201 80 0,-164-71 0,-89-32 0,166 71 0,-210-87-302,0-4 0,2-3 0,116 20 0,-123-26 302,1 4 0,-2 2 0,-1 3 0,82 44 0,-100-47 0,0-3 0,69 20 0,99 11 0,-120-29 0,163 53 0,60 11 0,-166-55 0,-2 6 0,199 76 0,-256-81 10,118 25 1,23 7-121,-79-17-79,-78-25 104,0 4 0,87 41 0,243 126 85,-253-122 0,46 26 0,67 43 0,-73-39 0,115 68 0,-26-16 0,-147-84 0,-71-38 81,1-4 0,1-2 0,78 16 1,-18-5 98,-99-28 301,1-1 1,-1-1-1,30 1 1,-27-3-936,1 1 1,30 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2T15:47:23.64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15625 2 24575,'-88'-1'0,"-99"3"0,171 0 0,1 1 0,-1 1 0,-30 11 0,-19 6 0,-112 26 0,-3 1 0,110-30 0,-96 39 0,107-34 0,-1-2 0,-90 17 0,-167 39 0,197-43 0,-41 4-344,-119 37-458,138-27 802,-245 50 0,-110 39 0,176-39 0,-94 28-905,-40 10-136,-44-21 1041,-91 38 0,21-4 0,444-124 0,-250 62 0,195-31 0,-219 63 0,-21-21 0,11 7 0,264-64 0,-196 60 0,-64 18 0,-125 30 0,402-111 0,26-8 0,-7 3 0,-171 29 0,-373 81 0,328-62 0,133-34 26,-155 31-181,265-59-193,-96 34 0,-47 11 395,-75 15-43,115-27-46,58-14-53,61-17 46,-81 14 0,81-21 362,-66 24 0,88-25-129,-83 19 949,77-21-413,1 2-1,-73 29 0,66-20-719,0-2 0,-76 15 0,71-25 0,46-8 0,-1 0 0,0 1 0,1 1 0,-22 8 0,-11 6 0,-2-3 0,-87 16 0,-48 14 0,145-33 0,-50 7 0,49-11 0,-50 15 0,-214 68 0,209-63 0,-37 8 0,-128 10 0,142-17 277,78-17-825,-2-2 1,-84 9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כ"ד/שבט/תשפ"ה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722031" y="1561441"/>
            <a:ext cx="4475905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בסיס נתונים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latin typeface="Georgia Pro Black" panose="02040A02050405020203" pitchFamily="18" charset="0"/>
              <a:cs typeface="Guttman Vilna" panose="02010401010101010101" pitchFamily="2" charset="-79"/>
            </a:endParaRPr>
          </a:p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Database</a:t>
            </a:r>
          </a:p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SQLite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243355" y="710950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בסיס נתונים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7EA366-F25C-8D7A-C56D-E076E7B9D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67D8A-E27D-072A-F6AD-D56A0C9AA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86E937-A62D-73D6-90FE-15C3EDA214B3}"/>
              </a:ext>
            </a:extLst>
          </p:cNvPr>
          <p:cNvSpPr/>
          <p:nvPr/>
        </p:nvSpPr>
        <p:spPr>
          <a:xfrm>
            <a:off x="4670108" y="1907458"/>
            <a:ext cx="3244646" cy="9438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600" dirty="0"/>
              <a:t>קובץ מסוג </a:t>
            </a:r>
            <a:r>
              <a:rPr lang="en-US" sz="3600" b="1" dirty="0" err="1"/>
              <a:t>db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90465D-1546-69AE-DE0A-DC2EA5332DEC}"/>
              </a:ext>
            </a:extLst>
          </p:cNvPr>
          <p:cNvSpPr/>
          <p:nvPr/>
        </p:nvSpPr>
        <p:spPr>
          <a:xfrm>
            <a:off x="2521973" y="3215148"/>
            <a:ext cx="2148135" cy="585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600" dirty="0"/>
              <a:t>טובלה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91E978-C562-AF00-E4EC-7210F5E04A6A}"/>
              </a:ext>
            </a:extLst>
          </p:cNvPr>
          <p:cNvSpPr/>
          <p:nvPr/>
        </p:nvSpPr>
        <p:spPr>
          <a:xfrm>
            <a:off x="5021932" y="3215148"/>
            <a:ext cx="2148135" cy="585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600" dirty="0"/>
              <a:t>טובלה</a:t>
            </a:r>
            <a:endParaRPr lang="en-US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BA6581-B891-6409-7594-22FD223E9026}"/>
              </a:ext>
            </a:extLst>
          </p:cNvPr>
          <p:cNvSpPr/>
          <p:nvPr/>
        </p:nvSpPr>
        <p:spPr>
          <a:xfrm>
            <a:off x="7521892" y="3215148"/>
            <a:ext cx="2369360" cy="585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600" dirty="0"/>
              <a:t>ועוד כמה...</a:t>
            </a:r>
            <a:endParaRPr lang="en-US" sz="3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7C58CC-46C9-8C00-3945-16C93A4114F1}"/>
              </a:ext>
            </a:extLst>
          </p:cNvPr>
          <p:cNvSpPr/>
          <p:nvPr/>
        </p:nvSpPr>
        <p:spPr>
          <a:xfrm>
            <a:off x="697373" y="4085303"/>
            <a:ext cx="1381218" cy="585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600" dirty="0"/>
              <a:t>שדה</a:t>
            </a:r>
            <a:endParaRPr lang="en-US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81FDA-A4E7-BACF-8FC2-D33229C7CB51}"/>
              </a:ext>
            </a:extLst>
          </p:cNvPr>
          <p:cNvSpPr/>
          <p:nvPr/>
        </p:nvSpPr>
        <p:spPr>
          <a:xfrm>
            <a:off x="2335374" y="4085303"/>
            <a:ext cx="1381218" cy="585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600" dirty="0"/>
              <a:t>שדה</a:t>
            </a:r>
            <a:endParaRPr lang="en-US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1C3F5A-BA17-8EF3-D2BF-39E929B694F7}"/>
              </a:ext>
            </a:extLst>
          </p:cNvPr>
          <p:cNvSpPr/>
          <p:nvPr/>
        </p:nvSpPr>
        <p:spPr>
          <a:xfrm>
            <a:off x="3874119" y="4104968"/>
            <a:ext cx="1381218" cy="585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600" dirty="0"/>
              <a:t>ועוד...</a:t>
            </a:r>
            <a:endParaRPr lang="en-US" sz="3600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DECFDCF6-AA02-4626-B1D2-009C11682751}"/>
              </a:ext>
            </a:extLst>
          </p:cNvPr>
          <p:cNvSpPr/>
          <p:nvPr/>
        </p:nvSpPr>
        <p:spPr>
          <a:xfrm rot="2772386">
            <a:off x="4016355" y="2222447"/>
            <a:ext cx="265686" cy="943897"/>
          </a:xfrm>
          <a:prstGeom prst="downArrow">
            <a:avLst>
              <a:gd name="adj1" fmla="val 27795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E811833-A255-DACA-85F8-B10B235FCE09}"/>
              </a:ext>
            </a:extLst>
          </p:cNvPr>
          <p:cNvSpPr/>
          <p:nvPr/>
        </p:nvSpPr>
        <p:spPr>
          <a:xfrm>
            <a:off x="6014046" y="2760406"/>
            <a:ext cx="278385" cy="585020"/>
          </a:xfrm>
          <a:prstGeom prst="downArrow">
            <a:avLst>
              <a:gd name="adj1" fmla="val 27795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F60993E-B5F6-28FE-3175-A1B1E8E490D2}"/>
              </a:ext>
            </a:extLst>
          </p:cNvPr>
          <p:cNvSpPr/>
          <p:nvPr/>
        </p:nvSpPr>
        <p:spPr>
          <a:xfrm rot="18697708">
            <a:off x="8220729" y="2271743"/>
            <a:ext cx="265686" cy="943897"/>
          </a:xfrm>
          <a:prstGeom prst="downArrow">
            <a:avLst>
              <a:gd name="adj1" fmla="val 27795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68BE3EC-BFD2-4869-9CB2-04D19E391C72}"/>
              </a:ext>
            </a:extLst>
          </p:cNvPr>
          <p:cNvSpPr/>
          <p:nvPr/>
        </p:nvSpPr>
        <p:spPr>
          <a:xfrm rot="2772386">
            <a:off x="2144521" y="3447577"/>
            <a:ext cx="195640" cy="641273"/>
          </a:xfrm>
          <a:prstGeom prst="downArrow">
            <a:avLst>
              <a:gd name="adj1" fmla="val 27795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C48699CD-5CF3-625A-21C5-498C44F74447}"/>
              </a:ext>
            </a:extLst>
          </p:cNvPr>
          <p:cNvSpPr/>
          <p:nvPr/>
        </p:nvSpPr>
        <p:spPr>
          <a:xfrm rot="19193069">
            <a:off x="4770623" y="3535090"/>
            <a:ext cx="195640" cy="641273"/>
          </a:xfrm>
          <a:prstGeom prst="downArrow">
            <a:avLst>
              <a:gd name="adj1" fmla="val 27795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7329EC5-D962-EBE1-6836-A96579512690}"/>
              </a:ext>
            </a:extLst>
          </p:cNvPr>
          <p:cNvSpPr/>
          <p:nvPr/>
        </p:nvSpPr>
        <p:spPr>
          <a:xfrm>
            <a:off x="3425795" y="3768213"/>
            <a:ext cx="158935" cy="416507"/>
          </a:xfrm>
          <a:prstGeom prst="downArrow">
            <a:avLst>
              <a:gd name="adj1" fmla="val 27795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9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4B50E-07C6-3139-7943-BF69E977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BAAF600-352F-CA5E-30B5-3195F7B39B86}"/>
              </a:ext>
            </a:extLst>
          </p:cNvPr>
          <p:cNvSpPr/>
          <p:nvPr/>
        </p:nvSpPr>
        <p:spPr>
          <a:xfrm>
            <a:off x="1243355" y="710950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בסיס נתונים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FC58D-DD34-15DD-389E-9E7A73770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67F42A-F945-E74C-9485-BBC702DAE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18" name="תמונה 9">
            <a:extLst>
              <a:ext uri="{FF2B5EF4-FFF2-40B4-BE49-F238E27FC236}">
                <a16:creationId xmlns:a16="http://schemas.microsoft.com/office/drawing/2014/main" id="{93F2C94F-350D-BACB-B071-0883C11CE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050" y="3086132"/>
            <a:ext cx="6684005" cy="3622730"/>
          </a:xfrm>
          <a:prstGeom prst="rect">
            <a:avLst/>
          </a:prstGeom>
        </p:spPr>
      </p:pic>
      <p:sp>
        <p:nvSpPr>
          <p:cNvPr id="19" name="הסבר קווי 1 10">
            <a:extLst>
              <a:ext uri="{FF2B5EF4-FFF2-40B4-BE49-F238E27FC236}">
                <a16:creationId xmlns:a16="http://schemas.microsoft.com/office/drawing/2014/main" id="{0F22F6A7-53F9-B643-2A4C-E8355D1B02E6}"/>
              </a:ext>
            </a:extLst>
          </p:cNvPr>
          <p:cNvSpPr/>
          <p:nvPr/>
        </p:nvSpPr>
        <p:spPr>
          <a:xfrm flipH="1">
            <a:off x="8918857" y="2224578"/>
            <a:ext cx="2735753" cy="715491"/>
          </a:xfrm>
          <a:prstGeom prst="borderCallout1">
            <a:avLst>
              <a:gd name="adj1" fmla="val 46533"/>
              <a:gd name="adj2" fmla="val 99480"/>
              <a:gd name="adj3" fmla="val 124248"/>
              <a:gd name="adj4" fmla="val 175052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שדות (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fields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20" name="הסבר קווי 1 11">
            <a:extLst>
              <a:ext uri="{FF2B5EF4-FFF2-40B4-BE49-F238E27FC236}">
                <a16:creationId xmlns:a16="http://schemas.microsoft.com/office/drawing/2014/main" id="{A540620F-70D4-F76B-4464-F2EFB54E92DB}"/>
              </a:ext>
            </a:extLst>
          </p:cNvPr>
          <p:cNvSpPr/>
          <p:nvPr/>
        </p:nvSpPr>
        <p:spPr>
          <a:xfrm flipH="1">
            <a:off x="-80399" y="3204143"/>
            <a:ext cx="2735753" cy="715491"/>
          </a:xfrm>
          <a:prstGeom prst="borderCallout1">
            <a:avLst>
              <a:gd name="adj1" fmla="val 50292"/>
              <a:gd name="adj2" fmla="val -301"/>
              <a:gd name="adj3" fmla="val 238019"/>
              <a:gd name="adj4" fmla="val -19809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רשומות (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records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3547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1243355" y="710950"/>
            <a:ext cx="10098153" cy="60631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דברים בסיסיים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בסיס נתונים: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מספיק קובץ אחד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מספר סוגים מוגבל ובכלל אפשר להסתפק בסוג אחד בלבד והמרות לסוגים הדרושים לבצע באקטיביטי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שמחרה ושליפה (הכנסה וקריאה) הם פעולות חובה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כברירת המחדל קובץ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DB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נשמר בתיקיה פנימית של אפליקציה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סגירה היא חובה לא רק בגלל שמירת על זיכרון אלא גם עבור "השלמת הביצוע"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64FC1-CA84-62B2-7BA8-2687FA1A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F77A79E-88BE-0C58-3EEF-379E4C520B6E}"/>
              </a:ext>
            </a:extLst>
          </p:cNvPr>
          <p:cNvSpPr/>
          <p:nvPr/>
        </p:nvSpPr>
        <p:spPr>
          <a:xfrm>
            <a:off x="953731" y="673426"/>
            <a:ext cx="10982632" cy="60631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דברים מומלצים (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Drogolin" panose="02010401010101010101" pitchFamily="2" charset="-79"/>
                <a:ea typeface="Cascadia Code" panose="020B0609020000020004" pitchFamily="49" charset="0"/>
                <a:cs typeface="Guttman Drogolin" panose="02010401010101010101" pitchFamily="2" charset="-79"/>
              </a:rPr>
              <a:t>סז"ם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בסיס נתונים: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לבנות מחלקת עזר היורשת ממחלקה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SQLiteOpenHelper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כדי לקבל 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גישה לפעולות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לביצועים על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DB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לצור בה כל קבועים עבור קובץ/טבלאות/שדות כדי "להעביר ידע על שמות" ל-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כי זה מקטין סיכוי לטעות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לשקול כתיבת פעולות במחלקת עזר במקום לכתוב אותם באקטיביטי (חד פעמי/רב פעמי)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F02ED6-9F04-68D1-3C71-9C873BF24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FE0F4A-F90F-9E84-6E08-450584BBE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71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D55A-A218-E5BB-8C16-7F0F9EBC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8F5693C7-1FDC-D724-1128-7EF5EA559873}"/>
              </a:ext>
            </a:extLst>
          </p:cNvPr>
          <p:cNvSpPr/>
          <p:nvPr/>
        </p:nvSpPr>
        <p:spPr>
          <a:xfrm>
            <a:off x="953731" y="673426"/>
            <a:ext cx="1098263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דברים מומלצים (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Drogolin" panose="02010401010101010101" pitchFamily="2" charset="-79"/>
                <a:ea typeface="Cascadia Code" panose="020B0609020000020004" pitchFamily="49" charset="0"/>
                <a:cs typeface="Guttman Drogolin" panose="02010401010101010101" pitchFamily="2" charset="-79"/>
              </a:rPr>
              <a:t>סז"ם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בסיס נתונים: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D5DC0-6ED3-5A35-2E06-40F459A9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E1AFC-4AF7-9050-A821-E7D439B34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D2668E-2F63-2508-92FB-C044F4A6A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31" y="4127311"/>
            <a:ext cx="4985275" cy="22712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57CC3B-CD30-F5F4-182B-E3206A493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685" y="2412017"/>
            <a:ext cx="8836333" cy="685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26E476-C20F-5051-84C5-F466261642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996" y="4510352"/>
            <a:ext cx="5063547" cy="150517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1F291E9-346C-9924-22A7-37E6E3C9B4F0}"/>
              </a:ext>
            </a:extLst>
          </p:cNvPr>
          <p:cNvGrpSpPr/>
          <p:nvPr/>
        </p:nvGrpSpPr>
        <p:grpSpPr>
          <a:xfrm>
            <a:off x="2684137" y="1985698"/>
            <a:ext cx="5634000" cy="1613520"/>
            <a:chOff x="2684137" y="1985698"/>
            <a:chExt cx="5634000" cy="161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63F263-C685-A5E0-AB45-64C214F42030}"/>
                    </a:ext>
                  </a:extLst>
                </p14:cNvPr>
                <p14:cNvContentPartPr/>
                <p14:nvPr/>
              </p14:nvContentPartPr>
              <p14:xfrm>
                <a:off x="2684137" y="1985698"/>
                <a:ext cx="4252320" cy="1540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63F263-C685-A5E0-AB45-64C214F420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21497" y="1923058"/>
                  <a:ext cx="4377960" cy="16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283ADF-70FF-2956-F58A-AABA7D6CEEBF}"/>
                    </a:ext>
                  </a:extLst>
                </p14:cNvPr>
                <p14:cNvContentPartPr/>
                <p14:nvPr/>
              </p14:nvContentPartPr>
              <p14:xfrm>
                <a:off x="2693137" y="2132938"/>
                <a:ext cx="5625000" cy="1466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283ADF-70FF-2956-F58A-AABA7D6CEEB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30497" y="2070298"/>
                  <a:ext cx="5750640" cy="159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1032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5ADDB-A409-2726-83E8-4F0295DEA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BD1E2F6-4959-5C8E-5F1C-4C94EA547269}"/>
              </a:ext>
            </a:extLst>
          </p:cNvPr>
          <p:cNvSpPr/>
          <p:nvPr/>
        </p:nvSpPr>
        <p:spPr>
          <a:xfrm>
            <a:off x="1828799" y="673426"/>
            <a:ext cx="9586453" cy="60631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דברים מומלצים (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Drogolin" panose="02010401010101010101" pitchFamily="2" charset="-79"/>
                <a:ea typeface="Cascadia Code" panose="020B0609020000020004" pitchFamily="49" charset="0"/>
                <a:cs typeface="Guttman Drogolin" panose="02010401010101010101" pitchFamily="2" charset="-79"/>
              </a:rPr>
              <a:t>סז"ם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בסיס נתונים: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לא לשמור ב-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DB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נתונים גדולים (תמונות, קבצי קול וכדומה),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אלא לשמור אותם ב-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external memory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ובטבלה לשמור "מיקום" שלהם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אם צריך שלמור נתונים מורכבים (תאריך, זמן, רשימת ימי עבודה...) – להשתמש ביכולות שיש בשפת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עבור עבודה עם מחרוזות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22096-A8CC-B42F-CE80-A724B3705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2282BD-BBDB-48F4-65BA-722B3EE21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7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6C70-6829-B457-8036-83FF8595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3662B2D-F762-061D-5095-3800D7347800}"/>
              </a:ext>
            </a:extLst>
          </p:cNvPr>
          <p:cNvSpPr/>
          <p:nvPr/>
        </p:nvSpPr>
        <p:spPr>
          <a:xfrm>
            <a:off x="1828799" y="673426"/>
            <a:ext cx="9586453" cy="55707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דברים מומלצים (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Drogolin" panose="02010401010101010101" pitchFamily="2" charset="-79"/>
                <a:ea typeface="Cascadia Code" panose="020B0609020000020004" pitchFamily="49" charset="0"/>
                <a:cs typeface="Guttman Drogolin" panose="02010401010101010101" pitchFamily="2" charset="-79"/>
              </a:rPr>
              <a:t>סז"ם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בסיס נתונים: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עבור כל טבלה לצור מחלקת עצם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לבצע בדיקות "חיצוניות" לפני שמירת נתונים בטבלה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להציג למשתמש נתונים לפני שמורתם </a:t>
            </a:r>
            <a:r>
              <a:rPr lang="he-IL" sz="32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בטבלה ולשמור רק אחרי אישור משתמש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BBF03-3718-D66B-A917-92707E48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C1776-5048-0C3C-190E-1E48BFE11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19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1EEA-9979-5C1F-FFB5-8AC9CBEC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76DED95-02A4-4C77-0471-A4E2A21870D2}"/>
              </a:ext>
            </a:extLst>
          </p:cNvPr>
          <p:cNvSpPr/>
          <p:nvPr/>
        </p:nvSpPr>
        <p:spPr>
          <a:xfrm>
            <a:off x="953731" y="673426"/>
            <a:ext cx="10982632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דברים מומלצים (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Drogolin" panose="02010401010101010101" pitchFamily="2" charset="-79"/>
                <a:ea typeface="Cascadia Code" panose="020B0609020000020004" pitchFamily="49" charset="0"/>
                <a:cs typeface="Guttman Drogolin" panose="02010401010101010101" pitchFamily="2" charset="-79"/>
              </a:rPr>
              <a:t>סז"ם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בסיס נתונים: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תחליטו איך תלמידים שלכם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הסתדרו יותר טוב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4F068-8A25-1A2A-D5A3-75E009A2E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748B0F-DC77-05D9-B379-FF6BD8174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89614A-307E-EE1C-DCFA-AD9CFDB4C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59" y="3566652"/>
            <a:ext cx="8858864" cy="309398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3EEFCEE-3DA5-8AB6-B2E9-6A18888AFC41}"/>
              </a:ext>
            </a:extLst>
          </p:cNvPr>
          <p:cNvSpPr/>
          <p:nvPr/>
        </p:nvSpPr>
        <p:spPr>
          <a:xfrm>
            <a:off x="6813754" y="4022437"/>
            <a:ext cx="2123767" cy="668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800" b="1" dirty="0"/>
              <a:t>פקודות </a:t>
            </a:r>
            <a:r>
              <a:rPr lang="en-US" sz="2800" b="1" dirty="0"/>
              <a:t>Java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174A0F-AFEE-4FF7-E378-D3FA327B6FDC}"/>
              </a:ext>
            </a:extLst>
          </p:cNvPr>
          <p:cNvSpPr/>
          <p:nvPr/>
        </p:nvSpPr>
        <p:spPr>
          <a:xfrm>
            <a:off x="3401962" y="4032270"/>
            <a:ext cx="1828800" cy="668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800" b="1" dirty="0"/>
              <a:t>קוד </a:t>
            </a:r>
            <a:r>
              <a:rPr lang="en-US" sz="2800" b="1" dirty="0"/>
              <a:t>SQLite</a:t>
            </a:r>
          </a:p>
        </p:txBody>
      </p:sp>
    </p:spTree>
    <p:extLst>
      <p:ext uri="{BB962C8B-B14F-4D97-AF65-F5344CB8AC3E}">
        <p14:creationId xmlns:p14="http://schemas.microsoft.com/office/powerpoint/2010/main" val="2517093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F715-CEC5-C015-89CC-EDE97061A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7305C70-0B5C-ED62-FA68-3A45A4D08271}"/>
              </a:ext>
            </a:extLst>
          </p:cNvPr>
          <p:cNvSpPr/>
          <p:nvPr/>
        </p:nvSpPr>
        <p:spPr>
          <a:xfrm>
            <a:off x="1828799" y="673426"/>
            <a:ext cx="9586453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מבחינת הפרויקט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רמת מינימום: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טבלה אחת בלבד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שמירה (כתיבה, הוספה) ללא בדיקות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שליפה (קריאה) ללא בדיקות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72DBC-CC31-91D0-3ACF-B8888FE74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5BDCD5-F5A2-2D06-D2EC-5DE3D4448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8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4E3AE-8EAA-6D9D-0144-9E66BF2D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7976017-0048-379D-6FEF-1D5FB8A9090A}"/>
              </a:ext>
            </a:extLst>
          </p:cNvPr>
          <p:cNvSpPr/>
          <p:nvPr/>
        </p:nvSpPr>
        <p:spPr>
          <a:xfrm>
            <a:off x="1828799" y="673426"/>
            <a:ext cx="9586453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מבחינת הפרויקט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רמת מינימום+: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טבלה אחת בלבד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שמירה (כתיבה, הוספה) כולל בדיקות (בטבלה)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שליפה (קריאה) כולל בדיקות (בטבלה)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F8B9D9-6A26-5CB8-CE1D-42153402A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74DA7E-6925-9ABC-B283-F8D3818A4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5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B1A39-6102-94C4-0998-7578050D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AE18D5A9-8D10-2CA3-57DB-7D493DD164A3}"/>
              </a:ext>
            </a:extLst>
          </p:cNvPr>
          <p:cNvSpPr/>
          <p:nvPr/>
        </p:nvSpPr>
        <p:spPr>
          <a:xfrm>
            <a:off x="1828799" y="673426"/>
            <a:ext cx="9586453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מבחינת הפרויקט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רמה בינונית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2-3 טבלאות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שמירה (כתיבה, הוספה) כולל בדיקות (בטבלה)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שליפה (קריאה) כולל בדיקות (בטבלה)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E5C82-9592-3FFC-2B99-5513FE809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447D2C-9324-ED1E-C22D-6E69BE1F7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97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05B0-823D-FAEF-5BCE-A4E41066F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7B35C0A-56A1-8344-1DB3-1C1B6F7BCB3B}"/>
              </a:ext>
            </a:extLst>
          </p:cNvPr>
          <p:cNvSpPr/>
          <p:nvPr/>
        </p:nvSpPr>
        <p:spPr>
          <a:xfrm>
            <a:off x="1828799" y="673426"/>
            <a:ext cx="9586453" cy="538609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מבחינת הפרויקט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רמה בינונית+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2-3 טבלאות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שמירה (כתיבה, הוספה) כולל בדיקות (בטבלה)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שליפה (קריאה) כולל בדיקות (בטבלה)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פעולה נוספת (עדכון/מחיקה) עבור/על בסיס שדה אחד לפחות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3E608F-0723-6F92-170B-AE4062FD4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67880F-699D-919B-E22C-835F83DB9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73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3C41-B4C8-7EDB-791C-DD2E3908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E6EF36AF-F5E9-0EB9-2B94-D57BA4D4E955}"/>
              </a:ext>
            </a:extLst>
          </p:cNvPr>
          <p:cNvSpPr/>
          <p:nvPr/>
        </p:nvSpPr>
        <p:spPr>
          <a:xfrm>
            <a:off x="1828799" y="673426"/>
            <a:ext cx="9586453" cy="49552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מבחינת הפרויקט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רמה גבוהה: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2-3 טבלאות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שמירה (כתיבה, הוספה) כולל בדיקות (בטבלה)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פעולת שליפה (קריאה) כולל בדיקות (בטבלה)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פעולה נוספת (עדכון/מחיקה) עבור/על בסיס מספר שדות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E270A-49EE-7DC3-1DDE-AFF1725F6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A3C87-CD95-66B4-1020-B9A697AEA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20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0C2CF-178D-6A98-9D43-7BA33135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E4CC6E0-5986-F585-AED7-CC8F84CB9F63}"/>
              </a:ext>
            </a:extLst>
          </p:cNvPr>
          <p:cNvSpPr/>
          <p:nvPr/>
        </p:nvSpPr>
        <p:spPr>
          <a:xfrm>
            <a:off x="1828799" y="673426"/>
            <a:ext cx="9586453" cy="538609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מבחינת הפרויקט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רמה 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super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מספר טבלאות ואפילו יצירה דינמית של טבלאות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בתכונות נוספות כמו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,PRIMARY KEY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UNIQUE, NOT NULL, CHECK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ואחרים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בפונקציות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אין גבול לאפשרויות 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  <a:sym typeface="Wingdings" panose="05000000000000000000" pitchFamily="2" charset="2"/>
              </a:rPr>
              <a:t>!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B4ABA-02EB-7374-4139-0C6C5CEA4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ACF38D-2E79-1E6D-7389-DA7C3CA3C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49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2667</TotalTime>
  <Words>483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Georgia Pro Black</vt:lpstr>
      <vt:lpstr>Guttman Drogolin</vt:lpstr>
      <vt:lpstr>Segoe UI Semibold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415</cp:revision>
  <dcterms:created xsi:type="dcterms:W3CDTF">2019-01-05T16:01:25Z</dcterms:created>
  <dcterms:modified xsi:type="dcterms:W3CDTF">2025-02-22T16:45:47Z</dcterms:modified>
</cp:coreProperties>
</file>