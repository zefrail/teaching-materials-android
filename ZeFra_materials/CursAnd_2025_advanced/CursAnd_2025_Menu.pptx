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73" r:id="rId3"/>
    <p:sldId id="474" r:id="rId4"/>
    <p:sldId id="475" r:id="rId5"/>
    <p:sldId id="476" r:id="rId6"/>
    <p:sldId id="478" r:id="rId7"/>
    <p:sldId id="477" r:id="rId8"/>
    <p:sldId id="479" r:id="rId9"/>
    <p:sldId id="480" r:id="rId10"/>
    <p:sldId id="481" r:id="rId11"/>
    <p:sldId id="482" r:id="rId12"/>
    <p:sldId id="483" r:id="rId13"/>
    <p:sldId id="484" r:id="rId14"/>
    <p:sldId id="485" r:id="rId15"/>
    <p:sldId id="486" r:id="rId16"/>
    <p:sldId id="487" r:id="rId17"/>
    <p:sldId id="488" r:id="rId18"/>
    <p:sldId id="48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0T07:31:03.0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0,'3278'0'0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0T07:31:07.4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1 109 0,'4288'-109'0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0T07:31:09.7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0,'3769'28'0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0T07:32:30.6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 0,'2677'0'0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כ"ב/ניסן/תשפ"ה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כ"ב/ניסן/תשפ"ה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כ"ב/ניסן/תשפ"ה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כ"ב/ניסן/תשפ"ה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כ"ב/ניסן/תשפ"ה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כ"ב/ניסן/תשפ"ה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כ"ב/ניסן/תשפ"ה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eloper.android.com/reference/android/view/MenuItem" TargetMode="External"/><Relationship Id="rId5" Type="http://schemas.openxmlformats.org/officeDocument/2006/relationships/image" Target="../media/image5.png"/><Relationship Id="rId4" Type="http://schemas.openxmlformats.org/officeDocument/2006/relationships/hyperlink" Target="https://developer.android.com/guide/topics/resources/menu-resource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eloper.android.com/reference/android/view/MenuItem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developer.android.com/guide/topics/resources/menu-resource?hl=h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6.png"/><Relationship Id="rId3" Type="http://schemas.openxmlformats.org/officeDocument/2006/relationships/image" Target="../media/image4.jpg"/><Relationship Id="rId7" Type="http://schemas.openxmlformats.org/officeDocument/2006/relationships/customXml" Target="../ink/ink2.xml"/><Relationship Id="rId12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customXml" Target="../ink/ink1.xml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customXml" Target="../ink/ink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4008956" y="1679428"/>
            <a:ext cx="4293163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Menu</a:t>
            </a:r>
          </a:p>
          <a:p>
            <a:pPr algn="ctr" rtl="1"/>
            <a:r>
              <a:rPr lang="he-IL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(למיניהם...)</a:t>
            </a:r>
            <a:endParaRPr lang="en-US" sz="6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4">
                  <a:lumMod val="50000"/>
                </a:schemeClr>
              </a:solidFill>
              <a:latin typeface="Georgia Pro Black" panose="02040A02050405020203" pitchFamily="18" charset="0"/>
              <a:cs typeface="Guttman Vilna" panose="02010401010101010101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36788B-3737-3937-ACC4-FA8F8A591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FD018D-ED0B-B4B7-00CD-59F39FA58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066C4-2929-B804-C1E4-C24EEFB6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49171B52-B63B-F96D-58D4-ACC19F3CAFA5}"/>
              </a:ext>
            </a:extLst>
          </p:cNvPr>
          <p:cNvSpPr/>
          <p:nvPr/>
        </p:nvSpPr>
        <p:spPr>
          <a:xfrm>
            <a:off x="910907" y="720224"/>
            <a:ext cx="10098153" cy="563231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כלי נוח ומועיל במיוחד,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שימושי מאוד,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ברב המקרים לא קשה לתכנות.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קיימות אפשרויות שונות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לצור תפריט,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לכן עבור פרויקט לבגרות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אין שום בעיה לבחור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מה שמתאים.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F72784-C2E0-2323-1F17-F74C07C2D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9EAD51-BFF4-0552-92B8-B74A0CAF0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3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24E71-575B-4672-EB88-B098CCC55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67E57339-CC39-9BAD-F986-3D57BC72384C}"/>
              </a:ext>
            </a:extLst>
          </p:cNvPr>
          <p:cNvSpPr/>
          <p:nvPr/>
        </p:nvSpPr>
        <p:spPr>
          <a:xfrm>
            <a:off x="910907" y="720224"/>
            <a:ext cx="10098153" cy="44012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אפשר להגיד ששימוש בתפריט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דורש 3 מרכיבים: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קובץ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xml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המכיל תיאור סעיפי התפריט</a:t>
            </a:r>
          </a:p>
          <a:p>
            <a:pPr marL="514350" indent="-514350" algn="r" rtl="1">
              <a:buFont typeface="+mj-lt"/>
              <a:buAutoNum type="arabicPeriod"/>
            </a:pP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רכיב שבעזרתו תפריט מופיע</a:t>
            </a:r>
          </a:p>
          <a:p>
            <a:pPr marL="742950" indent="-742950" algn="r" rtl="1">
              <a:buFont typeface="+mj-lt"/>
              <a:buAutoNum type="arabicPeriod"/>
            </a:pP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קודים להצגת תפריט ומימוש פעולות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6CC85B-F266-790A-E5AD-7B0EF9CFB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BF460-36CA-40FE-9C9D-55F814A240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652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9A84B-EA03-21DF-16B5-1C35C133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7A500F84-0578-2680-2181-329FBAB5BFB5}"/>
              </a:ext>
            </a:extLst>
          </p:cNvPr>
          <p:cNvSpPr/>
          <p:nvPr/>
        </p:nvSpPr>
        <p:spPr>
          <a:xfrm>
            <a:off x="1046923" y="1843950"/>
            <a:ext cx="10098153" cy="31700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בגלל שרב סעיפי התפריט שימושיים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במקומות שונים של אפליקציה,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נוח לצור תיקיה (תיקיית המערכת)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menu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ואחר כך לצור בה קובץ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xml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המכיל תיאור סעיפי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התפרית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1F21DF-12D3-1721-B0AB-4BA788DE4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9912C4-E975-5A8E-2006-04979949E6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992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7DCAA-4B8F-1AB8-3E19-A0D3BA288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9ABBC328-EA02-87BE-D793-19BD3CB8CF1D}"/>
              </a:ext>
            </a:extLst>
          </p:cNvPr>
          <p:cNvSpPr/>
          <p:nvPr/>
        </p:nvSpPr>
        <p:spPr>
          <a:xfrm>
            <a:off x="910907" y="720224"/>
            <a:ext cx="10098153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לסעיפי תפריט יש הרבה תכונות,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חלק מהן חובה (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id, title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וחלק רשות.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4A6469-F28E-93D4-8367-5B3278581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9EA168-0DCF-03FD-41F9-FC6785851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hlinkClick r:id="rId4"/>
            <a:extLst>
              <a:ext uri="{FF2B5EF4-FFF2-40B4-BE49-F238E27FC236}">
                <a16:creationId xmlns:a16="http://schemas.microsoft.com/office/drawing/2014/main" id="{98BBE37A-BCE3-E6BF-1261-ED8E1151A1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7015" y="2821859"/>
            <a:ext cx="6957970" cy="961502"/>
          </a:xfrm>
          <a:prstGeom prst="rect">
            <a:avLst/>
          </a:prstGeom>
        </p:spPr>
      </p:pic>
      <p:pic>
        <p:nvPicPr>
          <p:cNvPr id="7" name="Picture 6">
            <a:hlinkClick r:id="rId6"/>
            <a:extLst>
              <a:ext uri="{FF2B5EF4-FFF2-40B4-BE49-F238E27FC236}">
                <a16:creationId xmlns:a16="http://schemas.microsoft.com/office/drawing/2014/main" id="{0C00AD1E-662B-B8A2-593A-499DE821C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3468" y="4709376"/>
            <a:ext cx="7305064" cy="96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20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6E1B1-A7F2-55FC-B228-8A1C14431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02FD4630-2F3A-CB82-45B3-C1BA2439DD66}"/>
              </a:ext>
            </a:extLst>
          </p:cNvPr>
          <p:cNvSpPr/>
          <p:nvPr/>
        </p:nvSpPr>
        <p:spPr>
          <a:xfrm>
            <a:off x="910907" y="720224"/>
            <a:ext cx="1009815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עוד מקורות מידע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0F8802-64B3-D8FC-ADB2-3CB536439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E6E039-D9BE-1B9F-E0F1-864E6D8E0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hlinkClick r:id="rId4"/>
            <a:extLst>
              <a:ext uri="{FF2B5EF4-FFF2-40B4-BE49-F238E27FC236}">
                <a16:creationId xmlns:a16="http://schemas.microsoft.com/office/drawing/2014/main" id="{DADBAAF4-FC21-3824-3BEA-9AE33A0A2C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7033" y="1561441"/>
            <a:ext cx="8237934" cy="2286198"/>
          </a:xfrm>
          <a:prstGeom prst="rect">
            <a:avLst/>
          </a:prstGeom>
        </p:spPr>
      </p:pic>
      <p:pic>
        <p:nvPicPr>
          <p:cNvPr id="7" name="Picture 6">
            <a:hlinkClick r:id="rId6"/>
            <a:extLst>
              <a:ext uri="{FF2B5EF4-FFF2-40B4-BE49-F238E27FC236}">
                <a16:creationId xmlns:a16="http://schemas.microsoft.com/office/drawing/2014/main" id="{147B8980-43C1-EEB8-D7D9-F406328E3A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7033" y="4275283"/>
            <a:ext cx="8237934" cy="207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139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DDBA3-44EC-6FF6-91FB-34E5A1B15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C8917AE1-CD7E-75A2-4047-DB5EA1807817}"/>
              </a:ext>
            </a:extLst>
          </p:cNvPr>
          <p:cNvSpPr/>
          <p:nvPr/>
        </p:nvSpPr>
        <p:spPr>
          <a:xfrm>
            <a:off x="1046923" y="2273721"/>
            <a:ext cx="10098153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מאוד כדאי להציג לתלמידים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אפשרויות דו-שיח עם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AI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בנושא "תפריט ואפשרויות שלו"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453B91-CB80-6AAF-DA01-18FD165C5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20ECB3-CA83-D108-5F96-CCEB469C25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592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31F10-9976-2028-FCC1-B83B51C23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5F059C25-E5CF-9078-8AFD-F72F05F03B8B}"/>
              </a:ext>
            </a:extLst>
          </p:cNvPr>
          <p:cNvSpPr/>
          <p:nvPr/>
        </p:nvSpPr>
        <p:spPr>
          <a:xfrm>
            <a:off x="910907" y="720224"/>
            <a:ext cx="10098153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תפריט "קלסי":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options menu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שידוע גם כ"תפריט המבורגר".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דורש שימוש ב-2 פעולות: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ליצירה/תצוגה של תפריט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לרישום תגובות על בחירת סעיף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EB4430-2756-271A-CF03-81F3543CB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3992FA-2A99-2CAF-6C3A-3180754425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573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259AC-EE6E-BFEC-B605-2557E1BC3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8CB7F7-0021-6CE4-22C7-B84F4AD84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AAED49-9522-CA04-DE14-11EF8E107C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A3F1D0-0572-BC12-B05B-A6B40D629E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064"/>
          <a:stretch/>
        </p:blipFill>
        <p:spPr>
          <a:xfrm>
            <a:off x="2479988" y="1932351"/>
            <a:ext cx="7232024" cy="18582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134447-FECB-5FCE-D3B8-AF60A178CF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2205" y="4597653"/>
            <a:ext cx="8972639" cy="117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78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8E3FB-C93C-CB24-ADB3-46CC80299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8A2A6066-7572-93FE-0319-C24F5E5EFAD2}"/>
              </a:ext>
            </a:extLst>
          </p:cNvPr>
          <p:cNvSpPr/>
          <p:nvPr/>
        </p:nvSpPr>
        <p:spPr>
          <a:xfrm>
            <a:off x="910907" y="720224"/>
            <a:ext cx="10098153" cy="31700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אפשר להוסיף סעיפים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או להסתיר סעיפים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או להפוך סעיפים לבלתי פעילים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...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דרך פקודות/פעולות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Java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0EDA08-4F48-7ED7-A828-A86E371BD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01B608-17D8-5059-DE4B-B357344863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98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0E05B-D330-62B6-D57E-15C2C98C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28D06F06-41F9-3D2F-3C18-356D1FDD45E3}"/>
              </a:ext>
            </a:extLst>
          </p:cNvPr>
          <p:cNvSpPr/>
          <p:nvPr/>
        </p:nvSpPr>
        <p:spPr>
          <a:xfrm>
            <a:off x="910907" y="720224"/>
            <a:ext cx="10098153" cy="44012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קיימות גם אפשרויות נוספות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ששימוש בהם נוח ללמוד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בדו-שיח עם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AI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או ללמוד ממסמכי פיתוח,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או מדוגמאות ברשת,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או ממורה,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או מחברים...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42D1F7-E622-E260-4820-22C5777C1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18791E-9466-1BA4-29FE-B7F8A4770B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45255-0A0E-EB0F-1735-7EB7206E3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016D2EAC-7D63-6E0C-47BB-B35D9552663E}"/>
              </a:ext>
            </a:extLst>
          </p:cNvPr>
          <p:cNvSpPr/>
          <p:nvPr/>
        </p:nvSpPr>
        <p:spPr>
          <a:xfrm>
            <a:off x="910907" y="720224"/>
            <a:ext cx="10098153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בגרסאות אחרונות של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Android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באופן אוטומטי מסתירים</a:t>
            </a:r>
          </a:p>
          <a:p>
            <a:pPr algn="ctr" rtl="1"/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ActionBar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וקיימות כמה דרכים להחזירו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B3492B-255C-5C46-8627-2D94CEA9A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B52FE9-E391-210D-0DC9-9B6654A8C0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530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0103A-16E2-35B0-B947-B8E88716A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839925-68FF-EF0B-8FBA-139046990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B93DFC-1075-0DAB-14D5-4EC4E64C29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EFC675-5D15-2A42-4092-8E8082170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6464" y="1238060"/>
            <a:ext cx="4274233" cy="53896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8BAD165-2090-6A63-D3DA-3FDBACB3062E}"/>
                  </a:ext>
                </a:extLst>
              </p14:cNvPr>
              <p14:cNvContentPartPr/>
              <p14:nvPr/>
            </p14:nvContentPartPr>
            <p14:xfrm>
              <a:off x="1632217" y="1425604"/>
              <a:ext cx="118044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8BAD165-2090-6A63-D3DA-3FDBACB3062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78217" y="1317964"/>
                <a:ext cx="12880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416A92E-E431-EAF7-7305-DAF11D842094}"/>
                  </a:ext>
                </a:extLst>
              </p14:cNvPr>
              <p14:cNvContentPartPr/>
              <p14:nvPr/>
            </p14:nvContentPartPr>
            <p14:xfrm>
              <a:off x="2113537" y="5614204"/>
              <a:ext cx="1544040" cy="396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416A92E-E431-EAF7-7305-DAF11D84209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59897" y="5506204"/>
                <a:ext cx="165168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5344A8D-5208-3A74-1A2D-3555C98396DF}"/>
                  </a:ext>
                </a:extLst>
              </p14:cNvPr>
              <p14:cNvContentPartPr/>
              <p14:nvPr/>
            </p14:nvContentPartPr>
            <p14:xfrm>
              <a:off x="2555977" y="5889244"/>
              <a:ext cx="1357200" cy="104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5344A8D-5208-3A74-1A2D-3555C98396D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01977" y="5781244"/>
                <a:ext cx="1464840" cy="22608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C7156A54-EDA7-4EE7-03AA-22A81F7E458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14974" y="2613226"/>
            <a:ext cx="8900931" cy="181371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9D82F4E-CE6A-9EAC-65E5-532C12D65671}"/>
                  </a:ext>
                </a:extLst>
              </p14:cNvPr>
              <p14:cNvContentPartPr/>
              <p14:nvPr/>
            </p14:nvContentPartPr>
            <p14:xfrm>
              <a:off x="11130097" y="3539412"/>
              <a:ext cx="964080" cy="7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9D82F4E-CE6A-9EAC-65E5-532C12D6567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076097" y="3323412"/>
                <a:ext cx="1071720" cy="4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6614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FF04C-A8CC-9783-95AF-2CA4F240E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800F20D6-B802-5FBB-A015-2DC1570838B4}"/>
              </a:ext>
            </a:extLst>
          </p:cNvPr>
          <p:cNvSpPr/>
          <p:nvPr/>
        </p:nvSpPr>
        <p:spPr>
          <a:xfrm>
            <a:off x="910907" y="720224"/>
            <a:ext cx="10098153" cy="50167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בכל אקטיביטי שבה רוצים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להשתמש ב-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options menu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צריכים לחזור על אותן 2 פעולות.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כמובן שזה יותר "שכפול קוד"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שזה לא רצוי מבחינת התכנות המקצועית,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אבל "לא ממש חשוב"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בפרויקט לבגרות.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227359-C1C3-CA5F-889F-43D840EE5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2C4B9D-DCF8-BCD5-B54B-FAB371E244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731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297D6-38B6-8D50-5321-9A0E876F7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FBBF2358-06C0-D1A9-C8EF-A1B0AFCBA311}"/>
              </a:ext>
            </a:extLst>
          </p:cNvPr>
          <p:cNvSpPr/>
          <p:nvPr/>
        </p:nvSpPr>
        <p:spPr>
          <a:xfrm>
            <a:off x="1046923" y="1561441"/>
            <a:ext cx="10098153" cy="31700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אפשר להראות לתלמידים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אפשרות לצור "מחלקת אב"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עבור תפריט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ושימוש בה במחלקות אחרות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כדי להימנע מ"שכפול קוד"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C9B8E5-86B3-C7BE-C93E-0B60BDD5F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528D5C-4929-9B93-63C2-154E6F625F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984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77DE5-7503-FE80-312F-A23423483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8BC0F0DF-0EB5-5399-1DE0-7204FE431E90}"/>
              </a:ext>
            </a:extLst>
          </p:cNvPr>
          <p:cNvSpPr/>
          <p:nvPr/>
        </p:nvSpPr>
        <p:spPr>
          <a:xfrm>
            <a:off x="792919" y="710950"/>
            <a:ext cx="10098153" cy="50167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שכפול הקוד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לעבודה עם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OptionsMenu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בכל פעילות אינו רק לא נוח,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אלא גם סותר את העקרונות של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DRY (Don't Repeat Yourself)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. 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דרך מצוינת לתקן זאת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היא ליצור מחלקת פעילות בסיסית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המגדירה שיטות נפוצות.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4E45AE-74D0-E856-083C-F5A03DF36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BE436F-3317-F2F1-E559-118C7ADB6E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90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2BB45-9C2E-C9DC-093A-18E20B086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140B03DE-9D53-1ED5-A6B3-EA0A8870802C}"/>
              </a:ext>
            </a:extLst>
          </p:cNvPr>
          <p:cNvSpPr/>
          <p:nvPr/>
        </p:nvSpPr>
        <p:spPr>
          <a:xfrm>
            <a:off x="910907" y="720224"/>
            <a:ext cx="10098153" cy="563231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סוג נוסף נוח ושימוש לתפריט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הוא "תפריט קופץ"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popup menu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</a:t>
            </a:r>
          </a:p>
          <a:p>
            <a:pPr algn="ctr" rtl="1"/>
            <a:endParaRPr lang="ru-RU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לכל אחד משתי סוגים האלה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יש יתרונות וחסרונות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וגם "התאמות" שונות: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שווה לבקש מ-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AI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"טבלת השוואות"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5CD548-E42D-6FD3-0EB1-8629142E1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C0406C-B448-30D5-3BE3-9FD3526517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286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B4789-7694-6DBC-7795-332B2C2B6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AC42C801-1572-9EA4-910E-E246C29C7FA1}"/>
              </a:ext>
            </a:extLst>
          </p:cNvPr>
          <p:cNvSpPr/>
          <p:nvPr/>
        </p:nvSpPr>
        <p:spPr>
          <a:xfrm>
            <a:off x="910907" y="720224"/>
            <a:ext cx="10098153" cy="44012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בשנים אחרונות התווספו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ל"משפחת תפריטים"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מספר אפשרויות,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שקבלו שימוש רב באפליקציות מקצועיות.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גם תלמידים בפרויקטים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די הרבה משתמשים באפשרויות האלה.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CA833C-9583-A7F3-6711-8B3487713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2DD546-2BB0-8FEB-CFA7-B6DC468F7D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6430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4411</TotalTime>
  <Words>359</Words>
  <Application>Microsoft Office PowerPoint</Application>
  <PresentationFormat>Widescreen</PresentationFormat>
  <Paragraphs>91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Georgia Pro Black</vt:lpstr>
      <vt:lpstr>Segoe UI Semibold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493</cp:revision>
  <dcterms:created xsi:type="dcterms:W3CDTF">2019-01-05T16:01:25Z</dcterms:created>
  <dcterms:modified xsi:type="dcterms:W3CDTF">2025-04-20T14:25:39Z</dcterms:modified>
</cp:coreProperties>
</file>