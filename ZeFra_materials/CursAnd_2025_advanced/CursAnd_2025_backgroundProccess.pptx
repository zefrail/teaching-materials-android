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73" r:id="rId3"/>
    <p:sldId id="481" r:id="rId4"/>
    <p:sldId id="482" r:id="rId5"/>
    <p:sldId id="483" r:id="rId6"/>
    <p:sldId id="484" r:id="rId7"/>
    <p:sldId id="485" r:id="rId8"/>
    <p:sldId id="486" r:id="rId9"/>
    <p:sldId id="487" r:id="rId10"/>
    <p:sldId id="488" r:id="rId11"/>
    <p:sldId id="489" r:id="rId12"/>
    <p:sldId id="490" r:id="rId13"/>
    <p:sldId id="491" r:id="rId14"/>
    <p:sldId id="492" r:id="rId15"/>
    <p:sldId id="499" r:id="rId16"/>
    <p:sldId id="494" r:id="rId17"/>
    <p:sldId id="495" r:id="rId18"/>
    <p:sldId id="496" r:id="rId19"/>
    <p:sldId id="497" r:id="rId20"/>
    <p:sldId id="49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9T10:27:29.6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1,'534'16,"207"-3,-489-15,-44 0,241 4,-373 6,-1 3,92 25,23 4,105 2,21 3,-176-25,174 1,148-22,-181-2,8 2,376 4,-3 37,-605-34,433 41,11-32,-75-17,-253 2,-136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9T10:27:34.9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1 331,'0'1,"0"-1,1 1,-1 0,0-1,1 1,-1-1,1 1,-1 0,0-1,1 1,-1-1,1 1,0-1,-1 0,1 1,-1-1,1 0,0 1,-1-1,1 0,0 0,-1 1,1-1,1 0,21 5,-21-4,37 2,0-1,0-1,0-3,50-7,-36 3,595-28,3 33,-295 3,-165-15,-94 3,63-4,199-43,-209 29,172-11,-10 34,-185 7,123-1,340-3,-556 3,1-3,-1-1,0-1,0-2,-1-1,51-18,-61 17,1 0,0 2,0 0,0 2,33-2,126 5,-109 2,1651 2,-1009-3,4 29,-2 40,704 1,-151-75,-1111 5,-103-1,-31 0,1 1,-1 0,0 2,46 10,-60-6,-13-1,-21 6,22-11,-51 17,-1-3,-1-1,0-3,-63 3,-224-1,302-12,-1089-4,222-54,4-56,734 90,-370-64,465 78,0 2,-1 4,-111 7,46 0,4-4,-123 3,142 13,35-3,-80 13,144-22,0 1,0 0,1 2,-1-1,1 2,-23 13,12-5,1 2,-36 31,57-41,17-10,36-17,-12 5,-2 5,0 2,1 1,0 2,0 2,38 0,-47 2,1006-7,-687 10,319-1,1207-1,-1561-5,-273 4,459-32,-330-4,-113 22,79-10,449 3,-476 22,877 2,-950-2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jpg"/><Relationship Id="rId7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customXml" Target="../ink/ink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1715561" y="2544667"/>
            <a:ext cx="978344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Background Process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6788B-3737-3937-ACC4-FA8F8A59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FD018D-ED0B-B4B7-00CD-59F39FA58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066C4-2929-B804-C1E4-C24EEFB6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49171B52-B63B-F96D-58D4-ACC19F3CAFA5}"/>
              </a:ext>
            </a:extLst>
          </p:cNvPr>
          <p:cNvSpPr/>
          <p:nvPr/>
        </p:nvSpPr>
        <p:spPr>
          <a:xfrm>
            <a:off x="910907" y="720224"/>
            <a:ext cx="10098153" cy="563231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תהליך/"זרם"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הוא סדרת ביצועים המתקיימים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בזמן שימוש באפליקציה.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תמיד קיים באפליקציה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"זרם ראשי" שהוא "זרם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UI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"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המאפשר למשתמש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לבציע פעילויות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ע"י שימוש לרכיבים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72784-C2E0-2323-1F17-F74C07C2D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9EAD51-BFF4-0552-92B8-B74A0CAF0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3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74422-42AD-1AAE-51A4-226A6D0F6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517F900E-D68D-09F9-B792-847DD0087FC8}"/>
              </a:ext>
            </a:extLst>
          </p:cNvPr>
          <p:cNvSpPr/>
          <p:nvPr/>
        </p:nvSpPr>
        <p:spPr>
          <a:xfrm>
            <a:off x="1046923" y="798883"/>
            <a:ext cx="10098153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כתגובה על פעילויות המשתמש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באפליקציה מתבצעים פקודות ופעולות.</a:t>
            </a:r>
          </a:p>
          <a:p>
            <a:pPr algn="ctr" rtl="1"/>
            <a:endParaRPr lang="he-IL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אם חלק מהן צריכות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"יותר מידי זמן" לביצוע,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זה עלול לגרום ל"צרות"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ואפילו לסגירת אפליקציה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ע"י מערכת אנדרואיד</a:t>
            </a:r>
            <a:endParaRPr lang="he-IL" sz="2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B047BF-ABE9-2106-E685-70C5C7819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178502-A8FF-B004-7D39-46EF8C714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0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F3137-774C-C0FF-9B82-124DE8E76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0B787BB3-8E4D-22B2-2DBA-46EC4F8D7E24}"/>
              </a:ext>
            </a:extLst>
          </p:cNvPr>
          <p:cNvSpPr/>
          <p:nvPr/>
        </p:nvSpPr>
        <p:spPr>
          <a:xfrm>
            <a:off x="1046923" y="1536174"/>
            <a:ext cx="10098153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כדי להימנע מסגירה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ותופעות "מזיקות" אחרות,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יש אפשרות להעביר חלק מפעילות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לתהליך/"זרם" נוסף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המתבצע במקביל לזרם ראשי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(ברקע לזר הראשי)</a:t>
            </a:r>
            <a:endParaRPr lang="he-IL" sz="2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745C7F-8953-B502-AE75-F82DDC865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0D9035-E515-0245-0CB3-AFEC409CE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833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C09AD-1D70-41D7-E440-E25D78DAE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EC84EA34-B21E-FFB4-CBBF-DB3AC7A00BD5}"/>
              </a:ext>
            </a:extLst>
          </p:cNvPr>
          <p:cNvSpPr/>
          <p:nvPr/>
        </p:nvSpPr>
        <p:spPr>
          <a:xfrm>
            <a:off x="1046923" y="798883"/>
            <a:ext cx="10098153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תהליך רקע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background process</a:t>
            </a:r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יוצר סדרת פעילויות המתבצעת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בלי קשר לפעילויות בזרם ראשי.</a:t>
            </a:r>
          </a:p>
          <a:p>
            <a:pPr algn="ctr" rtl="1"/>
            <a:endParaRPr lang="he-IL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לכן לתהליך רקע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אין אפשרות לגשת ל-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UI</a:t>
            </a:r>
            <a:endParaRPr lang="he-IL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(באופן ישיר לפחות).</a:t>
            </a:r>
            <a:endParaRPr lang="he-IL" sz="2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02ED62-2EE3-8B68-4769-43251FFD2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D23B15-1A25-3654-E308-1530693E9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364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2AF7C-37F0-0668-CDFF-B89609E61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29A72FFA-84EA-47F3-E8A5-C0E71A4F82BF}"/>
              </a:ext>
            </a:extLst>
          </p:cNvPr>
          <p:cNvSpPr/>
          <p:nvPr/>
        </p:nvSpPr>
        <p:spPr>
          <a:xfrm>
            <a:off x="1046923" y="798883"/>
            <a:ext cx="10098153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Service</a:t>
            </a:r>
            <a:endParaRPr lang="ru-RU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/>
            <a:r>
              <a:rPr lang="ru-RU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</a:t>
            </a:r>
            <a: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Foreground Service</a:t>
            </a:r>
            <a:r>
              <a:rPr lang="ru-RU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, </a:t>
            </a:r>
            <a: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Background Service</a:t>
            </a:r>
            <a:r>
              <a:rPr lang="ru-RU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, </a:t>
            </a:r>
            <a: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Bound Service</a:t>
            </a:r>
            <a:r>
              <a:rPr lang="ru-RU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  <a:endParaRPr lang="en-US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JobScheduler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Thread</a:t>
            </a:r>
          </a:p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Handler</a:t>
            </a:r>
          </a:p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WorkManager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AlarmManager</a:t>
            </a:r>
            <a:endParaRPr lang="he-IL" sz="2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142B3F-0685-95EC-CE4E-482BC4783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73226B-2B8D-63F4-7A43-DC444F54B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040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A01F8-7590-7A56-5F88-09582C16E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1A8AA3-370C-A63A-8F6E-4B8BCD628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B7ED36-0D2D-7E24-5E4B-48CC14766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DBC3FF-93C3-2DC8-1ADB-EDC5DD0A1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8271" y="229999"/>
            <a:ext cx="5592635" cy="650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04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98B4B-71D4-FECD-1CFB-B966AB162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32FB0F-DDB0-C459-02F0-64F9FFAAF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B8344F-4936-D74F-B524-3FE973E25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ED3E94-9A7E-95B2-0BF4-E4D13AAFE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8345" y="266159"/>
            <a:ext cx="5559980" cy="632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461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783A9-EE2F-AC79-A76C-241036222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BAE248-7DAC-7DFE-B334-78B0032A3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5E986C-8EB9-2463-14D1-244824448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85D74A-4534-CC23-2B40-0152DECC2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113" y="190622"/>
            <a:ext cx="6479398" cy="627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74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8D820-359A-C2C9-5F38-B94DC1E5B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59ACED-6FD0-05DD-6BE8-1D24DDB27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8E9C13-5F8B-05FB-6069-1D96086D7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2EB2BD-BAB8-1689-851A-889D9174D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9799" y="95040"/>
            <a:ext cx="4054833" cy="642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187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AAEC1-BFC5-1220-306C-A24818BC2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9D0EDE-CB60-6CE9-216B-9E0A5803B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4BBA85-41AD-4E18-FE61-1FAB909D4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A77EA0-3C52-4ECB-862E-DB455C9A0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737" y="164745"/>
            <a:ext cx="5006857" cy="647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901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7FC00-8D84-4518-5E68-AA684CBF0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A2F7C1-4FBB-6373-DB84-DA06907D0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0D87FC-4DB2-DA2D-0D0D-E6D5858C40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2B7CE8-3EFB-FDE3-FCA7-64CBA69AC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3814" y="218941"/>
            <a:ext cx="4247295" cy="644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252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824A6-B6FF-9983-40D2-417946A52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39972D-6E5C-7AD3-BC4E-8D2378C94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F521B8-0048-5E42-E4A7-2BC83B0A1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E529C6-FDAE-CB2E-5517-78668C865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699" y="259391"/>
            <a:ext cx="5325814" cy="624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036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EB218-9CB9-E425-53D0-D2FA8AD50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6E2405-DAC3-930C-51ED-7C88599AF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C6EDF5-6836-CAC8-5352-7642754B2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63AB44-3525-95F5-B7D4-31A129A71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5652" y="192164"/>
            <a:ext cx="4862438" cy="627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78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B1FCE-4737-A598-0764-6C53BA054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7416B392-605C-B7CD-A5E1-56468F6FF9D2}"/>
              </a:ext>
            </a:extLst>
          </p:cNvPr>
          <p:cNvSpPr/>
          <p:nvPr/>
        </p:nvSpPr>
        <p:spPr>
          <a:xfrm>
            <a:off x="4826990" y="2544667"/>
            <a:ext cx="3560590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Thread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FB2835-3BAC-4DE6-3840-FEB19E1C3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C47329-7710-7168-B530-05464D351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40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73A6E-2AA9-9B0D-CBCE-F77E199D4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212F6B-EF3B-CC3B-FE01-BFCB4D68D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F3B865-242D-3A12-6CA1-A61201708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DF135D-C1B5-9CDF-4EEA-447453981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818" y="801790"/>
            <a:ext cx="7937238" cy="44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879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BDD5E-4894-B062-F4F3-C1C99A018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C598FE-4B9B-1A9C-D283-9B3C9268E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65B076-8E75-F232-C836-6665F6DEC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8D7D16-F901-440B-BE4C-8A48250B8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2079" y="1312908"/>
            <a:ext cx="5787841" cy="5368432"/>
          </a:xfrm>
          <a:prstGeom prst="rect">
            <a:avLst/>
          </a:prstGeom>
        </p:spPr>
      </p:pic>
      <p:sp>
        <p:nvSpPr>
          <p:cNvPr id="11" name="מלבן 8">
            <a:extLst>
              <a:ext uri="{FF2B5EF4-FFF2-40B4-BE49-F238E27FC236}">
                <a16:creationId xmlns:a16="http://schemas.microsoft.com/office/drawing/2014/main" id="{05462956-1086-2A45-169F-4B8104DCD5D3}"/>
              </a:ext>
            </a:extLst>
          </p:cNvPr>
          <p:cNvSpPr/>
          <p:nvPr/>
        </p:nvSpPr>
        <p:spPr>
          <a:xfrm>
            <a:off x="1833715" y="57106"/>
            <a:ext cx="852456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לצור מחלקה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ולהשתמש בה</a:t>
            </a:r>
            <a:endParaRPr lang="he-IL" sz="2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15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D9951-0312-CA4F-34D3-0D073E51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1F83366E-E037-E657-122D-BB0DA29FF832}"/>
              </a:ext>
            </a:extLst>
          </p:cNvPr>
          <p:cNvSpPr/>
          <p:nvPr/>
        </p:nvSpPr>
        <p:spPr>
          <a:xfrm>
            <a:off x="1046923" y="798883"/>
            <a:ext cx="100981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לצור שימוש חד-פעמי</a:t>
            </a:r>
            <a:endParaRPr lang="he-IL" sz="2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CEF3C9-5713-373A-5540-43DF4AA66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D3C6D8-5563-72BB-5BD1-CD416BABB9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12AF6B-1BE2-79F0-2325-E64193135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711" y="1364795"/>
            <a:ext cx="5965302" cy="5373871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6E2AE24D-74FF-813F-102A-8808770854A9}"/>
              </a:ext>
            </a:extLst>
          </p:cNvPr>
          <p:cNvSpPr/>
          <p:nvPr/>
        </p:nvSpPr>
        <p:spPr>
          <a:xfrm>
            <a:off x="6243484" y="2143433"/>
            <a:ext cx="5098024" cy="894736"/>
          </a:xfrm>
          <a:prstGeom prst="wedgeRoundRectCallout">
            <a:avLst>
              <a:gd name="adj1" fmla="val -108393"/>
              <a:gd name="adj2" fmla="val 4491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800" b="1" dirty="0"/>
              <a:t>קוד שצריך לבצע ברקע</a:t>
            </a:r>
            <a:endParaRPr lang="en-US" sz="2800" b="1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454DB380-9073-2A0B-B75A-59235A4735FC}"/>
              </a:ext>
            </a:extLst>
          </p:cNvPr>
          <p:cNvSpPr/>
          <p:nvPr/>
        </p:nvSpPr>
        <p:spPr>
          <a:xfrm>
            <a:off x="6661355" y="4441049"/>
            <a:ext cx="5098024" cy="894736"/>
          </a:xfrm>
          <a:prstGeom prst="wedgeRoundRectCallout">
            <a:avLst>
              <a:gd name="adj1" fmla="val -104536"/>
              <a:gd name="adj2" fmla="val -1881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800" b="1" dirty="0"/>
              <a:t>קוד שאפשר להציג ב-</a:t>
            </a:r>
            <a:r>
              <a:rPr lang="en-US" sz="2800" b="1" dirty="0"/>
              <a:t>UI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023A9CB-DAA0-507F-7D1A-0C08B2587978}"/>
                  </a:ext>
                </a:extLst>
              </p14:cNvPr>
              <p14:cNvContentPartPr/>
              <p14:nvPr/>
            </p14:nvContentPartPr>
            <p14:xfrm>
              <a:off x="1897537" y="2516764"/>
              <a:ext cx="2808360" cy="128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023A9CB-DAA0-507F-7D1A-0C08B25879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43537" y="2409124"/>
                <a:ext cx="291600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9A414B0-2FAC-9B28-A231-D1E992581AB7}"/>
                  </a:ext>
                </a:extLst>
              </p14:cNvPr>
              <p14:cNvContentPartPr/>
              <p14:nvPr/>
            </p14:nvContentPartPr>
            <p14:xfrm>
              <a:off x="2349697" y="3371404"/>
              <a:ext cx="4878720" cy="127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9A414B0-2FAC-9B28-A231-D1E992581AB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96057" y="3263764"/>
                <a:ext cx="4986360" cy="34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9130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4DB7A-5D7B-83AE-C3AC-B821627B2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5D1CF60B-87A0-052B-0907-DA343CFF76F8}"/>
              </a:ext>
            </a:extLst>
          </p:cNvPr>
          <p:cNvSpPr/>
          <p:nvPr/>
        </p:nvSpPr>
        <p:spPr>
          <a:xfrm>
            <a:off x="1046923" y="1561441"/>
            <a:ext cx="10098153" cy="40934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ב-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Java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המחלקה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Thread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מספקת מספר פעולות תקן</a:t>
            </a:r>
          </a:p>
          <a:p>
            <a:pPr algn="ctr" rtl="1"/>
            <a:endParaRPr lang="he-IL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/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run( )</a:t>
            </a:r>
          </a:p>
          <a:p>
            <a:pPr algn="ctr"/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Join( )</a:t>
            </a:r>
          </a:p>
          <a:p>
            <a:pPr algn="ctr"/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interrupt( )</a:t>
            </a:r>
          </a:p>
          <a:p>
            <a:pPr algn="ctr"/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isInterrupted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 )</a:t>
            </a:r>
          </a:p>
          <a:p>
            <a:pPr algn="ctr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ועוד...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52F5EC-D81A-B7C0-CD92-E2F40C91A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2E3F4C-2987-8F93-65C5-69412CC3E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875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96E21-8028-183B-1334-1EDB4186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D85B3D71-BCFB-678D-854C-9CFC0D2089AE}"/>
              </a:ext>
            </a:extLst>
          </p:cNvPr>
          <p:cNvSpPr/>
          <p:nvPr/>
        </p:nvSpPr>
        <p:spPr>
          <a:xfrm>
            <a:off x="1046923" y="798883"/>
            <a:ext cx="100981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תה</a:t>
            </a:r>
            <a:endParaRPr lang="he-IL" sz="2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9BC6A7-EBA9-6589-7B5C-069675BE4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53FB14-0B5F-3502-6627-4C7E83683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9473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3009</TotalTime>
  <Words>180</Words>
  <Application>Microsoft Office PowerPoint</Application>
  <PresentationFormat>Widescreen</PresentationFormat>
  <Paragraphs>55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Cambria</vt:lpstr>
      <vt:lpstr>Georgia Pro Black</vt:lpstr>
      <vt:lpstr>Segoe UI Semibold</vt:lpstr>
      <vt:lpstr>Times New Roman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461</cp:revision>
  <dcterms:created xsi:type="dcterms:W3CDTF">2019-01-05T16:01:25Z</dcterms:created>
  <dcterms:modified xsi:type="dcterms:W3CDTF">2025-03-19T11:49:24Z</dcterms:modified>
</cp:coreProperties>
</file>