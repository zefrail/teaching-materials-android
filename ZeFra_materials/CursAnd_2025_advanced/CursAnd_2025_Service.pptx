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66" r:id="rId3"/>
    <p:sldId id="473" r:id="rId4"/>
    <p:sldId id="467" r:id="rId5"/>
    <p:sldId id="468" r:id="rId6"/>
    <p:sldId id="469" r:id="rId7"/>
    <p:sldId id="470" r:id="rId8"/>
    <p:sldId id="471" r:id="rId9"/>
    <p:sldId id="4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06:07:02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57,'-2'-1,"1"0,0 0,0 0,0 0,0 0,0 0,0 0,0-1,0 1,1 0,-1-1,0 1,1-1,-1 1,1-1,-1 1,1-1,0 1,0-1,-1 1,2-3,-1 3,1 0,-1 0,1 0,0 0,-1 0,1 0,0 0,0 0,0 0,0 0,0 1,0-1,0 0,0 1,0-1,0 0,0 1,1-1,-1 1,1-1,9-1,0 0,1 0,-1 1,15 0,544 1,-232 2,263-2,-578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06:07:05.2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0 116,'7'-6,"0"1,0-1,0 1,1 1,0-1,0 1,0 0,0 1,15-4,7 0,45-5,-42 8,36-4,-29 3,45-9,-44 7,-1 2,1 2,0 2,48 4,2 0,1192-3,-1260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06:07:07.6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1,'1585'0,"-1577"-1,0 2,0-1,0 1,9 3,1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06:07:10.1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2,'38'0,"-13"-1,1 0,-1 2,0 1,1 1,-1 1,0 1,32 12,-34-10,0 0,0-1,29 4,-23-6,41 13,-38-8,39 6,-44-10,0 0,42 16,-26-7,1-2,87 12,-84-19,1-2,66-5,53 2,-130 5,63 17,-70-14,1-1,0-2,41 3,-60-8,111 7,-106-5,0 1,0 1,0 1,-1 0,18 9,3 0,1-1,0-3,1 0,78 7,-4-1,-66-10,0-1,53-3,27 1,-46 12,-58-10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06:08:25.6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0,'14'0,"0"1,0 1,0 0,0 0,0 1,-1 1,23 9,-5-1,1-1,0-2,0-1,1-2,0-1,0-1,46-2,662-4,-443 3,-271 0,0 2,32 7,-30-5,46 4,320-9,-189-1,-175 3,-1 1,38 8,-5 0,-37-5,1 0,-1 2,-1 1,1 1,27 15,-13-12,-21-9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1T06:16:07.5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1 354,'7'5,"0"-1,0 0,1 0,0-1,0 0,0 0,0-1,16 3,-2-1,7 4,263 60,-167-43,136 20,19-5,-1 1,-194-32,330 19,2167-29,-2559-1,0 0,34-8,30-3,34-4,-51 6,-39 5,0-2,47-17,1-1,-68 23,-8 3,1-1,-1 0,1 0,-1 0,1 0,-1-1,1 1,-1-1,0 0,0 0,0 0,0 0,3-3,-6 4,0 1,0-1,0 1,0-1,0 1,0-1,0 1,0-1,-1 1,1-1,0 1,0 0,0-1,0 1,-1-1,1 1,0-1,0 1,-1 0,1-1,0 1,-1 0,1-1,0 1,-1 0,1-1,-1 1,1 0,-1 0,1-1,0 1,-1 0,1 0,-1 0,1 0,-1 0,1 0,-1 0,0 0,-28-9,21 7,-16-5,-1 1,0 2,0 0,-27 0,-106 5,58 2,46-2,35 1,-1-1,1-1,-1-1,1-1,-1 0,1-1,-27-9,23 3,-1 2,-1 0,0 2,1 0,-28 0,-127 3,107 3,22-3,-60-10,-42-2,-794 14,418 1,498-3,-1-2,1-1,0-1,-53-19,55 16,-15-1,0 1,-1 2,1 3,-1 1,-65 4,90-2,1-1,-1-1,1 0,0-1,-26-10,25 7,-1 1,0 1,0 1,-27-2,27 4,-1 0,1-2,0 0,0-1,0-1,1-1,-31-16,15 10,1 1,-1 2,-1 1,-50-5,33 5,-52-15,68 11,-38-20,-30-10,99 41,1 0,-1 1,0 0,1 0,-1 0,0 0,0 1,1 0,-1 0,0 0,0 1,1 0,-1 0,0 1,1 0,-1-1,1 2,0-1,-1 1,1 0,1 0,-1 0,0 0,1 1,-1 0,1 0,0 0,0 1,-3 5,-17 16,-1 0,-1-2,-54 39,63-48,4-2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ט"ז/שבט/תשפ"ה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jpg"/><Relationship Id="rId7" Type="http://schemas.openxmlformats.org/officeDocument/2006/relationships/customXml" Target="../ink/ink2.xml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customXml" Target="../ink/ink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customXml" Target="../ink/ink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4205819" y="2399552"/>
            <a:ext cx="362631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Service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243355" y="710950"/>
            <a:ext cx="10098153" cy="58169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הוא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מחלקה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אשר מתבצעת ברקע ל"זרם ראשי"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אבל היא שונה מ"תהליכי רקע"</a:t>
            </a:r>
            <a:r>
              <a:rPr lang="ru-RU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</a:t>
            </a:r>
          </a:p>
          <a:p>
            <a:pPr algn="ctr" rtl="1"/>
            <a:endParaRPr lang="ru-RU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just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מערכת עוקבת אחר מצב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</a:t>
            </a:r>
          </a:p>
          <a:p>
            <a:pPr marL="571500" indent="-571500" algn="just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תהליך רקע אינו נשלט על ידי המערכת ועשוי להסתיים ללא אזהרה.</a:t>
            </a:r>
          </a:p>
          <a:p>
            <a:pPr marL="571500" indent="-571500" algn="just" rtl="1">
              <a:buFont typeface="Arial" panose="020B0604020202020204" pitchFamily="34" charset="0"/>
              <a:buChar char="•"/>
            </a:pP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571500" indent="-571500" algn="just" rtl="1">
              <a:buFont typeface="Arial" panose="020B0604020202020204" pitchFamily="34" charset="0"/>
              <a:buChar char="•"/>
            </a:pP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יכול לחיות זמן רב יותר גם אם האפליקציה ממוזערת.</a:t>
            </a:r>
          </a:p>
          <a:p>
            <a:pPr marL="571500" indent="-571500" algn="just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תהליך רקע "מת" כאשר </a:t>
            </a:r>
            <a:r>
              <a:rPr lang="he-IL" sz="28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האקטיביטי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נסגרת.</a:t>
            </a:r>
          </a:p>
          <a:p>
            <a:pPr marL="571500" indent="-571500" algn="just" rtl="1">
              <a:buFont typeface="Arial" panose="020B0604020202020204" pitchFamily="34" charset="0"/>
              <a:buChar char="•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Service-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יש עדיפות גבוהה יותר מתהליך רקע רגיל.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7EA366-F25C-8D7A-C56D-E076E7B9D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67D8A-E27D-072A-F6AD-D56A0C9AA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90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66C4-2929-B804-C1E4-C24EEFB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9171B52-B63B-F96D-58D4-ACC19F3CAFA5}"/>
              </a:ext>
            </a:extLst>
          </p:cNvPr>
          <p:cNvSpPr/>
          <p:nvPr/>
        </p:nvSpPr>
        <p:spPr>
          <a:xfrm>
            <a:off x="1243355" y="710950"/>
            <a:ext cx="10098153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חשוב מאוד(!):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אין גישה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ל-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UI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(ממשק המשתמש)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אם רוצים בכל מקרה להציג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אז צריך לחפש</a:t>
            </a:r>
          </a:p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"דרך עוקף שירות"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72784-C2E0-2323-1F17-F74C07C2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EAD51-BFF4-0552-92B8-B74A0CAF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C630-E925-6D9E-6F57-5900170F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F449FD75-97DE-A58B-7882-176079BF058B}"/>
              </a:ext>
            </a:extLst>
          </p:cNvPr>
          <p:cNvSpPr/>
          <p:nvPr/>
        </p:nvSpPr>
        <p:spPr>
          <a:xfrm>
            <a:off x="1243355" y="71095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מומלץ לצור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כך שהוא יירשם 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AndroidManifest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1C4E6-0784-C482-FE99-167E17A69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7A974C-146D-B2A3-51DC-FF3676861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1F2117-4918-31A2-DCDE-EF4B52374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066" y="2238508"/>
            <a:ext cx="7709868" cy="44325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128AFD-C5A2-EE54-C8D9-9825EC09F9DE}"/>
                  </a:ext>
                </a:extLst>
              </p14:cNvPr>
              <p14:cNvContentPartPr/>
              <p14:nvPr/>
            </p14:nvContentPartPr>
            <p14:xfrm>
              <a:off x="2403337" y="3155044"/>
              <a:ext cx="585000" cy="20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128AFD-C5A2-EE54-C8D9-9825EC09F9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9337" y="3047404"/>
                <a:ext cx="6926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E47E3F-3F7E-4908-28DE-B68FA78F80BD}"/>
                  </a:ext>
                </a:extLst>
              </p14:cNvPr>
              <p14:cNvContentPartPr/>
              <p14:nvPr/>
            </p14:nvContentPartPr>
            <p14:xfrm>
              <a:off x="3392257" y="2583364"/>
              <a:ext cx="746280" cy="41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E47E3F-3F7E-4908-28DE-B68FA78F80B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38257" y="2475724"/>
                <a:ext cx="8539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DF30308-3175-405D-B5D1-6BA08315556B}"/>
                  </a:ext>
                </a:extLst>
              </p14:cNvPr>
              <p14:cNvContentPartPr/>
              <p14:nvPr/>
            </p14:nvContentPartPr>
            <p14:xfrm>
              <a:off x="5811097" y="6243124"/>
              <a:ext cx="595080" cy="4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DF30308-3175-405D-B5D1-6BA08315556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57097" y="6135124"/>
                <a:ext cx="7027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0E26B1D-F089-3712-728D-15727E9E562F}"/>
                  </a:ext>
                </a:extLst>
              </p14:cNvPr>
              <p14:cNvContentPartPr/>
              <p14:nvPr/>
            </p14:nvContentPartPr>
            <p14:xfrm>
              <a:off x="8249017" y="6134764"/>
              <a:ext cx="962640" cy="1461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0E26B1D-F089-3712-728D-15727E9E562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95377" y="6026764"/>
                <a:ext cx="1070280" cy="36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649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1CA3C-8BD0-CB1A-9669-003154C9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7FA7C608-9F31-59CF-A1FD-A2F456E1C430}"/>
              </a:ext>
            </a:extLst>
          </p:cNvPr>
          <p:cNvSpPr/>
          <p:nvPr/>
        </p:nvSpPr>
        <p:spPr>
          <a:xfrm>
            <a:off x="1243355" y="71095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מומלץ לצור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כך שהוא יירשם 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AndroidManifest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47DEF1-1BB9-B81F-58C6-6D0C615EC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2ABBBF-A459-E7AE-D3D9-4B9FB161F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1DF622-DEBF-45F8-3169-C738FED5D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5" y="2233647"/>
            <a:ext cx="6568112" cy="47423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C039837-9D08-1299-BBFA-26F67CC8BC9F}"/>
                  </a:ext>
                </a:extLst>
              </p14:cNvPr>
              <p14:cNvContentPartPr/>
              <p14:nvPr/>
            </p14:nvContentPartPr>
            <p14:xfrm>
              <a:off x="3510337" y="3510004"/>
              <a:ext cx="982800" cy="78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C039837-9D08-1299-BBFA-26F67CC8BC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56337" y="3402004"/>
                <a:ext cx="1090440" cy="2941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962E10D8-9388-C1FA-6A15-A17CD6FFFEC9}"/>
              </a:ext>
            </a:extLst>
          </p:cNvPr>
          <p:cNvSpPr/>
          <p:nvPr/>
        </p:nvSpPr>
        <p:spPr>
          <a:xfrm>
            <a:off x="7541342" y="3601424"/>
            <a:ext cx="2222091" cy="944756"/>
          </a:xfrm>
          <a:prstGeom prst="wedgeRoundRectCallout">
            <a:avLst>
              <a:gd name="adj1" fmla="val -181010"/>
              <a:gd name="adj2" fmla="val -5510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b="1" dirty="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יש לרשום</a:t>
            </a:r>
          </a:p>
          <a:p>
            <a:pPr algn="ctr"/>
            <a:r>
              <a:rPr lang="he-IL" sz="2400" b="1" dirty="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שם המחלקה</a:t>
            </a:r>
            <a:endParaRPr lang="en-US" sz="2400" b="1" dirty="0">
              <a:solidFill>
                <a:schemeClr val="accent3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3592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0EFF-7F47-F787-F2BC-4B0D0E34F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6992355-9984-9D27-EECF-82558ED8CE6C}"/>
              </a:ext>
            </a:extLst>
          </p:cNvPr>
          <p:cNvSpPr/>
          <p:nvPr/>
        </p:nvSpPr>
        <p:spPr>
          <a:xfrm>
            <a:off x="1243355" y="710950"/>
            <a:ext cx="1009815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מומלץ לצור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כך שהוא יירשם 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AndroidManifest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1C629-CAB5-61FF-C79E-AA51129A2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789624-4239-06F5-57F1-4387C763D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B5B7F0-8AC3-3025-6943-2958AD143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945" y="2417451"/>
            <a:ext cx="7292972" cy="38255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79448E9-4ED4-47CB-9B38-2ACF0957B281}"/>
                  </a:ext>
                </a:extLst>
              </p14:cNvPr>
              <p14:cNvContentPartPr/>
              <p14:nvPr/>
            </p14:nvContentPartPr>
            <p14:xfrm>
              <a:off x="5741617" y="3707284"/>
              <a:ext cx="1841760" cy="23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79448E9-4ED4-47CB-9B38-2ACF0957B2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87977" y="3599644"/>
                <a:ext cx="1949400" cy="4514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65901C6-7DD2-FEF6-3004-FF22ADB6BEA7}"/>
              </a:ext>
            </a:extLst>
          </p:cNvPr>
          <p:cNvSpPr/>
          <p:nvPr/>
        </p:nvSpPr>
        <p:spPr>
          <a:xfrm>
            <a:off x="9311146" y="4330237"/>
            <a:ext cx="2222091" cy="1278188"/>
          </a:xfrm>
          <a:prstGeom prst="wedgeRoundRectCallout">
            <a:avLst>
              <a:gd name="adj1" fmla="val -167293"/>
              <a:gd name="adj2" fmla="val -8039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b="1" dirty="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ירושה ממחלקת </a:t>
            </a: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295406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8846-7A02-EA4F-D47B-38F864201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285E0330-BDD8-CB72-92A7-4B7E2C9045C8}"/>
              </a:ext>
            </a:extLst>
          </p:cNvPr>
          <p:cNvSpPr/>
          <p:nvPr/>
        </p:nvSpPr>
        <p:spPr>
          <a:xfrm>
            <a:off x="1243355" y="1690062"/>
            <a:ext cx="10098153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אחרי יצירת מחלקת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ניתן לכתוב בה קודים הדרושים.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חובה(!)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לכתוב פעולה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onStartCommand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9B63C1-FDBA-5442-50CA-EEE891E42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B2F584-3B35-A1AC-0B96-CA7191272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3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A51D-3410-3EAA-3779-99D01132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3B85835-18BF-0A41-8568-F80B83D479B3}"/>
              </a:ext>
            </a:extLst>
          </p:cNvPr>
          <p:cNvSpPr/>
          <p:nvPr/>
        </p:nvSpPr>
        <p:spPr>
          <a:xfrm>
            <a:off x="1243355" y="1690062"/>
            <a:ext cx="10098153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אחרי יצירת מחלקת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Service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ניתן לכתוב בה קודים הדרושים.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u="sng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מומךץ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מאוד(!)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לכתוב פעולה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onDestroy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C369E0-E862-A242-4F16-75380B457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88ADB1-FF03-1860-B84D-7B6AA121F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84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D65FB-39BF-3902-DBE9-09E877F9E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B50ED40-7A6A-B0DC-A8B4-DFB80F347374}"/>
              </a:ext>
            </a:extLst>
          </p:cNvPr>
          <p:cNvSpPr/>
          <p:nvPr/>
        </p:nvSpPr>
        <p:spPr>
          <a:xfrm>
            <a:off x="1046923" y="674400"/>
            <a:ext cx="10098153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להעלה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ולעצירה מחלקת שירות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משתמשים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Intent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(</a:t>
            </a: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למשל, בשם </a:t>
            </a:r>
            <a:r>
              <a:rPr 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go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)</a:t>
            </a:r>
          </a:p>
          <a:p>
            <a:pPr algn="ctr" rtl="1"/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מפעילים מחלקת שירות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ע"י פעולה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startService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(go)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עוצרים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צחלקת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שירות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ע"י פעולה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stopService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(go)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B79CC-B096-ECF5-8812-950250FA0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F0732A-AA9A-3D38-ECAF-E8233263F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168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2538</TotalTime>
  <Words>187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Georgia Pro Black</vt:lpstr>
      <vt:lpstr>Gisha</vt:lpstr>
      <vt:lpstr>Segoe UI Semibold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404</cp:revision>
  <dcterms:created xsi:type="dcterms:W3CDTF">2019-01-05T16:01:25Z</dcterms:created>
  <dcterms:modified xsi:type="dcterms:W3CDTF">2025-02-14T09:41:02Z</dcterms:modified>
</cp:coreProperties>
</file>