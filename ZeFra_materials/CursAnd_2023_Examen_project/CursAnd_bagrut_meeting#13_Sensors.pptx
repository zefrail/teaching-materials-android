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8" r:id="rId1"/>
  </p:sldMasterIdLst>
  <p:sldIdLst>
    <p:sldId id="256" r:id="rId2"/>
    <p:sldId id="277" r:id="rId3"/>
    <p:sldId id="318" r:id="rId4"/>
    <p:sldId id="319" r:id="rId5"/>
    <p:sldId id="324" r:id="rId6"/>
    <p:sldId id="320" r:id="rId7"/>
    <p:sldId id="321" r:id="rId8"/>
    <p:sldId id="322" r:id="rId9"/>
    <p:sldId id="323" r:id="rId10"/>
    <p:sldId id="330" r:id="rId11"/>
    <p:sldId id="325" r:id="rId12"/>
    <p:sldId id="331" r:id="rId13"/>
    <p:sldId id="334" r:id="rId14"/>
    <p:sldId id="332" r:id="rId15"/>
    <p:sldId id="333" r:id="rId16"/>
    <p:sldId id="326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85000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r">
              <a:defRPr sz="48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r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08998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4221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94365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495710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8842006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965906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568355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603875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422737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תמונה פנורמית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201426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ותרת ו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691995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ציטוט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594149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כרטיס ש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6067393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עמוד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154330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עמודת 3 תמונו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/>
              <a:t>ערוך סגנונות טקסט של תבנית בסיס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26135658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0874836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3156398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5000"/>
            <a:duotone>
              <a:schemeClr val="bg2">
                <a:shade val="48000"/>
                <a:hueMod val="106000"/>
                <a:satMod val="140000"/>
                <a:lumMod val="42000"/>
              </a:schemeClr>
              <a:schemeClr val="bg2">
                <a:tint val="98000"/>
                <a:hueMod val="92000"/>
                <a:satMod val="220000"/>
                <a:lumMod val="90000"/>
              </a:schemeClr>
            </a:duotone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 amt="30000"/>
            <a:duotone>
              <a:prstClr val="black"/>
              <a:schemeClr val="tx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  <a:gradFill flip="none" rotWithShape="1">
            <a:gsLst>
              <a:gs pos="0">
                <a:schemeClr val="tx2"/>
              </a:gs>
              <a:gs pos="100000">
                <a:schemeClr val="tx2">
                  <a:lumMod val="50000"/>
                </a:schemeClr>
              </a:gs>
            </a:gsLst>
            <a:lin ang="5400000" scaled="0"/>
            <a:tileRect/>
          </a:gradFill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pFill/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pFill/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ערוך סגנונות טקסט של תבנית בסיס</a:t>
            </a:r>
          </a:p>
          <a:p>
            <a:pPr lvl="1"/>
            <a:r>
              <a:rPr lang="he-IL"/>
              <a:t>רמה שניה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48D9F-4EFE-4FE5-BF7F-6AC227598A2D}" type="datetimeFigureOut">
              <a:rPr lang="he-IL" smtClean="0"/>
              <a:t>י"ח/שבט/תשפ"ה</a:t>
            </a:fld>
            <a:endParaRPr lang="he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562934-B4D1-4DE2-88B1-01B939A996EC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168003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2204660" y="1520526"/>
            <a:ext cx="8432117" cy="3816429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פתיחת השתלמות</a:t>
            </a:r>
          </a:p>
          <a:p>
            <a:pPr algn="ctr" rtl="1"/>
            <a:endParaRPr lang="he-IL" sz="5400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2">
                  <a:lumMod val="75000"/>
                </a:schemeClr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54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2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"אנדרואיד – פרויקט לבגרות"</a:t>
            </a:r>
          </a:p>
          <a:p>
            <a:pPr algn="ctr" rtl="1"/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  <a:p>
            <a:pPr algn="ctr" rtl="1"/>
            <a:r>
              <a:rPr lang="he-IL" sz="40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מנחה: זאב </a:t>
            </a:r>
            <a:r>
              <a:rPr lang="he-IL" sz="40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rgbClr val="002060"/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פריימן</a:t>
            </a:r>
            <a:endParaRPr lang="he-IL" sz="4000" dirty="0">
              <a:ln w="9525">
                <a:solidFill>
                  <a:schemeClr val="bg1"/>
                </a:solidFill>
                <a:prstDash val="solid"/>
              </a:ln>
              <a:solidFill>
                <a:srgbClr val="002060"/>
              </a:solidFill>
              <a:latin typeface="Shmulik CLM" panose="02000603000000000000" pitchFamily="2" charset="-79"/>
              <a:cs typeface="Shmulik CLM" panose="02000603000000000000" pitchFamily="2" charset="-79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94617BB-8CE1-9389-BC67-AD83C9910E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22118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לבן 1"/>
          <p:cNvSpPr/>
          <p:nvPr/>
        </p:nvSpPr>
        <p:spPr>
          <a:xfrm>
            <a:off x="4451545" y="1884420"/>
            <a:ext cx="2855269" cy="2585323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 rtl="1"/>
            <a:r>
              <a:rPr lang="he-IL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latin typeface="Shmulik CLM" panose="02000603000000000000" pitchFamily="2" charset="-79"/>
                <a:cs typeface="Shmulik CLM" panose="02000603000000000000" pitchFamily="2" charset="-79"/>
              </a:rPr>
              <a:t>חיישנים</a:t>
            </a:r>
          </a:p>
          <a:p>
            <a:pPr algn="ctr" rtl="1"/>
            <a:endParaRPr lang="en-US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  <a:p>
            <a:pPr algn="ctr" rtl="1"/>
            <a:r>
              <a:rPr lang="en-US" sz="54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FF0000"/>
                </a:solidFill>
                <a:latin typeface="Consolas" panose="020B0609020204030204" pitchFamily="49" charset="0"/>
                <a:cs typeface="Shmulik CLM" panose="02000603000000000000" pitchFamily="2" charset="-79"/>
              </a:rPr>
              <a:t>Sensors</a:t>
            </a:r>
            <a:endParaRPr lang="he-IL" sz="5400" dirty="0">
              <a:ln w="9525">
                <a:solidFill>
                  <a:schemeClr val="bg1"/>
                </a:solidFill>
                <a:prstDash val="solid"/>
              </a:ln>
              <a:solidFill>
                <a:srgbClr val="FF0000"/>
              </a:solidFill>
              <a:latin typeface="Consolas" panose="020B0609020204030204" pitchFamily="49" charset="0"/>
              <a:cs typeface="Shmulik CLM" panose="02000603000000000000" pitchFamily="2" charset="-79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F02DED2-C3B1-E14A-8D5C-8077B42501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58811A1E-1943-976D-375D-C0CA1E9C4248}"/>
              </a:ext>
            </a:extLst>
          </p:cNvPr>
          <p:cNvSpPr/>
          <p:nvPr/>
        </p:nvSpPr>
        <p:spPr>
          <a:xfrm>
            <a:off x="9022239" y="0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4E0C300-734D-C7F6-AC5D-CC70113C03C9}"/>
              </a:ext>
            </a:extLst>
          </p:cNvPr>
          <p:cNvSpPr/>
          <p:nvPr/>
        </p:nvSpPr>
        <p:spPr>
          <a:xfrm>
            <a:off x="9061568" y="0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4717246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64175" y="1598115"/>
            <a:ext cx="9736443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חיישנים הם מרכיבים אלקטרוניים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שמזהים ומודדים מאפיינים פיזיים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כגון תנועה, אור, טמפרטורה וקול (ועוד הרבה...).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למכשירי אנדרואיד יש מגוון חיישנים מובנים, המשמשים לספק נתונים לאפליקציות.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7306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47705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למכשירי אנדרואיד יש מגוון חיישנים, כולל: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מד תאוצה: מודד תאוצה והטיה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ג'ירוסקופ: מודד סיבוב ומהירות זוויתית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מגנומטר: מודד את השדה המגנטי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חיישן קירבה: מזהה כאשר חפץ נמצא ליד המכשיר</a:t>
            </a:r>
          </a:p>
          <a:p>
            <a:pPr marL="1943100" lvl="3" indent="-571500" algn="r" rtl="1">
              <a:buFont typeface="Arial" panose="020B0604020202020204" pitchFamily="34" charset="0"/>
              <a:buChar char="•"/>
            </a:pPr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חיישן אור: מודד את רמות האור הסביבה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21692497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44511" y="1558785"/>
            <a:ext cx="9736443" cy="458587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לפני שנעבור על מספר דוגמאות,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חשוב לציין כמה עובדות בעייתיות 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הקשורות לשימוש בחיישנים</a:t>
            </a:r>
          </a:p>
          <a:p>
            <a:pPr algn="ctr" rtl="1"/>
            <a:r>
              <a:rPr lang="he-IL" sz="36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בפרויקט לבגרות:</a:t>
            </a:r>
          </a:p>
          <a:p>
            <a:pPr algn="ctr" rtl="1"/>
            <a:endParaRPr lang="he-IL" sz="36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רוב החיישנים הם די ספציפיים ולא קל למצוא איך לשלב אותם באפליקציה "כללית"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לא בטוח שחיישן הדרוש כן קיים בכל מכשיר</a:t>
            </a:r>
          </a:p>
          <a:p>
            <a:pPr marL="742950" indent="-742950" algn="r" rtl="1">
              <a:buFont typeface="+mj-lt"/>
              <a:buAutoNum type="arabicPeriod"/>
            </a:pPr>
            <a:r>
              <a:rPr lang="he-IL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יכולות של חלק מהחיישנים הן יחסית מוגבלות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185437315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526297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Motion Sensors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Environmental Sensors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Position Sensors 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Ambient Light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Proximity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Accelerometer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Gyroscope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Barometer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Compass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Pedometer Sensor</a:t>
            </a:r>
            <a:endParaRPr lang="ru-RU" sz="2800" dirty="0">
              <a:solidFill>
                <a:srgbClr val="273239"/>
              </a:solidFill>
              <a:latin typeface="urw-din"/>
            </a:endParaRPr>
          </a:p>
          <a:p>
            <a:pPr algn="ctr"/>
            <a:r>
              <a:rPr lang="en-US" sz="2800" i="0" dirty="0">
                <a:solidFill>
                  <a:srgbClr val="273239"/>
                </a:solidFill>
                <a:effectLst/>
                <a:latin typeface="urw-din"/>
              </a:rPr>
              <a:t>Hall Sensor</a:t>
            </a:r>
            <a:endParaRPr lang="ru-RU" sz="2800" i="0" dirty="0">
              <a:solidFill>
                <a:srgbClr val="273239"/>
              </a:solidFill>
              <a:effectLst/>
              <a:latin typeface="urw-din"/>
            </a:endParaRPr>
          </a:p>
          <a:p>
            <a:pPr algn="ctr"/>
            <a:r>
              <a:rPr lang="ru-RU" sz="280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273239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urw-din"/>
                <a:cs typeface="Assistant" panose="00000500000000000000" pitchFamily="2" charset="-79"/>
              </a:rPr>
              <a:t>…</a:t>
            </a:r>
            <a:endParaRPr lang="he-IL" sz="28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42036860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794009"/>
            <a:ext cx="9736443" cy="48320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באמולטור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יש אפשרות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לבצע הדמיית שימוש בחלק מחיישנים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("הפופולריים", נפוצים)</a:t>
            </a:r>
          </a:p>
          <a:p>
            <a:pPr algn="ctr" rtl="1"/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על מנת להגיע לחיישנים של </a:t>
            </a:r>
            <a:r>
              <a:rPr lang="he-IL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אמולטור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,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יש לפתוח לוח 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Extended controls</a:t>
            </a:r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 </a:t>
            </a:r>
            <a:endParaRPr lang="en-US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ולבחור ב-</a:t>
            </a:r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Virtual sensors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348624015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קיימים שתי תת-לוחיות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6657CF-DAE5-92B0-25D6-E7541FF524E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37" y="2379405"/>
            <a:ext cx="5443937" cy="431486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1DA6E28-82F8-A74C-089D-8032CB81BE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66314" y="2379406"/>
            <a:ext cx="5443937" cy="4314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18228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393672" y="1018011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גישה לשימוש בחיישנים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מתאפשרת דרך עצם מסוג </a:t>
            </a:r>
            <a:r>
              <a:rPr lang="en-US" sz="4400" dirty="0" err="1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SensorManager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יוצר גישה לשירות מערכתית</a:t>
            </a:r>
          </a:p>
          <a:p>
            <a:pPr algn="ctr" rtl="1"/>
            <a:r>
              <a:rPr lang="en-US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SENSOR_SERVICE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2C29302-19E4-B4E1-B867-0874B18868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38" y="5253270"/>
            <a:ext cx="11911323" cy="360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93762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2266707"/>
            <a:ext cx="9736443" cy="2800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קיימם ממשק מיוחד עבור חיישנים</a:t>
            </a:r>
          </a:p>
          <a:p>
            <a:pPr algn="ctr" rtl="1"/>
            <a:r>
              <a:rPr lang="en-US" sz="4400" b="0" i="0" dirty="0" err="1">
                <a:solidFill>
                  <a:srgbClr val="374151"/>
                </a:solidFill>
                <a:effectLst/>
                <a:latin typeface="Söhne"/>
              </a:rPr>
              <a:t>SensorEventListener</a:t>
            </a:r>
            <a:r>
              <a:rPr lang="en-US" sz="4400" b="0" i="0" dirty="0">
                <a:solidFill>
                  <a:srgbClr val="374151"/>
                </a:solidFill>
                <a:effectLst/>
                <a:latin typeface="Söhne"/>
              </a:rPr>
              <a:t> </a:t>
            </a:r>
            <a:endParaRPr lang="he-IL" sz="4400" b="0" i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>
                  <a:lumMod val="75000"/>
                </a:schemeClr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אשר משמש לטיפול באירועי חיישן וקבלת נתוני חיישן.</a:t>
            </a:r>
            <a:endParaRPr lang="he-IL" sz="4400" dirty="0">
              <a:ln w="95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  <a:effectLst>
                <a:outerShdw blurRad="50800" dist="39000" dir="5460000" algn="tl">
                  <a:srgbClr val="000000">
                    <a:alpha val="38000"/>
                  </a:srgbClr>
                </a:outerShdw>
              </a:effectLst>
              <a:latin typeface="Assistant" panose="00000500000000000000" pitchFamily="2" charset="-79"/>
              <a:cs typeface="Assistant" panose="00000500000000000000" pitchFamily="2" charset="-79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</p:spTree>
    <p:extLst>
      <p:ext uri="{BB962C8B-B14F-4D97-AF65-F5344CB8AC3E}">
        <p14:creationId xmlns:p14="http://schemas.microsoft.com/office/powerpoint/2010/main" val="2133243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רשימת כל החיישנים במכשיר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90BE4B-681A-A663-87AA-20ADC080A0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529" y="3526365"/>
            <a:ext cx="11030942" cy="3090745"/>
          </a:xfrm>
          <a:prstGeom prst="rect">
            <a:avLst/>
          </a:prstGeom>
        </p:spPr>
      </p:pic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17DCE5D-7D22-7D14-576E-0A6E42450985}"/>
              </a:ext>
            </a:extLst>
          </p:cNvPr>
          <p:cNvSpPr/>
          <p:nvPr/>
        </p:nvSpPr>
        <p:spPr>
          <a:xfrm>
            <a:off x="1227777" y="2227506"/>
            <a:ext cx="2911603" cy="525526"/>
          </a:xfrm>
          <a:prstGeom prst="wedgeRoundRectCallout">
            <a:avLst>
              <a:gd name="adj1" fmla="val 82501"/>
              <a:gd name="adj2" fmla="val 2739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גישה לשירות חיישנים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78FCCDA-B629-706D-1ED6-33EF9E7421EF}"/>
              </a:ext>
            </a:extLst>
          </p:cNvPr>
          <p:cNvSpPr/>
          <p:nvPr/>
        </p:nvSpPr>
        <p:spPr>
          <a:xfrm>
            <a:off x="7181209" y="1701980"/>
            <a:ext cx="3783012" cy="525526"/>
          </a:xfrm>
          <a:prstGeom prst="wedgeRoundRectCallout">
            <a:avLst>
              <a:gd name="adj1" fmla="val -19902"/>
              <a:gd name="adj2" fmla="val 427333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אופציה: רשימה של כל החיישנים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260928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רשימת כל החיישנים במכשיר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36BB586-555B-A61C-FD19-97C120DC73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2950" y="1524000"/>
            <a:ext cx="2400300" cy="533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338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1016317"/>
            <a:ext cx="9736443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כדי להעביר חיישן למצב "פעיל"</a:t>
            </a:r>
          </a:p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צריך "לרשום" אותו לשימוש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F22C31D-9B37-6320-437B-B2A207DEF0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50750" y="4026642"/>
            <a:ext cx="7382114" cy="1074612"/>
          </a:xfrm>
          <a:prstGeom prst="rect">
            <a:avLst/>
          </a:prstGeom>
        </p:spPr>
      </p:pic>
      <p:sp>
        <p:nvSpPr>
          <p:cNvPr id="5" name="Speech Bubble: Rectangle with Corners Rounded 4">
            <a:extLst>
              <a:ext uri="{FF2B5EF4-FFF2-40B4-BE49-F238E27FC236}">
                <a16:creationId xmlns:a16="http://schemas.microsoft.com/office/drawing/2014/main" id="{54CC5CC1-3D2E-E606-231B-3D8B7308A7AB}"/>
              </a:ext>
            </a:extLst>
          </p:cNvPr>
          <p:cNvSpPr/>
          <p:nvPr/>
        </p:nvSpPr>
        <p:spPr>
          <a:xfrm>
            <a:off x="8367252" y="2645168"/>
            <a:ext cx="2733366" cy="619141"/>
          </a:xfrm>
          <a:prstGeom prst="wedgeRoundRectCallout">
            <a:avLst>
              <a:gd name="adj1" fmla="val -49874"/>
              <a:gd name="adj2" fmla="val 197208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משתנה מסוג "מאזין"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A6FEFE61-AA42-58E8-5A5A-F3E9E7E4B291}"/>
              </a:ext>
            </a:extLst>
          </p:cNvPr>
          <p:cNvSpPr/>
          <p:nvPr/>
        </p:nvSpPr>
        <p:spPr>
          <a:xfrm>
            <a:off x="496530" y="5554016"/>
            <a:ext cx="2733366" cy="619141"/>
          </a:xfrm>
          <a:prstGeom prst="wedgeRoundRectCallout">
            <a:avLst>
              <a:gd name="adj1" fmla="val 68472"/>
              <a:gd name="adj2" fmla="val -20615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משתנה מסוג "חיישן"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40CD8877-61B8-5BD1-83A9-29902FDBB426}"/>
              </a:ext>
            </a:extLst>
          </p:cNvPr>
          <p:cNvSpPr/>
          <p:nvPr/>
        </p:nvSpPr>
        <p:spPr>
          <a:xfrm>
            <a:off x="7492181" y="5841683"/>
            <a:ext cx="2733366" cy="619141"/>
          </a:xfrm>
          <a:prstGeom prst="wedgeRoundRectCallout">
            <a:avLst>
              <a:gd name="adj1" fmla="val -47715"/>
              <a:gd name="adj2" fmla="val -16963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זמן המתנה לתגובה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422166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A3E69BE2-D7D2-DEE4-5A50-4A06C13C67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61946" y="3516533"/>
            <a:ext cx="6982631" cy="135147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"טלטול" המכשיר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sp>
        <p:nvSpPr>
          <p:cNvPr id="9" name="Speech Bubble: Rectangle with Corners Rounded 8">
            <a:extLst>
              <a:ext uri="{FF2B5EF4-FFF2-40B4-BE49-F238E27FC236}">
                <a16:creationId xmlns:a16="http://schemas.microsoft.com/office/drawing/2014/main" id="{B17DCE5D-7D22-7D14-576E-0A6E42450985}"/>
              </a:ext>
            </a:extLst>
          </p:cNvPr>
          <p:cNvSpPr/>
          <p:nvPr/>
        </p:nvSpPr>
        <p:spPr>
          <a:xfrm>
            <a:off x="1493248" y="1996240"/>
            <a:ext cx="2911603" cy="525526"/>
          </a:xfrm>
          <a:prstGeom prst="wedgeRoundRectCallout">
            <a:avLst>
              <a:gd name="adj1" fmla="val 82501"/>
              <a:gd name="adj2" fmla="val 27391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גישה לשירות חיישנים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78FCCDA-B629-706D-1ED6-33EF9E7421EF}"/>
              </a:ext>
            </a:extLst>
          </p:cNvPr>
          <p:cNvSpPr/>
          <p:nvPr/>
        </p:nvSpPr>
        <p:spPr>
          <a:xfrm>
            <a:off x="1347423" y="4336233"/>
            <a:ext cx="1484671" cy="525527"/>
          </a:xfrm>
          <a:prstGeom prst="wedgeRoundRectCallout">
            <a:avLst>
              <a:gd name="adj1" fmla="val 126124"/>
              <a:gd name="adj2" fmla="val -70336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7" name="Speech Bubble: Rectangle with Corners Rounded 6">
            <a:extLst>
              <a:ext uri="{FF2B5EF4-FFF2-40B4-BE49-F238E27FC236}">
                <a16:creationId xmlns:a16="http://schemas.microsoft.com/office/drawing/2014/main" id="{0A715132-2E6F-D9FF-8CC8-0537E012F6B1}"/>
              </a:ext>
            </a:extLst>
          </p:cNvPr>
          <p:cNvSpPr/>
          <p:nvPr/>
        </p:nvSpPr>
        <p:spPr>
          <a:xfrm>
            <a:off x="4847304" y="5647741"/>
            <a:ext cx="2974662" cy="525527"/>
          </a:xfrm>
          <a:prstGeom prst="wedgeRoundRectCallout">
            <a:avLst>
              <a:gd name="adj1" fmla="val 18370"/>
              <a:gd name="adj2" fmla="val -22001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"מאזין" לאירועי 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4793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93DA37FF-2797-B9C9-BEB1-AE43E8B7B5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9758" y="1454172"/>
            <a:ext cx="8778376" cy="525142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1227778" y="684732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"טלטול" המכשיר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sp>
        <p:nvSpPr>
          <p:cNvPr id="10" name="Speech Bubble: Rectangle with Corners Rounded 9">
            <a:extLst>
              <a:ext uri="{FF2B5EF4-FFF2-40B4-BE49-F238E27FC236}">
                <a16:creationId xmlns:a16="http://schemas.microsoft.com/office/drawing/2014/main" id="{478FCCDA-B629-706D-1ED6-33EF9E7421EF}"/>
              </a:ext>
            </a:extLst>
          </p:cNvPr>
          <p:cNvSpPr/>
          <p:nvPr/>
        </p:nvSpPr>
        <p:spPr>
          <a:xfrm>
            <a:off x="354365" y="1517790"/>
            <a:ext cx="1484671" cy="525527"/>
          </a:xfrm>
          <a:prstGeom prst="wedgeRoundRectCallout">
            <a:avLst>
              <a:gd name="adj1" fmla="val 96985"/>
              <a:gd name="adj2" fmla="val 159789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סוג החיישן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3" name="Speech Bubble: Rectangle with Corners Rounded 12">
            <a:extLst>
              <a:ext uri="{FF2B5EF4-FFF2-40B4-BE49-F238E27FC236}">
                <a16:creationId xmlns:a16="http://schemas.microsoft.com/office/drawing/2014/main" id="{9F649DD0-6672-32DC-FDB0-239BE65407F0}"/>
              </a:ext>
            </a:extLst>
          </p:cNvPr>
          <p:cNvSpPr/>
          <p:nvPr/>
        </p:nvSpPr>
        <p:spPr>
          <a:xfrm>
            <a:off x="581530" y="3007377"/>
            <a:ext cx="1484671" cy="660055"/>
          </a:xfrm>
          <a:prstGeom prst="wedgeRoundRectCallout">
            <a:avLst>
              <a:gd name="adj1" fmla="val 97647"/>
              <a:gd name="adj2" fmla="val -53115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הפעלת ה"מאזין"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4" name="Speech Bubble: Rectangle with Corners Rounded 13">
            <a:extLst>
              <a:ext uri="{FF2B5EF4-FFF2-40B4-BE49-F238E27FC236}">
                <a16:creationId xmlns:a16="http://schemas.microsoft.com/office/drawing/2014/main" id="{9CD1FE83-7E69-3FD7-CBE3-700454EDF80B}"/>
              </a:ext>
            </a:extLst>
          </p:cNvPr>
          <p:cNvSpPr/>
          <p:nvPr/>
        </p:nvSpPr>
        <p:spPr>
          <a:xfrm>
            <a:off x="9634589" y="2783693"/>
            <a:ext cx="2341101" cy="1109881"/>
          </a:xfrm>
          <a:prstGeom prst="wedgeRoundRectCallout">
            <a:avLst>
              <a:gd name="adj1" fmla="val -103386"/>
              <a:gd name="adj2" fmla="val 4652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זיהוי שינויים בנתונים החיישן באירוע</a:t>
            </a:r>
            <a:endParaRPr lang="en-US" sz="2000" b="1" dirty="0">
              <a:solidFill>
                <a:srgbClr val="C00000"/>
              </a:solidFill>
            </a:endParaRPr>
          </a:p>
        </p:txBody>
      </p:sp>
      <p:sp>
        <p:nvSpPr>
          <p:cNvPr id="15" name="Speech Bubble: Rectangle with Corners Rounded 14">
            <a:extLst>
              <a:ext uri="{FF2B5EF4-FFF2-40B4-BE49-F238E27FC236}">
                <a16:creationId xmlns:a16="http://schemas.microsoft.com/office/drawing/2014/main" id="{97C9F0F6-B832-19FC-C5FA-FC078AE89571}"/>
              </a:ext>
            </a:extLst>
          </p:cNvPr>
          <p:cNvSpPr/>
          <p:nvPr/>
        </p:nvSpPr>
        <p:spPr>
          <a:xfrm>
            <a:off x="8777755" y="4759394"/>
            <a:ext cx="2341101" cy="1109881"/>
          </a:xfrm>
          <a:prstGeom prst="wedgeRoundRectCallout">
            <a:avLst>
              <a:gd name="adj1" fmla="val -181923"/>
              <a:gd name="adj2" fmla="val -78621"/>
              <a:gd name="adj3" fmla="val 16667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he-IL" sz="2000" b="1" dirty="0">
                <a:solidFill>
                  <a:srgbClr val="C00000"/>
                </a:solidFill>
              </a:rPr>
              <a:t>טיפול בתוצאות </a:t>
            </a:r>
            <a:r>
              <a:rPr lang="he-IL" sz="2000" b="1" dirty="0" err="1">
                <a:solidFill>
                  <a:srgbClr val="C00000"/>
                </a:solidFill>
              </a:rPr>
              <a:t>שהיתקלו</a:t>
            </a:r>
            <a:r>
              <a:rPr lang="he-IL" sz="2000" b="1" dirty="0">
                <a:solidFill>
                  <a:srgbClr val="C00000"/>
                </a:solidFill>
              </a:rPr>
              <a:t> מחיישן</a:t>
            </a:r>
            <a:endParaRPr lang="en-US" sz="20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71064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F4081E52-4BAD-CA07-DB14-94EDFB19D0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7930" y="0"/>
            <a:ext cx="737793" cy="1016317"/>
          </a:xfrm>
          <a:prstGeom prst="rect">
            <a:avLst/>
          </a:prstGeom>
        </p:spPr>
      </p:pic>
      <p:sp>
        <p:nvSpPr>
          <p:cNvPr id="8" name="מלבן 1">
            <a:extLst>
              <a:ext uri="{FF2B5EF4-FFF2-40B4-BE49-F238E27FC236}">
                <a16:creationId xmlns:a16="http://schemas.microsoft.com/office/drawing/2014/main" id="{6B7A1342-CF36-595F-FDAA-BC7609EA9F24}"/>
              </a:ext>
            </a:extLst>
          </p:cNvPr>
          <p:cNvSpPr/>
          <p:nvPr/>
        </p:nvSpPr>
        <p:spPr>
          <a:xfrm>
            <a:off x="911892" y="334383"/>
            <a:ext cx="9736443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rtl="1"/>
            <a:r>
              <a:rPr lang="he-IL" sz="440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>
                    <a:lumMod val="75000"/>
                  </a:schemeClr>
                </a:solidFill>
                <a:effectLst>
                  <a:outerShdw blurRad="50800" dist="39000" dir="5460000" algn="tl">
                    <a:srgbClr val="000000">
                      <a:alpha val="38000"/>
                    </a:srgbClr>
                  </a:outerShdw>
                </a:effectLst>
                <a:latin typeface="Assistant" panose="00000500000000000000" pitchFamily="2" charset="-79"/>
                <a:cs typeface="Assistant" panose="00000500000000000000" pitchFamily="2" charset="-79"/>
              </a:rPr>
              <a:t>דוגמה: מדידת מרחק ממכשיר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B1A41AC-53B7-DB3B-968B-F731BEC394BA}"/>
              </a:ext>
            </a:extLst>
          </p:cNvPr>
          <p:cNvSpPr/>
          <p:nvPr/>
        </p:nvSpPr>
        <p:spPr>
          <a:xfrm>
            <a:off x="9386033" y="-23154"/>
            <a:ext cx="1976888" cy="707886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40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B0F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Sensors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29C3507-CF8C-A30F-B0E7-8EE7F78FD1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9587" y="1316402"/>
            <a:ext cx="9212825" cy="5321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40818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מעגל">
  <a:themeElements>
    <a:clrScheme name="מעגל">
      <a:dk1>
        <a:sysClr val="windowText" lastClr="000000"/>
      </a:dk1>
      <a:lt1>
        <a:sysClr val="window" lastClr="FFFFFF"/>
      </a:lt1>
      <a:dk2>
        <a:srgbClr val="252C36"/>
      </a:dk2>
      <a:lt2>
        <a:srgbClr val="7C96A3"/>
      </a:lt2>
      <a:accent1>
        <a:srgbClr val="4FD093"/>
      </a:accent1>
      <a:accent2>
        <a:srgbClr val="54BCDF"/>
      </a:accent2>
      <a:accent3>
        <a:srgbClr val="A262D0"/>
      </a:accent3>
      <a:accent4>
        <a:srgbClr val="D7537B"/>
      </a:accent4>
      <a:accent5>
        <a:srgbClr val="E78045"/>
      </a:accent5>
      <a:accent6>
        <a:srgbClr val="84C350"/>
      </a:accent6>
      <a:hlink>
        <a:srgbClr val="22FFFF"/>
      </a:hlink>
      <a:folHlink>
        <a:srgbClr val="9BF3FD"/>
      </a:folHlink>
    </a:clrScheme>
    <a:fontScheme name="מעגל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מעגל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4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4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48000"/>
                <a:hueMod val="106000"/>
                <a:satMod val="140000"/>
                <a:lumMod val="42000"/>
              </a:schemeClr>
              <a:schemeClr val="phClr">
                <a:tint val="98000"/>
                <a:hueMod val="92000"/>
                <a:satMod val="220000"/>
                <a:lumMod val="9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מצגת2" id="{CEC1E900-383C-44C1-AD2B-1FF75F44A406}" vid="{6AAC7F4E-C601-427E-B924-CEA218F4B05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3684</TotalTime>
  <Words>325</Words>
  <Application>Microsoft Office PowerPoint</Application>
  <PresentationFormat>Widescreen</PresentationFormat>
  <Paragraphs>89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5" baseType="lpstr">
      <vt:lpstr>Arial</vt:lpstr>
      <vt:lpstr>Assistant</vt:lpstr>
      <vt:lpstr>Consolas</vt:lpstr>
      <vt:lpstr>Segoe UI Semibold</vt:lpstr>
      <vt:lpstr>Shmulik CLM</vt:lpstr>
      <vt:lpstr>Söhne</vt:lpstr>
      <vt:lpstr>Tw Cen MT</vt:lpstr>
      <vt:lpstr>urw-din</vt:lpstr>
      <vt:lpstr>מעגל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Hewlett-Packard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מצגת של PowerPoint‏</dc:title>
  <dc:creator>Fraiman</dc:creator>
  <cp:lastModifiedBy>Ze'ev Fraiman</cp:lastModifiedBy>
  <cp:revision>343</cp:revision>
  <dcterms:created xsi:type="dcterms:W3CDTF">2019-01-05T16:01:25Z</dcterms:created>
  <dcterms:modified xsi:type="dcterms:W3CDTF">2025-02-16T11:58:16Z</dcterms:modified>
</cp:coreProperties>
</file>