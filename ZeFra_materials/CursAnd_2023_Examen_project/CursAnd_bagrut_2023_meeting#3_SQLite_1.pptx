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04" r:id="rId3"/>
    <p:sldId id="414" r:id="rId4"/>
    <p:sldId id="415" r:id="rId5"/>
    <p:sldId id="417" r:id="rId6"/>
    <p:sldId id="419" r:id="rId7"/>
    <p:sldId id="421" r:id="rId8"/>
    <p:sldId id="424" r:id="rId9"/>
    <p:sldId id="422" r:id="rId10"/>
    <p:sldId id="42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81D512FB-4FBE-816F-14DE-9727B2797C5F}"/>
              </a:ext>
            </a:extLst>
          </p:cNvPr>
          <p:cNvSpPr/>
          <p:nvPr/>
        </p:nvSpPr>
        <p:spPr>
          <a:xfrm>
            <a:off x="1233285" y="1900518"/>
            <a:ext cx="1030659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היבטים טכניים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לעבודה עם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(חלק א')</a:t>
            </a:r>
          </a:p>
        </p:txBody>
      </p:sp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91950303-D2AA-449B-BC7B-70F1FC547837}"/>
              </a:ext>
            </a:extLst>
          </p:cNvPr>
          <p:cNvSpPr/>
          <p:nvPr/>
        </p:nvSpPr>
        <p:spPr>
          <a:xfrm>
            <a:off x="-105738" y="704948"/>
            <a:ext cx="894805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ההבדל הזה בולט ביותר בבסיסי הנתונים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מכילים נתונים ב"טבלאות":</a:t>
            </a:r>
          </a:p>
        </p:txBody>
      </p:sp>
      <p:pic>
        <p:nvPicPr>
          <p:cNvPr id="5" name="תמונה 9">
            <a:extLst>
              <a:ext uri="{FF2B5EF4-FFF2-40B4-BE49-F238E27FC236}">
                <a16:creationId xmlns:a16="http://schemas.microsoft.com/office/drawing/2014/main" id="{7D17C4DF-B023-4819-8E33-AFE143950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024" y="3248333"/>
            <a:ext cx="6684005" cy="3622730"/>
          </a:xfrm>
          <a:prstGeom prst="rect">
            <a:avLst/>
          </a:prstGeom>
        </p:spPr>
      </p:pic>
      <p:sp>
        <p:nvSpPr>
          <p:cNvPr id="6" name="הסבר קווי 1 10">
            <a:extLst>
              <a:ext uri="{FF2B5EF4-FFF2-40B4-BE49-F238E27FC236}">
                <a16:creationId xmlns:a16="http://schemas.microsoft.com/office/drawing/2014/main" id="{6A58A539-C1EC-4DE8-A118-A9B50A1C9F6D}"/>
              </a:ext>
            </a:extLst>
          </p:cNvPr>
          <p:cNvSpPr/>
          <p:nvPr/>
        </p:nvSpPr>
        <p:spPr>
          <a:xfrm flipH="1">
            <a:off x="9221188" y="2007706"/>
            <a:ext cx="2735753" cy="715491"/>
          </a:xfrm>
          <a:prstGeom prst="borderCallout1">
            <a:avLst>
              <a:gd name="adj1" fmla="val 46533"/>
              <a:gd name="adj2" fmla="val 99480"/>
              <a:gd name="adj3" fmla="val 165474"/>
              <a:gd name="adj4" fmla="val 18763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שדות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7" name="הסבר קווי 1 11">
            <a:extLst>
              <a:ext uri="{FF2B5EF4-FFF2-40B4-BE49-F238E27FC236}">
                <a16:creationId xmlns:a16="http://schemas.microsoft.com/office/drawing/2014/main" id="{0EF009F6-16AF-48BB-AE7E-1844B88A1B0B}"/>
              </a:ext>
            </a:extLst>
          </p:cNvPr>
          <p:cNvSpPr/>
          <p:nvPr/>
        </p:nvSpPr>
        <p:spPr>
          <a:xfrm flipH="1">
            <a:off x="155575" y="3366344"/>
            <a:ext cx="2735753" cy="715491"/>
          </a:xfrm>
          <a:prstGeom prst="borderCallout1">
            <a:avLst>
              <a:gd name="adj1" fmla="val 50292"/>
              <a:gd name="adj2" fmla="val -301"/>
              <a:gd name="adj3" fmla="val 238019"/>
              <a:gd name="adj4" fmla="val -19809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רשומות (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records</a:t>
            </a:r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DADAFF-36EB-C66E-C73F-9F8A83C7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3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72769681-1583-4DB5-9343-29D29D93EB46}"/>
              </a:ext>
            </a:extLst>
          </p:cNvPr>
          <p:cNvSpPr/>
          <p:nvPr/>
        </p:nvSpPr>
        <p:spPr>
          <a:xfrm>
            <a:off x="489215" y="0"/>
            <a:ext cx="10306595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הדרך הנכונה היא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לבנות "מחלקה המתווכת"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אקטיביטי העושה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לבין מחלקות עזר הקיימות 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עבודה עם בסיסי נתונים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7D99A-28EB-40EA-BA7C-01CE553C22B9}"/>
              </a:ext>
            </a:extLst>
          </p:cNvPr>
          <p:cNvSpPr/>
          <p:nvPr/>
        </p:nvSpPr>
        <p:spPr>
          <a:xfrm>
            <a:off x="161365" y="4014918"/>
            <a:ext cx="3458722" cy="1946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מחלקות</a:t>
            </a:r>
          </a:p>
          <a:p>
            <a:pPr algn="ctr" rtl="1"/>
            <a:r>
              <a:rPr lang="he-IL" sz="3200" b="1" dirty="0"/>
              <a:t>שכבר קיימות</a:t>
            </a:r>
          </a:p>
          <a:p>
            <a:pPr algn="ctr" rtl="1"/>
            <a:r>
              <a:rPr lang="he-IL" sz="3200" b="1" dirty="0"/>
              <a:t>ב-</a:t>
            </a:r>
            <a:r>
              <a:rPr lang="en-US" sz="3200" b="1" dirty="0"/>
              <a:t>Java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46C0BC-5574-4839-A6D2-AA05812752BF}"/>
              </a:ext>
            </a:extLst>
          </p:cNvPr>
          <p:cNvSpPr/>
          <p:nvPr/>
        </p:nvSpPr>
        <p:spPr>
          <a:xfrm>
            <a:off x="4940380" y="4365811"/>
            <a:ext cx="2311240" cy="121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"מחלקת</a:t>
            </a:r>
          </a:p>
          <a:p>
            <a:pPr algn="ctr" rtl="1"/>
            <a:r>
              <a:rPr lang="he-IL" sz="3200" b="1" dirty="0"/>
              <a:t>המתווכת"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7D6CB4-FB6E-4BB7-9B17-95FFAFF67614}"/>
              </a:ext>
            </a:extLst>
          </p:cNvPr>
          <p:cNvSpPr/>
          <p:nvPr/>
        </p:nvSpPr>
        <p:spPr>
          <a:xfrm>
            <a:off x="9327510" y="3377236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F311D5-7F8C-4E41-9957-7B61EE93E655}"/>
              </a:ext>
            </a:extLst>
          </p:cNvPr>
          <p:cNvSpPr/>
          <p:nvPr/>
        </p:nvSpPr>
        <p:spPr>
          <a:xfrm>
            <a:off x="9327510" y="4112755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EF1D32-9C05-44C5-9A1F-5D01D130F39D}"/>
              </a:ext>
            </a:extLst>
          </p:cNvPr>
          <p:cNvSpPr/>
          <p:nvPr/>
        </p:nvSpPr>
        <p:spPr>
          <a:xfrm>
            <a:off x="9327510" y="4721961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336789-8487-42C4-BC49-562AED46F11D}"/>
              </a:ext>
            </a:extLst>
          </p:cNvPr>
          <p:cNvSpPr/>
          <p:nvPr/>
        </p:nvSpPr>
        <p:spPr>
          <a:xfrm>
            <a:off x="9327510" y="5403475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A2D6F9-A032-4A8C-B7CD-5F7DC6758AF7}"/>
              </a:ext>
            </a:extLst>
          </p:cNvPr>
          <p:cNvSpPr/>
          <p:nvPr/>
        </p:nvSpPr>
        <p:spPr>
          <a:xfrm>
            <a:off x="9327510" y="6007126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37A2DB-7A6E-4CE6-8742-CADAAC9D66B1}"/>
              </a:ext>
            </a:extLst>
          </p:cNvPr>
          <p:cNvCxnSpPr>
            <a:cxnSpLocks/>
          </p:cNvCxnSpPr>
          <p:nvPr/>
        </p:nvCxnSpPr>
        <p:spPr>
          <a:xfrm flipV="1">
            <a:off x="3620087" y="5029204"/>
            <a:ext cx="1247748" cy="1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E1E946-E726-4DED-9345-1F7EC3859C5C}"/>
              </a:ext>
            </a:extLst>
          </p:cNvPr>
          <p:cNvCxnSpPr>
            <a:cxnSpLocks/>
          </p:cNvCxnSpPr>
          <p:nvPr/>
        </p:nvCxnSpPr>
        <p:spPr>
          <a:xfrm flipV="1">
            <a:off x="7324165" y="3558771"/>
            <a:ext cx="1891553" cy="1416642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9AD300-0884-4DB3-9029-400760DF4D6A}"/>
              </a:ext>
            </a:extLst>
          </p:cNvPr>
          <p:cNvCxnSpPr>
            <a:cxnSpLocks/>
          </p:cNvCxnSpPr>
          <p:nvPr/>
        </p:nvCxnSpPr>
        <p:spPr>
          <a:xfrm flipV="1">
            <a:off x="7363412" y="4267093"/>
            <a:ext cx="1883317" cy="708318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A7ED2E-C600-4075-9DAC-78F2D09ECD80}"/>
              </a:ext>
            </a:extLst>
          </p:cNvPr>
          <p:cNvCxnSpPr>
            <a:cxnSpLocks/>
          </p:cNvCxnSpPr>
          <p:nvPr/>
        </p:nvCxnSpPr>
        <p:spPr>
          <a:xfrm flipV="1">
            <a:off x="7324165" y="4929027"/>
            <a:ext cx="1891553" cy="59196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3E412E-CF81-4BE3-B580-7A0EE793C7BB}"/>
              </a:ext>
            </a:extLst>
          </p:cNvPr>
          <p:cNvCxnSpPr>
            <a:cxnSpLocks/>
          </p:cNvCxnSpPr>
          <p:nvPr/>
        </p:nvCxnSpPr>
        <p:spPr>
          <a:xfrm>
            <a:off x="7324165" y="4958625"/>
            <a:ext cx="1819835" cy="725108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C269708-22A8-4101-9498-58EAC5DA7070}"/>
              </a:ext>
            </a:extLst>
          </p:cNvPr>
          <p:cNvCxnSpPr>
            <a:cxnSpLocks/>
          </p:cNvCxnSpPr>
          <p:nvPr/>
        </p:nvCxnSpPr>
        <p:spPr>
          <a:xfrm>
            <a:off x="7363412" y="4958625"/>
            <a:ext cx="1852306" cy="1334707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17309C-25A7-01D5-E21A-C81B19C1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4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6CB0CCF3-C249-434E-AEDB-37A83CA6DA1C}"/>
              </a:ext>
            </a:extLst>
          </p:cNvPr>
          <p:cNvSpPr/>
          <p:nvPr/>
        </p:nvSpPr>
        <p:spPr>
          <a:xfrm>
            <a:off x="3146929" y="373065"/>
            <a:ext cx="539495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מחלקות עזר ל-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עבודה עם בסיסי נתונים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עם פינה יחידה חתוכה 1">
            <a:extLst>
              <a:ext uri="{FF2B5EF4-FFF2-40B4-BE49-F238E27FC236}">
                <a16:creationId xmlns:a16="http://schemas.microsoft.com/office/drawing/2014/main" id="{5F5A6287-30B8-43F8-B893-B2D1719BE370}"/>
              </a:ext>
            </a:extLst>
          </p:cNvPr>
          <p:cNvSpPr/>
          <p:nvPr/>
        </p:nvSpPr>
        <p:spPr>
          <a:xfrm>
            <a:off x="1828800" y="2599251"/>
            <a:ext cx="3579223" cy="1149532"/>
          </a:xfrm>
          <a:prstGeom prst="snip1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200" dirty="0" err="1">
                <a:solidFill>
                  <a:schemeClr val="bg1"/>
                </a:solidFill>
              </a:rPr>
              <a:t>SQLiteOpenHelper</a:t>
            </a:r>
            <a:endParaRPr lang="he-IL" sz="3200" dirty="0">
              <a:solidFill>
                <a:schemeClr val="bg1"/>
              </a:solidFill>
            </a:endParaRPr>
          </a:p>
        </p:txBody>
      </p:sp>
      <p:sp>
        <p:nvSpPr>
          <p:cNvPr id="9" name="מלבן עם פינה יחידה חתוכה 7">
            <a:extLst>
              <a:ext uri="{FF2B5EF4-FFF2-40B4-BE49-F238E27FC236}">
                <a16:creationId xmlns:a16="http://schemas.microsoft.com/office/drawing/2014/main" id="{718D4854-AEC3-4408-8389-DDFD776F0B47}"/>
              </a:ext>
            </a:extLst>
          </p:cNvPr>
          <p:cNvSpPr/>
          <p:nvPr/>
        </p:nvSpPr>
        <p:spPr>
          <a:xfrm>
            <a:off x="2994074" y="4088082"/>
            <a:ext cx="3579223" cy="1149532"/>
          </a:xfrm>
          <a:prstGeom prst="snip1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200" dirty="0" err="1">
                <a:solidFill>
                  <a:schemeClr val="bg1"/>
                </a:solidFill>
              </a:rPr>
              <a:t>ContentValues</a:t>
            </a:r>
            <a:endParaRPr lang="he-IL" sz="3200" dirty="0">
              <a:solidFill>
                <a:schemeClr val="bg1"/>
              </a:solidFill>
            </a:endParaRPr>
          </a:p>
        </p:txBody>
      </p:sp>
      <p:sp>
        <p:nvSpPr>
          <p:cNvPr id="10" name="מלבן עם פינה יחידה חתוכה 9">
            <a:extLst>
              <a:ext uri="{FF2B5EF4-FFF2-40B4-BE49-F238E27FC236}">
                <a16:creationId xmlns:a16="http://schemas.microsoft.com/office/drawing/2014/main" id="{6E020E86-15FC-4587-A59D-80B0B97D3E39}"/>
              </a:ext>
            </a:extLst>
          </p:cNvPr>
          <p:cNvSpPr/>
          <p:nvPr/>
        </p:nvSpPr>
        <p:spPr>
          <a:xfrm>
            <a:off x="7003366" y="4833670"/>
            <a:ext cx="3579223" cy="1149532"/>
          </a:xfrm>
          <a:prstGeom prst="snip1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Cursor</a:t>
            </a:r>
            <a:endParaRPr lang="he-IL" sz="3200" dirty="0">
              <a:solidFill>
                <a:schemeClr val="bg1"/>
              </a:solidFill>
            </a:endParaRPr>
          </a:p>
        </p:txBody>
      </p:sp>
      <p:sp>
        <p:nvSpPr>
          <p:cNvPr id="11" name="מלבן עם פינה יחידה חתוכה 10">
            <a:extLst>
              <a:ext uri="{FF2B5EF4-FFF2-40B4-BE49-F238E27FC236}">
                <a16:creationId xmlns:a16="http://schemas.microsoft.com/office/drawing/2014/main" id="{66A1C35A-96D3-48FB-992D-918BF629CE6D}"/>
              </a:ext>
            </a:extLst>
          </p:cNvPr>
          <p:cNvSpPr/>
          <p:nvPr/>
        </p:nvSpPr>
        <p:spPr>
          <a:xfrm>
            <a:off x="7861495" y="3193779"/>
            <a:ext cx="3579223" cy="1149532"/>
          </a:xfrm>
          <a:prstGeom prst="snip1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2800" dirty="0" err="1"/>
              <a:t>SQLiteDatabase</a:t>
            </a:r>
            <a:endParaRPr lang="he-IL" sz="4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A8B57-846E-B7B7-A432-3439A04F0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4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5">
            <a:extLst>
              <a:ext uri="{FF2B5EF4-FFF2-40B4-BE49-F238E27FC236}">
                <a16:creationId xmlns:a16="http://schemas.microsoft.com/office/drawing/2014/main" id="{31FA88BA-BFFE-4E8E-8A52-42EFF76F52FA}"/>
              </a:ext>
            </a:extLst>
          </p:cNvPr>
          <p:cNvSpPr/>
          <p:nvPr/>
        </p:nvSpPr>
        <p:spPr>
          <a:xfrm>
            <a:off x="1318545" y="898908"/>
            <a:ext cx="4631970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SQLitedatabase</a:t>
            </a:r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שליטה בבסיס נתונים</a:t>
            </a:r>
          </a:p>
        </p:txBody>
      </p:sp>
      <p:sp>
        <p:nvSpPr>
          <p:cNvPr id="5" name="מלבן 9">
            <a:extLst>
              <a:ext uri="{FF2B5EF4-FFF2-40B4-BE49-F238E27FC236}">
                <a16:creationId xmlns:a16="http://schemas.microsoft.com/office/drawing/2014/main" id="{C672C9AF-8135-4EDB-B4CB-E658A7FC7B1C}"/>
              </a:ext>
            </a:extLst>
          </p:cNvPr>
          <p:cNvSpPr/>
          <p:nvPr/>
        </p:nvSpPr>
        <p:spPr>
          <a:xfrm>
            <a:off x="1657882" y="3513511"/>
            <a:ext cx="5711105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Cursor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מצביע על "שורה"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לקבל נתונים (קריאה)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FA3DDF87-CB51-452A-8314-BFA1C83B5D16}"/>
              </a:ext>
            </a:extLst>
          </p:cNvPr>
          <p:cNvSpPr/>
          <p:nvPr/>
        </p:nvSpPr>
        <p:spPr>
          <a:xfrm>
            <a:off x="6338432" y="2249174"/>
            <a:ext cx="5268488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ContentValues</a:t>
            </a:r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הוספת "שורה"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record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1F348F-6E87-C260-3880-BFD60AC3B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1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C897B194-8976-413A-84AC-E5B4A7C110C5}"/>
              </a:ext>
            </a:extLst>
          </p:cNvPr>
          <p:cNvSpPr/>
          <p:nvPr/>
        </p:nvSpPr>
        <p:spPr>
          <a:xfrm>
            <a:off x="403266" y="222682"/>
            <a:ext cx="113854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סוגי נתונים עבור </a:t>
            </a:r>
            <a:r>
              <a:rPr lang="en-US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תמונה 1">
            <a:extLst>
              <a:ext uri="{FF2B5EF4-FFF2-40B4-BE49-F238E27FC236}">
                <a16:creationId xmlns:a16="http://schemas.microsoft.com/office/drawing/2014/main" id="{0E420700-2FEB-480A-BB58-FE650EF2F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643" y="1243683"/>
            <a:ext cx="10315575" cy="18288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46025ADE-8F74-4DB1-BB02-3A42E0D956BA}"/>
              </a:ext>
            </a:extLst>
          </p:cNvPr>
          <p:cNvSpPr/>
          <p:nvPr/>
        </p:nvSpPr>
        <p:spPr>
          <a:xfrm>
            <a:off x="1466642" y="3900461"/>
            <a:ext cx="10025575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לפי דעתי, ברוב המקרים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(לא תמיד!),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בטוח יותר לשמור בבסיס נתונים ערכים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לסוג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ולהמיר אותם, אחרי הקריאה (שליפה),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לפי צורך, בעזרת פעולות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75D27-3550-4662-865D-740086495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0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6732F70C-1473-4F89-BA61-AB026A186978}"/>
              </a:ext>
            </a:extLst>
          </p:cNvPr>
          <p:cNvSpPr/>
          <p:nvPr/>
        </p:nvSpPr>
        <p:spPr>
          <a:xfrm>
            <a:off x="1280160" y="1804349"/>
            <a:ext cx="805394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מציינים (רושמים) שהיא יורשת למחלקה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5" name="חץ ימינה מחורץ 8">
            <a:extLst>
              <a:ext uri="{FF2B5EF4-FFF2-40B4-BE49-F238E27FC236}">
                <a16:creationId xmlns:a16="http://schemas.microsoft.com/office/drawing/2014/main" id="{9B5CCDE1-7810-4277-8C45-D2BBA69C9F3E}"/>
              </a:ext>
            </a:extLst>
          </p:cNvPr>
          <p:cNvSpPr/>
          <p:nvPr/>
        </p:nvSpPr>
        <p:spPr>
          <a:xfrm rot="1033200">
            <a:off x="3881012" y="4255141"/>
            <a:ext cx="3070293" cy="35744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 9">
            <a:extLst>
              <a:ext uri="{FF2B5EF4-FFF2-40B4-BE49-F238E27FC236}">
                <a16:creationId xmlns:a16="http://schemas.microsoft.com/office/drawing/2014/main" id="{DC0E6CBC-9974-4409-864D-4A79F809D8C3}"/>
              </a:ext>
            </a:extLst>
          </p:cNvPr>
          <p:cNvSpPr/>
          <p:nvPr/>
        </p:nvSpPr>
        <p:spPr>
          <a:xfrm>
            <a:off x="4279947" y="13063"/>
            <a:ext cx="49944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מחלקת עזר ל-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DB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7" name="תמונה 1">
            <a:extLst>
              <a:ext uri="{FF2B5EF4-FFF2-40B4-BE49-F238E27FC236}">
                <a16:creationId xmlns:a16="http://schemas.microsoft.com/office/drawing/2014/main" id="{996B17AE-553F-42A3-A77C-D08F99F35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97" y="3655735"/>
            <a:ext cx="2376318" cy="916011"/>
          </a:xfrm>
          <a:prstGeom prst="rect">
            <a:avLst/>
          </a:prstGeom>
        </p:spPr>
      </p:pic>
      <p:pic>
        <p:nvPicPr>
          <p:cNvPr id="8" name="תמונה 2">
            <a:extLst>
              <a:ext uri="{FF2B5EF4-FFF2-40B4-BE49-F238E27FC236}">
                <a16:creationId xmlns:a16="http://schemas.microsoft.com/office/drawing/2014/main" id="{A61F0765-D239-4328-9BC8-BA007D5A9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232" y="5063778"/>
            <a:ext cx="5763835" cy="142820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22C9FA-5A45-3777-91CC-8E4CA631D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8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9">
            <a:extLst>
              <a:ext uri="{FF2B5EF4-FFF2-40B4-BE49-F238E27FC236}">
                <a16:creationId xmlns:a16="http://schemas.microsoft.com/office/drawing/2014/main" id="{DC0E6CBC-9974-4409-864D-4A79F809D8C3}"/>
              </a:ext>
            </a:extLst>
          </p:cNvPr>
          <p:cNvSpPr/>
          <p:nvPr/>
        </p:nvSpPr>
        <p:spPr>
          <a:xfrm>
            <a:off x="4279947" y="13063"/>
            <a:ext cx="49944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מחלקת עזר ל-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DB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11" name="תמונה 1">
            <a:extLst>
              <a:ext uri="{FF2B5EF4-FFF2-40B4-BE49-F238E27FC236}">
                <a16:creationId xmlns:a16="http://schemas.microsoft.com/office/drawing/2014/main" id="{7C052456-4939-4DF7-B801-09ED45085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015"/>
          <a:stretch/>
        </p:blipFill>
        <p:spPr>
          <a:xfrm>
            <a:off x="1640551" y="2321931"/>
            <a:ext cx="5279915" cy="1429092"/>
          </a:xfrm>
          <a:prstGeom prst="rect">
            <a:avLst/>
          </a:prstGeom>
        </p:spPr>
      </p:pic>
      <p:pic>
        <p:nvPicPr>
          <p:cNvPr id="12" name="תמונה 2">
            <a:extLst>
              <a:ext uri="{FF2B5EF4-FFF2-40B4-BE49-F238E27FC236}">
                <a16:creationId xmlns:a16="http://schemas.microsoft.com/office/drawing/2014/main" id="{44BBD954-A953-4C8A-BC58-9198A6EA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676" y="1737204"/>
            <a:ext cx="3218638" cy="4956359"/>
          </a:xfrm>
          <a:prstGeom prst="rect">
            <a:avLst/>
          </a:prstGeom>
        </p:spPr>
      </p:pic>
      <p:pic>
        <p:nvPicPr>
          <p:cNvPr id="13" name="תמונה 10">
            <a:extLst>
              <a:ext uri="{FF2B5EF4-FFF2-40B4-BE49-F238E27FC236}">
                <a16:creationId xmlns:a16="http://schemas.microsoft.com/office/drawing/2014/main" id="{64EE2B0A-0290-4AFA-8EE6-F0933876BC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850"/>
          <a:stretch/>
        </p:blipFill>
        <p:spPr>
          <a:xfrm>
            <a:off x="1371836" y="4255948"/>
            <a:ext cx="5444613" cy="1901290"/>
          </a:xfrm>
          <a:prstGeom prst="rect">
            <a:avLst/>
          </a:prstGeom>
        </p:spPr>
      </p:pic>
      <p:sp>
        <p:nvSpPr>
          <p:cNvPr id="14" name="חץ ימינה מחורץ 8">
            <a:extLst>
              <a:ext uri="{FF2B5EF4-FFF2-40B4-BE49-F238E27FC236}">
                <a16:creationId xmlns:a16="http://schemas.microsoft.com/office/drawing/2014/main" id="{3EB96459-33C3-4F9D-A082-FF1FEF80C21D}"/>
              </a:ext>
            </a:extLst>
          </p:cNvPr>
          <p:cNvSpPr/>
          <p:nvPr/>
        </p:nvSpPr>
        <p:spPr>
          <a:xfrm rot="1033200">
            <a:off x="7132838" y="2452758"/>
            <a:ext cx="931466" cy="31456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חץ ימינה מחורץ 8">
            <a:extLst>
              <a:ext uri="{FF2B5EF4-FFF2-40B4-BE49-F238E27FC236}">
                <a16:creationId xmlns:a16="http://schemas.microsoft.com/office/drawing/2014/main" id="{80F30D5B-7E11-4F55-8B41-0C261B0458DA}"/>
              </a:ext>
            </a:extLst>
          </p:cNvPr>
          <p:cNvSpPr/>
          <p:nvPr/>
        </p:nvSpPr>
        <p:spPr>
          <a:xfrm rot="8874447">
            <a:off x="6813268" y="4346484"/>
            <a:ext cx="1479604" cy="31456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CDEDE3-33FF-B452-7050-FE4B6C88C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0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7">
            <a:extLst>
              <a:ext uri="{FF2B5EF4-FFF2-40B4-BE49-F238E27FC236}">
                <a16:creationId xmlns:a16="http://schemas.microsoft.com/office/drawing/2014/main" id="{B872EA24-26D2-4367-AF46-967AC6F8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32" y="3310920"/>
            <a:ext cx="5696672" cy="2844273"/>
          </a:xfrm>
          <a:prstGeom prst="rect">
            <a:avLst/>
          </a:prstGeom>
        </p:spPr>
      </p:pic>
      <p:pic>
        <p:nvPicPr>
          <p:cNvPr id="5" name="תמונה 5">
            <a:extLst>
              <a:ext uri="{FF2B5EF4-FFF2-40B4-BE49-F238E27FC236}">
                <a16:creationId xmlns:a16="http://schemas.microsoft.com/office/drawing/2014/main" id="{A3BB0E92-2B22-458D-983F-79CB7B753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971" y="1730188"/>
            <a:ext cx="3477845" cy="5193582"/>
          </a:xfrm>
          <a:prstGeom prst="rect">
            <a:avLst/>
          </a:prstGeom>
        </p:spPr>
      </p:pic>
      <p:pic>
        <p:nvPicPr>
          <p:cNvPr id="6" name="תמונה 4">
            <a:extLst>
              <a:ext uri="{FF2B5EF4-FFF2-40B4-BE49-F238E27FC236}">
                <a16:creationId xmlns:a16="http://schemas.microsoft.com/office/drawing/2014/main" id="{45A9432D-B366-4A21-B194-7FEB6C28B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47" y="1275235"/>
            <a:ext cx="5286413" cy="1193388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26C37DA3-0AC8-4CCA-AD45-5F22F3B7922B}"/>
              </a:ext>
            </a:extLst>
          </p:cNvPr>
          <p:cNvSpPr/>
          <p:nvPr/>
        </p:nvSpPr>
        <p:spPr>
          <a:xfrm>
            <a:off x="6096000" y="982847"/>
            <a:ext cx="313353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...וגם פעולה בונה</a:t>
            </a: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חץ ימינה מחורץ 9">
            <a:extLst>
              <a:ext uri="{FF2B5EF4-FFF2-40B4-BE49-F238E27FC236}">
                <a16:creationId xmlns:a16="http://schemas.microsoft.com/office/drawing/2014/main" id="{E3A6C56B-7F8B-4A30-B2FA-973D933A41AA}"/>
              </a:ext>
            </a:extLst>
          </p:cNvPr>
          <p:cNvSpPr/>
          <p:nvPr/>
        </p:nvSpPr>
        <p:spPr>
          <a:xfrm rot="1033200">
            <a:off x="6371693" y="2040007"/>
            <a:ext cx="1610751" cy="30496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חץ ימינה מחורץ 11">
            <a:extLst>
              <a:ext uri="{FF2B5EF4-FFF2-40B4-BE49-F238E27FC236}">
                <a16:creationId xmlns:a16="http://schemas.microsoft.com/office/drawing/2014/main" id="{88E38C39-8F45-4A55-A35F-AE46FA817AEA}"/>
              </a:ext>
            </a:extLst>
          </p:cNvPr>
          <p:cNvSpPr/>
          <p:nvPr/>
        </p:nvSpPr>
        <p:spPr>
          <a:xfrm rot="9830825">
            <a:off x="6401772" y="3983011"/>
            <a:ext cx="1943914" cy="30496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568CA5A-D3F7-4C1D-95B8-0BA7C73A1295}"/>
              </a:ext>
            </a:extLst>
          </p:cNvPr>
          <p:cNvSpPr/>
          <p:nvPr/>
        </p:nvSpPr>
        <p:spPr>
          <a:xfrm>
            <a:off x="4279947" y="13063"/>
            <a:ext cx="49944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מחלקת עזר ל-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DB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324098-5D2A-3B9A-B8CA-954423FF8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32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6">
            <a:extLst>
              <a:ext uri="{FF2B5EF4-FFF2-40B4-BE49-F238E27FC236}">
                <a16:creationId xmlns:a16="http://schemas.microsoft.com/office/drawing/2014/main" id="{12C17926-5473-4CAA-B8EB-853D3D3D38BC}"/>
              </a:ext>
            </a:extLst>
          </p:cNvPr>
          <p:cNvSpPr/>
          <p:nvPr/>
        </p:nvSpPr>
        <p:spPr>
          <a:xfrm>
            <a:off x="1691311" y="1702476"/>
            <a:ext cx="92423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onCreate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יוצרים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מבנה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טבלה (או טבלאות, אם יש כמה...) הנמצאות באותו קובץ של בסיס נתונים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5" name="מלבן 12">
            <a:extLst>
              <a:ext uri="{FF2B5EF4-FFF2-40B4-BE49-F238E27FC236}">
                <a16:creationId xmlns:a16="http://schemas.microsoft.com/office/drawing/2014/main" id="{8AD47DE6-DBCB-4B9B-826A-48BFCB6CF2C8}"/>
              </a:ext>
            </a:extLst>
          </p:cNvPr>
          <p:cNvSpPr/>
          <p:nvPr/>
        </p:nvSpPr>
        <p:spPr>
          <a:xfrm>
            <a:off x="1922614" y="4509803"/>
            <a:ext cx="901099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onUpgrade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רושמים פקודות לעדכון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מבנה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הטבלה (טבלאות)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לבן 9">
            <a:extLst>
              <a:ext uri="{FF2B5EF4-FFF2-40B4-BE49-F238E27FC236}">
                <a16:creationId xmlns:a16="http://schemas.microsoft.com/office/drawing/2014/main" id="{69F25D99-F8EF-4311-970F-207B46915C55}"/>
              </a:ext>
            </a:extLst>
          </p:cNvPr>
          <p:cNvSpPr/>
          <p:nvPr/>
        </p:nvSpPr>
        <p:spPr>
          <a:xfrm>
            <a:off x="4279947" y="13063"/>
            <a:ext cx="49944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מחלקת עזר ל-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DB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3CE7D3-424B-A44C-5C07-5FD41D98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9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1545</TotalTime>
  <Words>193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Assistant</vt:lpstr>
      <vt:lpstr>Consolas</vt:lpstr>
      <vt:lpstr>Shmulik CLM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261</cp:revision>
  <dcterms:created xsi:type="dcterms:W3CDTF">2019-01-05T16:01:25Z</dcterms:created>
  <dcterms:modified xsi:type="dcterms:W3CDTF">2023-01-08T07:48:55Z</dcterms:modified>
</cp:coreProperties>
</file>