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77" r:id="rId3"/>
    <p:sldId id="312" r:id="rId4"/>
    <p:sldId id="283" r:id="rId5"/>
    <p:sldId id="284" r:id="rId6"/>
    <p:sldId id="285" r:id="rId7"/>
    <p:sldId id="313" r:id="rId8"/>
    <p:sldId id="286" r:id="rId9"/>
    <p:sldId id="287" r:id="rId10"/>
    <p:sldId id="288" r:id="rId11"/>
    <p:sldId id="289" r:id="rId12"/>
    <p:sldId id="290" r:id="rId13"/>
    <p:sldId id="291" r:id="rId14"/>
    <p:sldId id="293" r:id="rId15"/>
    <p:sldId id="292" r:id="rId16"/>
    <p:sldId id="294" r:id="rId17"/>
    <p:sldId id="295" r:id="rId18"/>
    <p:sldId id="296" r:id="rId19"/>
    <p:sldId id="297" r:id="rId20"/>
    <p:sldId id="298" r:id="rId21"/>
    <p:sldId id="299" r:id="rId22"/>
    <p:sldId id="301" r:id="rId23"/>
    <p:sldId id="305" r:id="rId24"/>
    <p:sldId id="306" r:id="rId25"/>
    <p:sldId id="302" r:id="rId26"/>
    <p:sldId id="307" r:id="rId27"/>
    <p:sldId id="308" r:id="rId28"/>
    <p:sldId id="309" r:id="rId29"/>
    <p:sldId id="310" r:id="rId30"/>
    <p:sldId id="31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ט'/אדר/תשפ"ג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165718" y="1038846"/>
            <a:ext cx="7505581" cy="39703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תהליך אסינכרוני</a:t>
            </a:r>
          </a:p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הוא תהליך המתבצע ברקע</a:t>
            </a:r>
          </a:p>
          <a:p>
            <a:pPr algn="ctr" rtl="1"/>
            <a:endParaRPr lang="en-US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AsyncTask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(אחד מאפשרויות לקיים תהליך אסינכרוני)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DED2-C3B1-E14A-8D5C-8077B425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2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393673" y="1018011"/>
            <a:ext cx="852103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 – syn –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chrony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מתוזמן עם משהו אחר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עם תהליך ראשי)</a:t>
            </a:r>
            <a:endParaRPr lang="he-IL" sz="40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71D0593-BE2C-3C7E-A88B-6E584662EAA3}"/>
              </a:ext>
            </a:extLst>
          </p:cNvPr>
          <p:cNvSpPr/>
          <p:nvPr/>
        </p:nvSpPr>
        <p:spPr>
          <a:xfrm>
            <a:off x="1393673" y="2853813"/>
            <a:ext cx="1349527" cy="970936"/>
          </a:xfrm>
          <a:prstGeom prst="wedgeRoundRectCallout">
            <a:avLst>
              <a:gd name="adj1" fmla="val 141520"/>
              <a:gd name="adj2" fmla="val -16370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600" dirty="0"/>
              <a:t>לא</a:t>
            </a:r>
            <a:endParaRPr lang="en-US" sz="3600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F5E4A80-85D8-FAEC-1345-280DC0E7EBB6}"/>
              </a:ext>
            </a:extLst>
          </p:cNvPr>
          <p:cNvSpPr/>
          <p:nvPr/>
        </p:nvSpPr>
        <p:spPr>
          <a:xfrm>
            <a:off x="4535079" y="3453581"/>
            <a:ext cx="3094753" cy="970936"/>
          </a:xfrm>
          <a:prstGeom prst="wedgeRoundRectCallout">
            <a:avLst>
              <a:gd name="adj1" fmla="val -39497"/>
              <a:gd name="adj2" fmla="val -23155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600" dirty="0"/>
              <a:t>ביחד, בהתאים</a:t>
            </a:r>
            <a:endParaRPr lang="en-US" sz="360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8F8B241-0476-742C-1828-25CD935A51F3}"/>
              </a:ext>
            </a:extLst>
          </p:cNvPr>
          <p:cNvSpPr/>
          <p:nvPr/>
        </p:nvSpPr>
        <p:spPr>
          <a:xfrm>
            <a:off x="8786358" y="2968113"/>
            <a:ext cx="1349527" cy="970936"/>
          </a:xfrm>
          <a:prstGeom prst="wedgeRoundRectCallout">
            <a:avLst>
              <a:gd name="adj1" fmla="val -161565"/>
              <a:gd name="adj2" fmla="val -17079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600" dirty="0"/>
              <a:t>זמן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8084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393673" y="1018011"/>
            <a:ext cx="852103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לביצוע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AsyncTask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לבנות מחלקה נפרדת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(אפשר ואפילו נוח כמחלקה פנימית)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היורשת מ-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AsyncTask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מחלקה חייבת להכיל לפחות פעולה אחת: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"מה לבצע ברקע</a:t>
            </a:r>
            <a:r>
              <a:rPr lang="he-IL" sz="4000" dirty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58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5346498" y="1054573"/>
            <a:ext cx="3096344" cy="5813259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תהליך ראשי</a:t>
            </a:r>
          </a:p>
          <a:p>
            <a:pPr algn="ctr" rtl="1"/>
            <a: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("זרם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</a:t>
            </a:r>
            <a: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")</a:t>
            </a:r>
          </a:p>
          <a:p>
            <a:pPr algn="ctr"/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he-IL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מאפשר</a:t>
            </a:r>
          </a:p>
          <a:p>
            <a:pPr algn="ctr"/>
            <a:r>
              <a:rPr lang="he-IL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גישה</a:t>
            </a:r>
          </a:p>
          <a:p>
            <a:pPr algn="ctr"/>
            <a:r>
              <a:rPr lang="he-IL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למרכיבים</a:t>
            </a:r>
          </a:p>
        </p:txBody>
      </p:sp>
      <p:sp>
        <p:nvSpPr>
          <p:cNvPr id="5" name="מלבן מעוגל 4"/>
          <p:cNvSpPr/>
          <p:nvPr/>
        </p:nvSpPr>
        <p:spPr>
          <a:xfrm>
            <a:off x="5255554" y="2986381"/>
            <a:ext cx="2808312" cy="576064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זימון תהליך רקע</a:t>
            </a:r>
          </a:p>
        </p:txBody>
      </p:sp>
      <p:sp>
        <p:nvSpPr>
          <p:cNvPr id="6" name="חץ מעוקל למטה 5"/>
          <p:cNvSpPr/>
          <p:nvPr/>
        </p:nvSpPr>
        <p:spPr>
          <a:xfrm flipH="1">
            <a:off x="1511138" y="1803224"/>
            <a:ext cx="4248472" cy="115212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7" name="מלבן מעוגל 6"/>
          <p:cNvSpPr/>
          <p:nvPr/>
        </p:nvSpPr>
        <p:spPr>
          <a:xfrm>
            <a:off x="142986" y="2955353"/>
            <a:ext cx="3312368" cy="103914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פעולה</a:t>
            </a:r>
          </a:p>
          <a:p>
            <a:pPr algn="ctr"/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doInBackground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he-IL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חץ מעוקל למטה 7"/>
          <p:cNvSpPr/>
          <p:nvPr/>
        </p:nvSpPr>
        <p:spPr>
          <a:xfrm rot="21186315" flipV="1">
            <a:off x="2680758" y="3719568"/>
            <a:ext cx="3896816" cy="131878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402193-4BD7-700B-54DE-41C62A46E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72060E-E5CD-99F0-89D9-C99F16C25B9D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64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מעוגל 1"/>
          <p:cNvSpPr/>
          <p:nvPr/>
        </p:nvSpPr>
        <p:spPr>
          <a:xfrm>
            <a:off x="4367808" y="1031685"/>
            <a:ext cx="4536504" cy="1728192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פעולה</a:t>
            </a:r>
          </a:p>
          <a:p>
            <a:pPr algn="ctr"/>
            <a:r>
              <a:rPr lang="en-US" sz="4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doInBackground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he-IL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מלבן 2"/>
          <p:cNvSpPr/>
          <p:nvPr/>
        </p:nvSpPr>
        <p:spPr>
          <a:xfrm>
            <a:off x="1094530" y="3276347"/>
            <a:ext cx="1024128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מתבצעת באופן אוטומטי מיד אחר זימן מחלקה שמכילה אך ורק תהליך רקע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אין ממנה גישה לרכיבים של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GUI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(כולל, למשל, הפעלת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Toast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מיד עם סיום הפעולה מסתיים גם תהליך רקע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CEAD48-4E7E-CDB1-85B2-A39D48263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3F9961-0D4F-2C53-FC15-46B86F04D5F8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07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435510" y="1228397"/>
            <a:ext cx="898668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בגלל של-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AsyncTask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אין גישה לרכיבים של ממשק המשתמש,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עלולה להיווצר תחושה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"לא קורה כלום", "משהו תקועה באפליקציה"...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לכן מאוד מקובל להפעיל לפני ביצוע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AsyncTask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רכיב עם אנימציה</a:t>
            </a:r>
            <a:endParaRPr lang="he-IL" sz="3600" u="sng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F9E10-3F13-73B5-4FE8-DA20BE5EC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8909C7-BB85-2AF9-927B-9FDCA71F7EB5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51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054882" y="1228397"/>
            <a:ext cx="770485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לעשות שימוש ב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AsyncTask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-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ידידותי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יותר (למשתמש!)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בנוסף לפעולה </a:t>
            </a:r>
            <a:r>
              <a:rPr lang="en-US" sz="3600" dirty="0" err="1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ll MT" panose="02020503060305020303" pitchFamily="18" charset="0"/>
                <a:cs typeface="+mj-cs"/>
              </a:rPr>
              <a:t>doInBackground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להוסיף למחלקה עוד שתי פעולות: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לבצע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3600" dirty="0" err="1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ll MT" panose="02020503060305020303" pitchFamily="18" charset="0"/>
                <a:cs typeface="+mj-cs"/>
              </a:rPr>
              <a:t>doInBackground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לבצע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3600" dirty="0" err="1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ll MT" panose="02020503060305020303" pitchFamily="18" charset="0"/>
                <a:cs typeface="+mj-cs"/>
              </a:rPr>
              <a:t>doInBackground</a:t>
            </a:r>
            <a:r>
              <a:rPr lang="he-IL" sz="360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F9E10-3F13-73B5-4FE8-DA20BE5EC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8909C7-BB85-2AF9-927B-9FDCA71F7EB5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6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322" y="1334075"/>
            <a:ext cx="3212766" cy="5400600"/>
          </a:xfrm>
          <a:prstGeom prst="rect">
            <a:avLst/>
          </a:prstGeom>
        </p:spPr>
      </p:pic>
      <p:sp>
        <p:nvSpPr>
          <p:cNvPr id="3" name="הסבר מלבני מעוגל 2"/>
          <p:cNvSpPr/>
          <p:nvPr/>
        </p:nvSpPr>
        <p:spPr>
          <a:xfrm>
            <a:off x="7583978" y="1866894"/>
            <a:ext cx="2808312" cy="936104"/>
          </a:xfrm>
          <a:prstGeom prst="wedgeRoundRectCallout">
            <a:avLst>
              <a:gd name="adj1" fmla="val -135524"/>
              <a:gd name="adj2" fmla="val -19234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6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קודם כל</a:t>
            </a:r>
          </a:p>
        </p:txBody>
      </p:sp>
      <p:sp>
        <p:nvSpPr>
          <p:cNvPr id="4" name="הסבר מלבני מעוגל 3"/>
          <p:cNvSpPr/>
          <p:nvPr/>
        </p:nvSpPr>
        <p:spPr>
          <a:xfrm>
            <a:off x="7675327" y="5280478"/>
            <a:ext cx="2808312" cy="936104"/>
          </a:xfrm>
          <a:prstGeom prst="wedgeRoundRectCallout">
            <a:avLst>
              <a:gd name="adj1" fmla="val -141705"/>
              <a:gd name="adj2" fmla="val 1075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6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בסוף</a:t>
            </a:r>
          </a:p>
        </p:txBody>
      </p:sp>
      <p:sp>
        <p:nvSpPr>
          <p:cNvPr id="5" name="הסבר מלבני מעוגל 4"/>
          <p:cNvSpPr/>
          <p:nvPr/>
        </p:nvSpPr>
        <p:spPr>
          <a:xfrm>
            <a:off x="8050127" y="3566323"/>
            <a:ext cx="2808312" cy="936104"/>
          </a:xfrm>
          <a:prstGeom prst="wedgeRoundRectCallout">
            <a:avLst>
              <a:gd name="adj1" fmla="val -152135"/>
              <a:gd name="adj2" fmla="val -236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6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עקרי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AE3BAB-E0BB-79D9-A690-6575A0F3C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92250A-B2BA-B9C5-342B-09BF2E880FD2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194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797450" y="1009700"/>
            <a:ext cx="770485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000" u="sng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על מנת לקבל עדכונים בזמן הביצוע</a:t>
            </a:r>
          </a:p>
          <a:p>
            <a:pPr algn="ctr" rtl="1"/>
            <a:endParaRPr lang="he-IL" sz="360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</a:t>
            </a:r>
            <a:r>
              <a:rPr lang="he-IL" sz="3600" dirty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sz="3600" dirty="0" err="1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ll MT" panose="02020503060305020303" pitchFamily="18" charset="0"/>
                <a:cs typeface="Gisha" panose="020B0502040204020203" pitchFamily="34" charset="-79"/>
              </a:rPr>
              <a:t>doInBackground</a:t>
            </a:r>
            <a:r>
              <a:rPr lang="en-US" sz="3600" dirty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ll MT" panose="02020503060305020303" pitchFamily="18" charset="0"/>
                <a:cs typeface="Gisha" panose="020B0502040204020203" pitchFamily="34" charset="-79"/>
              </a:rPr>
              <a:t>()</a:t>
            </a:r>
            <a:endParaRPr lang="he-IL" sz="36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ll MT" panose="02020503060305020303" pitchFamily="18" charset="0"/>
              <a:cs typeface="Gisha" panose="020B0502040204020203" pitchFamily="34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קיימת אפשרות להשתמש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בעוד שתי פעולות למחלקה אסינכרונית: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"בקשה" להצגת עדכונים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"הצגה" של עדכונים</a:t>
            </a:r>
          </a:p>
        </p:txBody>
      </p:sp>
      <p:sp>
        <p:nvSpPr>
          <p:cNvPr id="3" name="מלבן 2"/>
          <p:cNvSpPr/>
          <p:nvPr/>
        </p:nvSpPr>
        <p:spPr>
          <a:xfrm>
            <a:off x="3140342" y="6112407"/>
            <a:ext cx="656141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cs typeface="Guttman Yad-Brush" panose="02010401010101010101" pitchFamily="2" charset="-79"/>
              </a:rPr>
              <a:t>אז שוב מקבלים גישה ל-</a:t>
            </a:r>
            <a:r>
              <a:rPr lang="en-US" sz="3600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cs typeface="Guttman Yad-Brush" panose="02010401010101010101" pitchFamily="2" charset="-79"/>
              </a:rPr>
              <a:t>GUI</a:t>
            </a:r>
            <a:endParaRPr lang="he-IL" sz="3600" u="sng" dirty="0">
              <a:ln w="13462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+mj-lt"/>
              <a:cs typeface="Guttman Yad-Brush" panose="02010401010101010101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B7DED-D7AC-3B61-0936-23256EFF4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-13509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662133-6D9A-D43C-5F10-142530C4C216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78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54" y="560351"/>
            <a:ext cx="5641874" cy="5737297"/>
          </a:xfrm>
          <a:prstGeom prst="rect">
            <a:avLst/>
          </a:prstGeom>
        </p:spPr>
      </p:pic>
      <p:sp>
        <p:nvSpPr>
          <p:cNvPr id="7" name="הסבר מלבני מעוגל 6"/>
          <p:cNvSpPr/>
          <p:nvPr/>
        </p:nvSpPr>
        <p:spPr>
          <a:xfrm>
            <a:off x="7128389" y="2511720"/>
            <a:ext cx="4897548" cy="2679712"/>
          </a:xfrm>
          <a:prstGeom prst="wedgeRoundRectCallout">
            <a:avLst>
              <a:gd name="adj1" fmla="val -74104"/>
              <a:gd name="adj2" fmla="val 1470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6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יציאות קצרות:</a:t>
            </a:r>
            <a:endParaRPr lang="en-US" sz="36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ea typeface="Tahoma" panose="020B0604030504040204" pitchFamily="34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36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הם לא עוצרות(!) ביצוע תהליך רקע!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3BFAD-06F0-0F78-1B5C-E4B55E719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9709F5-7EA2-25E5-1422-9E63AD4FF109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127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542" y="1997393"/>
            <a:ext cx="7762875" cy="4143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76F4FA-2A6C-3854-B94F-4F46131F8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5615F0-0A6A-70F6-E73C-7AAC253035BB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06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137865" y="1016317"/>
            <a:ext cx="991626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בכותרת של המחלקת 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AsyncTask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מציינים שלושה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סוגים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 הפרמטרים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הנשלחים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בזימון למחלקה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 הנתונים אותם רוצים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לייצר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תוך כדי ביצוע המחלקה (בפעולה</a:t>
            </a:r>
            <a:r>
              <a:rPr lang="he-IL" sz="3600" dirty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sz="3600" dirty="0" err="1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ll MT" panose="02020503060305020303" pitchFamily="18" charset="0"/>
                <a:cs typeface="Gisha" panose="020B0502040204020203" pitchFamily="34" charset="-79"/>
              </a:rPr>
              <a:t>doInBackground</a:t>
            </a:r>
            <a:r>
              <a:rPr lang="he-IL" sz="3600" dirty="0">
                <a:ln w="11430"/>
                <a:solidFill>
                  <a:srgbClr val="C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 הנתונים שאמורים להתפרסם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כתוצאה</a:t>
            </a:r>
          </a:p>
        </p:txBody>
      </p:sp>
      <p:sp>
        <p:nvSpPr>
          <p:cNvPr id="3" name="מלבן 2"/>
          <p:cNvSpPr/>
          <p:nvPr/>
        </p:nvSpPr>
        <p:spPr>
          <a:xfrm>
            <a:off x="3039707" y="6096412"/>
            <a:ext cx="59522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cs typeface="Guttman Yad-Brush" panose="02010401010101010101" pitchFamily="2" charset="-79"/>
              </a:rPr>
              <a:t>לא מדובר במשתנים!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FEB352-C047-54D9-D972-234BBED55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5935464-50B5-D470-EAF6-EE79BD36B724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894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397193" y="2742592"/>
            <a:ext cx="879480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מקובל למקם את הפעולות</a:t>
            </a:r>
          </a:p>
          <a:p>
            <a:pPr algn="ctr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בתוך מחלקה אסינכרונית לפי "סדר הגיוני"</a:t>
            </a: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75" y="1176182"/>
            <a:ext cx="2968561" cy="49900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91FC2D-32EF-715B-3078-252C1472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E21EAE-C88C-7F45-8D97-305688F7CCBA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20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2945866" y="2716629"/>
            <a:ext cx="479888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7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דוגמאות</a:t>
            </a:r>
            <a:endParaRPr lang="he-IL" sz="72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C0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45FF29-7F8C-4778-38FE-534EAA0DD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53C92E-1AF0-2422-119D-0E0DA1FA2293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8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73788" y="2455209"/>
            <a:ext cx="87948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מעתיקים קובץ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מתיקיה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raw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לתיקיה פנימית</a:t>
            </a:r>
          </a:p>
        </p:txBody>
      </p:sp>
      <p:sp>
        <p:nvSpPr>
          <p:cNvPr id="5" name="מלבן 4"/>
          <p:cNvSpPr/>
          <p:nvPr/>
        </p:nvSpPr>
        <p:spPr>
          <a:xfrm>
            <a:off x="2368732" y="1215340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offline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721BD-AF5F-8D4C-1E53-AF8E49738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C4B9746-DD05-1284-709D-AE8182690885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027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346178" y="1039288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offline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465" y="2140131"/>
            <a:ext cx="8168539" cy="41822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4B780F-72BF-2129-EF1C-4AC1592C9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D68871-4416-DC05-F109-12305BCF185E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62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228986" y="854959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offline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86" y="4092199"/>
            <a:ext cx="8315704" cy="1133339"/>
          </a:xfrm>
          <a:prstGeom prst="rect">
            <a:avLst/>
          </a:prstGeom>
        </p:spPr>
      </p:pic>
      <p:sp>
        <p:nvSpPr>
          <p:cNvPr id="8" name="הסבר מלבני מעוגל 7"/>
          <p:cNvSpPr/>
          <p:nvPr/>
        </p:nvSpPr>
        <p:spPr>
          <a:xfrm>
            <a:off x="2704010" y="2050869"/>
            <a:ext cx="3133361" cy="827771"/>
          </a:xfrm>
          <a:prstGeom prst="wedgeRoundRectCallout">
            <a:avLst>
              <a:gd name="adj1" fmla="val 116417"/>
              <a:gd name="adj2" fmla="val 21196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לא מקבלת שום פרמטר</a:t>
            </a:r>
          </a:p>
        </p:txBody>
      </p:sp>
      <p:sp>
        <p:nvSpPr>
          <p:cNvPr id="9" name="הסבר מלבני מעוגל 8"/>
          <p:cNvSpPr/>
          <p:nvPr/>
        </p:nvSpPr>
        <p:spPr>
          <a:xfrm>
            <a:off x="4270690" y="5633616"/>
            <a:ext cx="3703364" cy="827771"/>
          </a:xfrm>
          <a:prstGeom prst="wedgeRoundRectCallout">
            <a:avLst>
              <a:gd name="adj1" fmla="val 73894"/>
              <a:gd name="adj2" fmla="val -18412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לא מציגה מידע תוך כדי ביצוע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8530046" y="1795685"/>
            <a:ext cx="2709321" cy="755097"/>
          </a:xfrm>
          <a:prstGeom prst="wedgeRoundRectCallout">
            <a:avLst>
              <a:gd name="adj1" fmla="val -10946"/>
              <a:gd name="adj2" fmla="val 27217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לא מחזירה נתונים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B81E88-1EB1-0F65-6DD0-C993C7BF3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E9FB87-5465-BFFD-B7AB-8F313EBF7A5E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71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524070" y="1117200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offline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511" y="4388720"/>
            <a:ext cx="8135236" cy="2291036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68" y="2602850"/>
            <a:ext cx="8129962" cy="14900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334B65-6D33-967E-149E-2A87B1F19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58E7CD-3919-AE92-AE13-58C73A94F513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787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972408" y="1015165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offline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417" y="2113733"/>
            <a:ext cx="3727921" cy="1191170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966" y="4260668"/>
            <a:ext cx="4327043" cy="1538504"/>
          </a:xfrm>
          <a:prstGeom prst="rect">
            <a:avLst/>
          </a:prstGeom>
        </p:spPr>
      </p:pic>
      <p:sp>
        <p:nvSpPr>
          <p:cNvPr id="4" name="חץ מכופף 3"/>
          <p:cNvSpPr/>
          <p:nvPr/>
        </p:nvSpPr>
        <p:spPr>
          <a:xfrm rot="5400000">
            <a:off x="5963194" y="2266406"/>
            <a:ext cx="1567543" cy="215537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51642E-300A-9F01-3F40-B557EA59F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9BBFDC-FAD7-DAC9-CDCC-3A50F4007DBF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59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524070" y="797982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offline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27" y="4345831"/>
            <a:ext cx="5909785" cy="1231855"/>
          </a:xfrm>
          <a:prstGeom prst="rect">
            <a:avLst/>
          </a:prstGeom>
        </p:spPr>
      </p:pic>
      <p:sp>
        <p:nvSpPr>
          <p:cNvPr id="8" name="הסבר מלבני מעוגל 7"/>
          <p:cNvSpPr/>
          <p:nvPr/>
        </p:nvSpPr>
        <p:spPr>
          <a:xfrm>
            <a:off x="663009" y="2605453"/>
            <a:ext cx="2129431" cy="827771"/>
          </a:xfrm>
          <a:prstGeom prst="wedgeRoundRectCallout">
            <a:avLst>
              <a:gd name="adj1" fmla="val 116417"/>
              <a:gd name="adj2" fmla="val 21196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זימון מחלקה</a:t>
            </a:r>
          </a:p>
        </p:txBody>
      </p:sp>
      <p:sp>
        <p:nvSpPr>
          <p:cNvPr id="9" name="הסבר מלבני מעוגל 8"/>
          <p:cNvSpPr/>
          <p:nvPr/>
        </p:nvSpPr>
        <p:spPr>
          <a:xfrm>
            <a:off x="5485115" y="2350269"/>
            <a:ext cx="2709321" cy="755097"/>
          </a:xfrm>
          <a:prstGeom prst="wedgeRoundRectCallout">
            <a:avLst>
              <a:gd name="adj1" fmla="val -50482"/>
              <a:gd name="adj2" fmla="val 28947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בלי פרמטרים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265" y="5081451"/>
            <a:ext cx="2827666" cy="1609114"/>
          </a:xfrm>
          <a:prstGeom prst="rect">
            <a:avLst/>
          </a:prstGeom>
        </p:spPr>
      </p:pic>
      <p:sp>
        <p:nvSpPr>
          <p:cNvPr id="10" name="הסבר מלבני מעוגל 9"/>
          <p:cNvSpPr/>
          <p:nvPr/>
        </p:nvSpPr>
        <p:spPr>
          <a:xfrm>
            <a:off x="4852480" y="5886008"/>
            <a:ext cx="1566763" cy="755097"/>
          </a:xfrm>
          <a:prstGeom prst="wedgeRoundRectCallout">
            <a:avLst>
              <a:gd name="adj1" fmla="val 205478"/>
              <a:gd name="adj2" fmla="val 10956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תוצאה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861E3-95BA-A93A-6FD1-E7B3E81EB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A6300FD-76F0-C58E-B330-8EF6ACF3ED43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572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857455" y="1104331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קריאת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92" y="4431517"/>
            <a:ext cx="7727506" cy="473665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4644"/>
            <a:ext cx="12135070" cy="405902"/>
          </a:xfrm>
          <a:prstGeom prst="rect">
            <a:avLst/>
          </a:prstGeom>
        </p:spPr>
      </p:pic>
      <p:sp>
        <p:nvSpPr>
          <p:cNvPr id="8" name="הסבר מלבני מעוגל 7"/>
          <p:cNvSpPr/>
          <p:nvPr/>
        </p:nvSpPr>
        <p:spPr>
          <a:xfrm>
            <a:off x="5707184" y="2513889"/>
            <a:ext cx="2901239" cy="1056330"/>
          </a:xfrm>
          <a:prstGeom prst="wedgeRoundRectCallout">
            <a:avLst>
              <a:gd name="adj1" fmla="val -74589"/>
              <a:gd name="adj2" fmla="val 14935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אישור גישה לאינטרנט</a:t>
            </a:r>
          </a:p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ב-</a:t>
            </a:r>
            <a:r>
              <a:rPr lang="en-US" sz="2800" spc="-150" dirty="0" err="1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AndroidManifest</a:t>
            </a:r>
            <a:endParaRPr lang="en-US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8608423" y="4358841"/>
            <a:ext cx="2901239" cy="769917"/>
          </a:xfrm>
          <a:prstGeom prst="wedgeRoundRectCallout">
            <a:avLst>
              <a:gd name="adj1" fmla="val -79992"/>
              <a:gd name="adj2" fmla="val 20703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כתובת הקובץ לקריאה</a:t>
            </a:r>
            <a:endParaRPr lang="en-US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9A4E63-B796-58C8-A10B-B2DB0AB67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48D7D45-CDDD-B10A-0BC1-680EC6F2179E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215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99" y="4523060"/>
            <a:ext cx="5979828" cy="799284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1965609" y="1194432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קריאת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3486499" y="2460377"/>
            <a:ext cx="2901239" cy="1056330"/>
          </a:xfrm>
          <a:prstGeom prst="wedgeRoundRectCallout">
            <a:avLst>
              <a:gd name="adj1" fmla="val -74589"/>
              <a:gd name="adj2" fmla="val 14935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יצירת עצם מסוג "מחלקה אסינכרונית</a:t>
            </a:r>
            <a:endParaRPr lang="en-US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הסבר מלבני מעוגל 8"/>
          <p:cNvSpPr/>
          <p:nvPr/>
        </p:nvSpPr>
        <p:spPr>
          <a:xfrm>
            <a:off x="8255726" y="4894127"/>
            <a:ext cx="3828702" cy="1714687"/>
          </a:xfrm>
          <a:prstGeom prst="wedgeRoundRectCallout">
            <a:avLst>
              <a:gd name="adj1" fmla="val -133899"/>
              <a:gd name="adj2" fmla="val -3674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זימון המחלקה אסינכרונית כולל העברת פרמטר מסוג "מחרוזת" (כתובת")</a:t>
            </a:r>
            <a:endParaRPr lang="en-US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B70040-3536-85CD-BEDC-BD3512997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47AE9F-DCA0-EE2C-4E1E-4EC5914D0404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83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063931" y="1228115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קריאת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21" y="4485087"/>
            <a:ext cx="10688081" cy="631644"/>
          </a:xfrm>
          <a:prstGeom prst="rect">
            <a:avLst/>
          </a:prstGeom>
        </p:spPr>
      </p:pic>
      <p:sp>
        <p:nvSpPr>
          <p:cNvPr id="10" name="הסבר מלבני מעוגל 9"/>
          <p:cNvSpPr/>
          <p:nvPr/>
        </p:nvSpPr>
        <p:spPr>
          <a:xfrm>
            <a:off x="1358537" y="2548055"/>
            <a:ext cx="3525246" cy="827771"/>
          </a:xfrm>
          <a:prstGeom prst="wedgeRoundRectCallout">
            <a:avLst>
              <a:gd name="adj1" fmla="val 122346"/>
              <a:gd name="adj2" fmla="val 20092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מקבלת פרמטר מסוג </a:t>
            </a:r>
            <a:r>
              <a:rPr lang="en-US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String</a:t>
            </a:r>
            <a:endParaRPr lang="he-IL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הסבר מלבני מעוגל 10"/>
          <p:cNvSpPr/>
          <p:nvPr/>
        </p:nvSpPr>
        <p:spPr>
          <a:xfrm>
            <a:off x="4766218" y="5828585"/>
            <a:ext cx="3703364" cy="827771"/>
          </a:xfrm>
          <a:prstGeom prst="wedgeRoundRectCallout">
            <a:avLst>
              <a:gd name="adj1" fmla="val 54388"/>
              <a:gd name="adj2" fmla="val -14790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מציגה מידע תוך כדי ביצוע בעזרת ערך מסוג </a:t>
            </a:r>
            <a:r>
              <a:rPr lang="en-US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Integer</a:t>
            </a:r>
            <a:endParaRPr lang="he-IL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הסבר מלבני מעוגל 11"/>
          <p:cNvSpPr/>
          <p:nvPr/>
        </p:nvSpPr>
        <p:spPr>
          <a:xfrm>
            <a:off x="8290865" y="2936907"/>
            <a:ext cx="2709321" cy="755097"/>
          </a:xfrm>
          <a:prstGeom prst="wedgeRoundRectCallout">
            <a:avLst>
              <a:gd name="adj1" fmla="val 14608"/>
              <a:gd name="adj2" fmla="val 17357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לא מחזירה נתונים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BA3206-4D9D-91AC-B3DF-D966ED146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A82C2D-A931-0365-E889-A8AE59B4481A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595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886951" y="1599348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144" y="4811517"/>
            <a:ext cx="4629154" cy="1842816"/>
          </a:xfrm>
          <a:prstGeom prst="rect">
            <a:avLst/>
          </a:prstGeom>
        </p:spPr>
      </p:pic>
      <p:sp>
        <p:nvSpPr>
          <p:cNvPr id="8" name="הסבר מלבני מעוגל 7"/>
          <p:cNvSpPr/>
          <p:nvPr/>
        </p:nvSpPr>
        <p:spPr>
          <a:xfrm>
            <a:off x="2408706" y="3814930"/>
            <a:ext cx="6454312" cy="603687"/>
          </a:xfrm>
          <a:prstGeom prst="wedgeRoundRectCallout">
            <a:avLst>
              <a:gd name="adj1" fmla="val 27337"/>
              <a:gd name="adj2" fmla="val 18366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פעולה </a:t>
            </a:r>
            <a:r>
              <a:rPr lang="he-IL" sz="2800" u="sng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לפני</a:t>
            </a:r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ביצוע אסינכרוני (</a:t>
            </a:r>
            <a:r>
              <a:rPr lang="he-IL" sz="2800" u="sng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יש גישה לממשק!)</a:t>
            </a:r>
            <a:endParaRPr lang="he-IL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F0492-5E1A-74E5-0BF2-80C482A95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536594-B04C-2CD5-52C9-B246A12A05C3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714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515" y="5730209"/>
            <a:ext cx="7245768" cy="978763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2063932" y="1235189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1423852" y="3205331"/>
            <a:ext cx="6454312" cy="603687"/>
          </a:xfrm>
          <a:prstGeom prst="wedgeRoundRectCallout">
            <a:avLst>
              <a:gd name="adj1" fmla="val 52252"/>
              <a:gd name="adj2" fmla="val 42241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בכותרת הפעולה "מוציאים" את הפרמטר הנשלח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271518-C3A2-2934-7B20-C0AFC095A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A9973B6-47A2-322F-CB66-9CB03776C7EF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599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19" y="4123826"/>
            <a:ext cx="9051015" cy="1002574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2189296" y="1066080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1423852" y="2654725"/>
            <a:ext cx="5042262" cy="708190"/>
          </a:xfrm>
          <a:prstGeom prst="wedgeRoundRectCallout">
            <a:avLst>
              <a:gd name="adj1" fmla="val 2770"/>
              <a:gd name="adj2" fmla="val 167866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הופכים מחרוזת לכתובת של ממש (</a:t>
            </a:r>
            <a:r>
              <a:rPr lang="en-US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URL</a:t>
            </a:r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9" name="הסבר מלבני מעוגל 8"/>
          <p:cNvSpPr/>
          <p:nvPr/>
        </p:nvSpPr>
        <p:spPr>
          <a:xfrm>
            <a:off x="8112034" y="2654725"/>
            <a:ext cx="3743198" cy="708190"/>
          </a:xfrm>
          <a:prstGeom prst="wedgeRoundRectCallout">
            <a:avLst>
              <a:gd name="adj1" fmla="val -28638"/>
              <a:gd name="adj2" fmla="val 210290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יוצרים חיבור לכתובת (קובץ)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2939845" y="5570399"/>
            <a:ext cx="5483842" cy="1160410"/>
          </a:xfrm>
          <a:prstGeom prst="wedgeRoundRectCallout">
            <a:avLst>
              <a:gd name="adj1" fmla="val -24181"/>
              <a:gd name="adj2" fmla="val -90876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פותחים "ערוץ גישה וזרימה" לכתובת (קובץ)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A79CB-2E40-B48E-A64F-88F6612FF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95F64B-50C3-7E26-CD58-4AF3045BB50C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646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01" y="4035632"/>
            <a:ext cx="6773435" cy="2065285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1719803" y="1016317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8640166" y="4035632"/>
            <a:ext cx="3293135" cy="1491961"/>
          </a:xfrm>
          <a:prstGeom prst="wedgeRoundRectCallout">
            <a:avLst>
              <a:gd name="adj1" fmla="val -170178"/>
              <a:gd name="adj2" fmla="val -899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בכל סיבוב מבצעים </a:t>
            </a:r>
          </a:p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"יציאה זמנית" </a:t>
            </a:r>
          </a:p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ל"פעולת דיווח"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915BD5-FC65-AD4F-E9AB-25B37E29D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ED8EEC-4F39-266B-CC0F-580650ED53F2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820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27" y="4739640"/>
            <a:ext cx="6794657" cy="1793229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677227" y="720548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7053944" y="1788257"/>
            <a:ext cx="3690638" cy="2653115"/>
          </a:xfrm>
          <a:prstGeom prst="wedgeRoundRectCallout">
            <a:avLst>
              <a:gd name="adj1" fmla="val -131598"/>
              <a:gd name="adj2" fmla="val 7569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"פעולת דיווח"</a:t>
            </a:r>
          </a:p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(</a:t>
            </a:r>
            <a:r>
              <a:rPr lang="he-IL" sz="2800" u="sng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יש לה גישה לממשק!</a:t>
            </a:r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)</a:t>
            </a:r>
          </a:p>
          <a:p>
            <a:pPr algn="ctr" rtl="1"/>
            <a:endParaRPr lang="he-IL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ממנה </a:t>
            </a:r>
            <a:r>
              <a:rPr lang="he-IL" sz="2800" spc="-150" dirty="0" err="1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הוזרים</a:t>
            </a:r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(אוטומטי)</a:t>
            </a:r>
          </a:p>
          <a:p>
            <a:pPr algn="ctr" rtl="1"/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לפעולה </a:t>
            </a:r>
            <a:r>
              <a:rPr lang="en-US" sz="2800" spc="-150" dirty="0" err="1">
                <a:solidFill>
                  <a:schemeClr val="bg1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doInBackground</a:t>
            </a:r>
            <a:endParaRPr lang="he-IL" sz="2800" spc="-150" dirty="0">
              <a:solidFill>
                <a:schemeClr val="bg1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30A75-B15A-4A35-6829-007F2AEC2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90997A-EB23-B552-7F08-D74331D04952}"/>
              </a:ext>
            </a:extLst>
          </p:cNvPr>
          <p:cNvSpPr/>
          <p:nvPr/>
        </p:nvSpPr>
        <p:spPr>
          <a:xfrm>
            <a:off x="8750110" y="9832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774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926280" y="1173911"/>
            <a:ext cx="714386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העתקת קובץ (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online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)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97" y="4914648"/>
            <a:ext cx="5554782" cy="1814376"/>
          </a:xfrm>
          <a:prstGeom prst="rect">
            <a:avLst/>
          </a:prstGeom>
        </p:spPr>
      </p:pic>
      <p:sp>
        <p:nvSpPr>
          <p:cNvPr id="9" name="הסבר מלבני מעוגל 8"/>
          <p:cNvSpPr/>
          <p:nvPr/>
        </p:nvSpPr>
        <p:spPr>
          <a:xfrm>
            <a:off x="2063932" y="2825313"/>
            <a:ext cx="6454312" cy="603687"/>
          </a:xfrm>
          <a:prstGeom prst="wedgeRoundRectCallout">
            <a:avLst>
              <a:gd name="adj1" fmla="val 33430"/>
              <a:gd name="adj2" fmla="val 38562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spc="-15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פעולה </a:t>
            </a:r>
            <a:r>
              <a:rPr lang="he-IL" sz="2800" u="sng" spc="-15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אחרי</a:t>
            </a:r>
            <a:r>
              <a:rPr lang="he-IL" sz="2800" spc="-15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he-IL" sz="2800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ביצוע אסינכרוני (</a:t>
            </a:r>
            <a:r>
              <a:rPr lang="he-IL" sz="2800" u="sng" spc="-150" dirty="0">
                <a:solidFill>
                  <a:srgbClr val="C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יש גישה לממשק!)</a:t>
            </a:r>
            <a:endParaRPr lang="he-IL" sz="2800" spc="-150" dirty="0">
              <a:solidFill>
                <a:srgbClr val="C0000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59159A-619F-C3A0-5641-560E53B3B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DE31D7-5294-B455-107D-BA0BF2B370DF}"/>
              </a:ext>
            </a:extLst>
          </p:cNvPr>
          <p:cNvSpPr/>
          <p:nvPr/>
        </p:nvSpPr>
        <p:spPr>
          <a:xfrm>
            <a:off x="8750110" y="0"/>
            <a:ext cx="252113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AsyncTask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5610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ppt/theme/themeOverride1.xml><?xml version="1.0" encoding="utf-8"?>
<a:themeOverride xmlns:a="http://schemas.openxmlformats.org/drawingml/2006/main">
  <a:clrScheme name="מעגל">
    <a:dk1>
      <a:sysClr val="windowText" lastClr="000000"/>
    </a:dk1>
    <a:lt1>
      <a:sysClr val="window" lastClr="FFFFFF"/>
    </a:lt1>
    <a:dk2>
      <a:srgbClr val="252C36"/>
    </a:dk2>
    <a:lt2>
      <a:srgbClr val="7C96A3"/>
    </a:lt2>
    <a:accent1>
      <a:srgbClr val="4FD093"/>
    </a:accent1>
    <a:accent2>
      <a:srgbClr val="54BCDF"/>
    </a:accent2>
    <a:accent3>
      <a:srgbClr val="A262D0"/>
    </a:accent3>
    <a:accent4>
      <a:srgbClr val="D7537B"/>
    </a:accent4>
    <a:accent5>
      <a:srgbClr val="E78045"/>
    </a:accent5>
    <a:accent6>
      <a:srgbClr val="84C350"/>
    </a:accent6>
    <a:hlink>
      <a:srgbClr val="22FFFF"/>
    </a:hlink>
    <a:folHlink>
      <a:srgbClr val="9BF3F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</TotalTime>
  <Words>533</Words>
  <Application>Microsoft Office PowerPoint</Application>
  <PresentationFormat>Widescreen</PresentationFormat>
  <Paragraphs>157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Assistant</vt:lpstr>
      <vt:lpstr>Bell MT</vt:lpstr>
      <vt:lpstr>Calibri</vt:lpstr>
      <vt:lpstr>Consolas</vt:lpstr>
      <vt:lpstr>Gisha</vt:lpstr>
      <vt:lpstr>Segoe UI Semibold</vt:lpstr>
      <vt:lpstr>Shmulik CLM</vt:lpstr>
      <vt:lpstr>Tahoma</vt:lpstr>
      <vt:lpstr>Times New Roman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324</cp:revision>
  <dcterms:created xsi:type="dcterms:W3CDTF">2019-01-05T16:01:25Z</dcterms:created>
  <dcterms:modified xsi:type="dcterms:W3CDTF">2023-03-02T09:01:44Z</dcterms:modified>
</cp:coreProperties>
</file>