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498" r:id="rId3"/>
    <p:sldId id="504" r:id="rId4"/>
    <p:sldId id="499" r:id="rId5"/>
    <p:sldId id="500" r:id="rId6"/>
    <p:sldId id="501" r:id="rId7"/>
    <p:sldId id="505" r:id="rId8"/>
    <p:sldId id="502" r:id="rId9"/>
    <p:sldId id="511" r:id="rId10"/>
    <p:sldId id="512" r:id="rId11"/>
    <p:sldId id="513" r:id="rId12"/>
    <p:sldId id="503" r:id="rId13"/>
    <p:sldId id="506" r:id="rId14"/>
    <p:sldId id="514" r:id="rId15"/>
    <p:sldId id="51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כ"ה/טבת/תשפ"ד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כ"ה/טבת/תשפ"ד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כ"ה/טבת/תשפ"ד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כ"ה/טבת/תשפ"ד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כ"ה/טבת/תשפ"ד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כ"ה/טבת/תשפ"ד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כ"ה/טבת/תשפ"ד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כ"ה/טבת/תשפ"ד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כ"ה/טבת/תשפ"ד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כ"ה/טבת/תשפ"ד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כ"ה/טבת/תשפ"ד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כ"ה/טבת/תשפ"ד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כ"ה/טבת/תשפ"ד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כ"ה/טבת/תשפ"ד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כ"ה/טבת/תשפ"ד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כ"ה/טבת/תשפ"ד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כ"ה/טבת/תשפ"ד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כ"ה/טבת/תשפ"ד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tpoint.com/java-util-calendar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2204660" y="1520526"/>
            <a:ext cx="8432117" cy="38164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השתלמות</a:t>
            </a:r>
          </a:p>
          <a:p>
            <a:pPr algn="ctr" rtl="1"/>
            <a:endParaRPr lang="he-IL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"אנדרואיד – פרויקט לבגרות"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מנחה: זאב </a:t>
            </a:r>
            <a:r>
              <a:rPr lang="he-IL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פריימן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248236"/>
            <a:ext cx="10855236" cy="458587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Notification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הן הודעות מתאימות להפעלה מושהית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(מתבצעת או אחרי זמן מסוים, או בתאריך ושעה עתידיים)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אפשר להפעיל אותם גם בזמן שאפליקציה פעילה,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אבל ברב המקרים מפעילים אותם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אחרי שאפליקציה כבר נסגרה.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4671715" y="0"/>
            <a:ext cx="677621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AlarmManager+Notification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956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248236"/>
            <a:ext cx="10855236" cy="48320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כאשר רוצים להפעיל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notification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אחרי סגירת האפליקציה,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צריך להעביר "טיפול" בה לידי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מערכת אנדרואיד שבמכשיר.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המנגנון ל"העברת טיפול" הזה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הוא 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AlarmManager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4671715" y="0"/>
            <a:ext cx="677621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AlarmManager+Notification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5292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248236"/>
            <a:ext cx="10855236" cy="569386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אחד מהפרמטרים החשובים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ב-</a:t>
            </a:r>
            <a:r>
              <a:rPr lang="en-US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AlarmManager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הוא "מתי להפעיל?"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ולכן כאן טבעי מאוד להשתמש בדברים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הקיימים ב-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ובאנדרואיד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עבור "טיפול" ב</a:t>
            </a:r>
            <a:r>
              <a:rPr lang="he-IL" sz="40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תאריך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וב</a:t>
            </a:r>
            <a:r>
              <a:rPr lang="he-IL" sz="40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זמן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:</a:t>
            </a:r>
          </a:p>
          <a:p>
            <a:pPr algn="ctr" rtl="1"/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Calendar</a:t>
            </a:r>
          </a:p>
          <a:p>
            <a:pPr algn="ctr" rtl="1"/>
            <a:r>
              <a:rPr lang="en-US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DatePickerDialog</a:t>
            </a:r>
            <a:endParaRPr lang="en-US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en-US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TimePickerDialog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או באחרים שדומים להם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4671715" y="0"/>
            <a:ext cx="677621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AlarmManager+Notification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12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2065352" y="508158"/>
            <a:ext cx="2606363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Calendar</a:t>
            </a:r>
            <a:endParaRPr lang="en-US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4671715" y="0"/>
            <a:ext cx="677621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AlarmManager+Notification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6" name="תמונה 1">
            <a:extLst>
              <a:ext uri="{FF2B5EF4-FFF2-40B4-BE49-F238E27FC236}">
                <a16:creationId xmlns:a16="http://schemas.microsoft.com/office/drawing/2014/main" id="{A2272C02-7E4D-B0F2-22AC-E4AFCCB03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086" y="2617105"/>
            <a:ext cx="2131447" cy="579604"/>
          </a:xfrm>
          <a:prstGeom prst="rect">
            <a:avLst/>
          </a:prstGeom>
        </p:spPr>
      </p:pic>
      <p:pic>
        <p:nvPicPr>
          <p:cNvPr id="7" name="תמונה 2">
            <a:extLst>
              <a:ext uri="{FF2B5EF4-FFF2-40B4-BE49-F238E27FC236}">
                <a16:creationId xmlns:a16="http://schemas.microsoft.com/office/drawing/2014/main" id="{4D9D88B3-55FE-D289-14B7-6B86CF1041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0216" y="3118619"/>
            <a:ext cx="5514441" cy="1936707"/>
          </a:xfrm>
          <a:prstGeom prst="rect">
            <a:avLst/>
          </a:prstGeom>
        </p:spPr>
      </p:pic>
      <p:sp>
        <p:nvSpPr>
          <p:cNvPr id="8" name="הסבר קווי 1 6">
            <a:extLst>
              <a:ext uri="{FF2B5EF4-FFF2-40B4-BE49-F238E27FC236}">
                <a16:creationId xmlns:a16="http://schemas.microsoft.com/office/drawing/2014/main" id="{99C96F48-7516-F34E-0089-250913597E34}"/>
              </a:ext>
            </a:extLst>
          </p:cNvPr>
          <p:cNvSpPr/>
          <p:nvPr/>
        </p:nvSpPr>
        <p:spPr>
          <a:xfrm flipH="1">
            <a:off x="3086972" y="1216620"/>
            <a:ext cx="1267097" cy="430362"/>
          </a:xfrm>
          <a:prstGeom prst="borderCallout1">
            <a:avLst>
              <a:gd name="adj1" fmla="val 50740"/>
              <a:gd name="adj2" fmla="val 98778"/>
              <a:gd name="adj3" fmla="val 310395"/>
              <a:gd name="adj4" fmla="val 132965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עצם</a:t>
            </a:r>
          </a:p>
        </p:txBody>
      </p:sp>
      <p:sp>
        <p:nvSpPr>
          <p:cNvPr id="10" name="הסבר קווי 1 10">
            <a:extLst>
              <a:ext uri="{FF2B5EF4-FFF2-40B4-BE49-F238E27FC236}">
                <a16:creationId xmlns:a16="http://schemas.microsoft.com/office/drawing/2014/main" id="{BD12E980-19E9-DF64-201D-61EDDCDB4D3B}"/>
              </a:ext>
            </a:extLst>
          </p:cNvPr>
          <p:cNvSpPr/>
          <p:nvPr/>
        </p:nvSpPr>
        <p:spPr>
          <a:xfrm flipH="1">
            <a:off x="6449652" y="1409897"/>
            <a:ext cx="2733536" cy="846846"/>
          </a:xfrm>
          <a:prstGeom prst="borderCallout1">
            <a:avLst>
              <a:gd name="adj1" fmla="val 50740"/>
              <a:gd name="adj2" fmla="val 98778"/>
              <a:gd name="adj3" fmla="val 211673"/>
              <a:gd name="adj4" fmla="val 109071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עצם מקבל מידע על "הרגע העכשווי"</a:t>
            </a:r>
          </a:p>
        </p:txBody>
      </p:sp>
      <p:sp>
        <p:nvSpPr>
          <p:cNvPr id="11" name="הסבר קווי 1 11">
            <a:extLst>
              <a:ext uri="{FF2B5EF4-FFF2-40B4-BE49-F238E27FC236}">
                <a16:creationId xmlns:a16="http://schemas.microsoft.com/office/drawing/2014/main" id="{CC071BD4-8B03-7A8D-2EA1-7F0CD8F22E5A}"/>
              </a:ext>
            </a:extLst>
          </p:cNvPr>
          <p:cNvSpPr/>
          <p:nvPr/>
        </p:nvSpPr>
        <p:spPr>
          <a:xfrm flipH="1">
            <a:off x="10286734" y="2695196"/>
            <a:ext cx="1731094" cy="423423"/>
          </a:xfrm>
          <a:prstGeom prst="borderCallout1">
            <a:avLst>
              <a:gd name="adj1" fmla="val 50740"/>
              <a:gd name="adj2" fmla="val 98778"/>
              <a:gd name="adj3" fmla="val 186992"/>
              <a:gd name="adj4" fmla="val 207924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שנה נוכחית</a:t>
            </a:r>
          </a:p>
        </p:txBody>
      </p:sp>
      <p:sp>
        <p:nvSpPr>
          <p:cNvPr id="12" name="הסבר קווי 1 12">
            <a:extLst>
              <a:ext uri="{FF2B5EF4-FFF2-40B4-BE49-F238E27FC236}">
                <a16:creationId xmlns:a16="http://schemas.microsoft.com/office/drawing/2014/main" id="{91C02C6A-7AB6-78A8-F0A5-30060750E666}"/>
              </a:ext>
            </a:extLst>
          </p:cNvPr>
          <p:cNvSpPr/>
          <p:nvPr/>
        </p:nvSpPr>
        <p:spPr>
          <a:xfrm flipH="1">
            <a:off x="10286734" y="3426716"/>
            <a:ext cx="1731094" cy="423423"/>
          </a:xfrm>
          <a:prstGeom prst="borderCallout1">
            <a:avLst>
              <a:gd name="adj1" fmla="val 50740"/>
              <a:gd name="adj2" fmla="val 98778"/>
              <a:gd name="adj3" fmla="val 103695"/>
              <a:gd name="adj4" fmla="val 186041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חודש נוכחי</a:t>
            </a:r>
          </a:p>
        </p:txBody>
      </p:sp>
      <p:sp>
        <p:nvSpPr>
          <p:cNvPr id="13" name="הסבר קווי 1 13">
            <a:extLst>
              <a:ext uri="{FF2B5EF4-FFF2-40B4-BE49-F238E27FC236}">
                <a16:creationId xmlns:a16="http://schemas.microsoft.com/office/drawing/2014/main" id="{24CF4C92-7FD1-1D4C-D636-B916FE7BE203}"/>
              </a:ext>
            </a:extLst>
          </p:cNvPr>
          <p:cNvSpPr/>
          <p:nvPr/>
        </p:nvSpPr>
        <p:spPr>
          <a:xfrm flipH="1">
            <a:off x="10286734" y="4158236"/>
            <a:ext cx="1731094" cy="675021"/>
          </a:xfrm>
          <a:prstGeom prst="borderCallout1">
            <a:avLst>
              <a:gd name="adj1" fmla="val 50740"/>
              <a:gd name="adj2" fmla="val 98778"/>
              <a:gd name="adj3" fmla="val 1888"/>
              <a:gd name="adj4" fmla="val 158121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יום נוכחי בחודש</a:t>
            </a:r>
          </a:p>
        </p:txBody>
      </p:sp>
      <p:sp>
        <p:nvSpPr>
          <p:cNvPr id="14" name="הסבר קווי 1 14">
            <a:extLst>
              <a:ext uri="{FF2B5EF4-FFF2-40B4-BE49-F238E27FC236}">
                <a16:creationId xmlns:a16="http://schemas.microsoft.com/office/drawing/2014/main" id="{BCB2657C-D6C4-3482-0282-3C686BE6A33F}"/>
              </a:ext>
            </a:extLst>
          </p:cNvPr>
          <p:cNvSpPr/>
          <p:nvPr/>
        </p:nvSpPr>
        <p:spPr>
          <a:xfrm flipH="1">
            <a:off x="9981933" y="5355664"/>
            <a:ext cx="1853015" cy="675021"/>
          </a:xfrm>
          <a:prstGeom prst="borderCallout1">
            <a:avLst>
              <a:gd name="adj1" fmla="val 50740"/>
              <a:gd name="adj2" fmla="val 98778"/>
              <a:gd name="adj3" fmla="val -139380"/>
              <a:gd name="adj4" fmla="val 179270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שעה של "הרגע"</a:t>
            </a:r>
          </a:p>
        </p:txBody>
      </p:sp>
      <p:sp>
        <p:nvSpPr>
          <p:cNvPr id="15" name="הסבר קווי 1 15">
            <a:extLst>
              <a:ext uri="{FF2B5EF4-FFF2-40B4-BE49-F238E27FC236}">
                <a16:creationId xmlns:a16="http://schemas.microsoft.com/office/drawing/2014/main" id="{CCC3BEDC-48FF-015A-8EEE-E7A0B5B8E598}"/>
              </a:ext>
            </a:extLst>
          </p:cNvPr>
          <p:cNvSpPr/>
          <p:nvPr/>
        </p:nvSpPr>
        <p:spPr>
          <a:xfrm flipH="1">
            <a:off x="6272081" y="5917202"/>
            <a:ext cx="1853015" cy="675021"/>
          </a:xfrm>
          <a:prstGeom prst="borderCallout1">
            <a:avLst>
              <a:gd name="adj1" fmla="val 425"/>
              <a:gd name="adj2" fmla="val 33922"/>
              <a:gd name="adj3" fmla="val -150991"/>
              <a:gd name="adj4" fmla="val -8247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דקה של "הרגע"</a:t>
            </a:r>
          </a:p>
        </p:txBody>
      </p:sp>
      <p:sp>
        <p:nvSpPr>
          <p:cNvPr id="16" name="Arrow: Bent 15">
            <a:extLst>
              <a:ext uri="{FF2B5EF4-FFF2-40B4-BE49-F238E27FC236}">
                <a16:creationId xmlns:a16="http://schemas.microsoft.com/office/drawing/2014/main" id="{33A130A4-E618-62E2-0910-B496AB80CC24}"/>
              </a:ext>
            </a:extLst>
          </p:cNvPr>
          <p:cNvSpPr/>
          <p:nvPr/>
        </p:nvSpPr>
        <p:spPr>
          <a:xfrm flipV="1">
            <a:off x="2301656" y="3351100"/>
            <a:ext cx="1532965" cy="76200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0842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248236"/>
            <a:ext cx="10855236" cy="32316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כאשר משתמשים ב-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Calendar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,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צריך לזכור: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חודשים השנה הוא ממספר החל מ-0!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יש לו המון תכונות נוספות!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4671715" y="0"/>
            <a:ext cx="677621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AlarmManager+Notification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hlinkClick r:id="rId3"/>
            <a:extLst>
              <a:ext uri="{FF2B5EF4-FFF2-40B4-BE49-F238E27FC236}">
                <a16:creationId xmlns:a16="http://schemas.microsoft.com/office/drawing/2014/main" id="{4A91C591-53E9-55BF-53BA-9E2E2457E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5862" y="5042652"/>
            <a:ext cx="2514818" cy="104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058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397151" y="547754"/>
            <a:ext cx="469884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DatePickerDialog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4671715" y="0"/>
            <a:ext cx="677621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AlarmManager+Notification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" name="מלבן 8">
            <a:extLst>
              <a:ext uri="{FF2B5EF4-FFF2-40B4-BE49-F238E27FC236}">
                <a16:creationId xmlns:a16="http://schemas.microsoft.com/office/drawing/2014/main" id="{A99F1994-7AD0-6795-4C7F-388E8CBDE3BA}"/>
              </a:ext>
            </a:extLst>
          </p:cNvPr>
          <p:cNvSpPr/>
          <p:nvPr/>
        </p:nvSpPr>
        <p:spPr>
          <a:xfrm>
            <a:off x="4078941" y="2017640"/>
            <a:ext cx="7470047" cy="38472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תיבת דו-שיח מיועדת לבחירת (קביעה) תאריך.</a:t>
            </a:r>
          </a:p>
          <a:p>
            <a:pPr algn="r" rtl="1"/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יש לה פרמטרים שונים שבעזרתם אפשר לשלוט על תכונות שונות של התיבה הזאת.</a:t>
            </a:r>
          </a:p>
          <a:p>
            <a:pPr algn="r" rtl="1"/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/>
            <a:r>
              <a:rPr lang="he-IL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באמולטורים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/מכשירים עם גרסאות שונות של מערכת אנדרואיד תיבה זאת נראית אחרת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E77907-E304-6401-E7CD-6F8A18FE6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041" y="1192305"/>
            <a:ext cx="2553073" cy="558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067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248236"/>
            <a:ext cx="10855236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DatePickerDialog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4671715" y="0"/>
            <a:ext cx="677621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AlarmManager+Notification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C43692-7B9E-6DFB-92E4-401076E1F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855" y="2357717"/>
            <a:ext cx="10185117" cy="3640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77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397151" y="547754"/>
            <a:ext cx="469884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TimePickerDialog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4671715" y="0"/>
            <a:ext cx="677621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AlarmManager+Notification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" name="מלבן 8">
            <a:extLst>
              <a:ext uri="{FF2B5EF4-FFF2-40B4-BE49-F238E27FC236}">
                <a16:creationId xmlns:a16="http://schemas.microsoft.com/office/drawing/2014/main" id="{A99F1994-7AD0-6795-4C7F-388E8CBDE3BA}"/>
              </a:ext>
            </a:extLst>
          </p:cNvPr>
          <p:cNvSpPr/>
          <p:nvPr/>
        </p:nvSpPr>
        <p:spPr>
          <a:xfrm>
            <a:off x="4078941" y="2017640"/>
            <a:ext cx="7470047" cy="44012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תיבת דו-שיח מיועדת לבחירת (קביעה) זמן.</a:t>
            </a:r>
          </a:p>
          <a:p>
            <a:pPr algn="r" rtl="1"/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יש גם לה פרמטרים שונים שבעזרתם אפשר לשלוט על תכונות שונות של התיבה הזאת.</a:t>
            </a:r>
          </a:p>
          <a:p>
            <a:pPr algn="r" rtl="1"/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גם היא </a:t>
            </a:r>
            <a:r>
              <a:rPr lang="he-IL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באמולטורים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/מכשירים עם גרסאות שונות של מערכת אנדרואיד תיבה זאת נראית אחרת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7CB08B-6E0F-CEBA-6AD3-9C0758372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89" y="1255640"/>
            <a:ext cx="2554074" cy="5558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664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397151" y="547754"/>
            <a:ext cx="469884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TimePickerDialog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4671715" y="0"/>
            <a:ext cx="677621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AlarmManager+Notification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7CB08B-6E0F-CEBA-6AD3-9C0758372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340" y="1255640"/>
            <a:ext cx="2554074" cy="55584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909A58-2C71-366A-61A9-97F4A32AF7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1635" y="1257472"/>
            <a:ext cx="2561586" cy="56005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EA603C-5043-D771-B1CF-581BFF9248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0442" y="1255640"/>
            <a:ext cx="2561586" cy="5541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484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397151" y="547754"/>
            <a:ext cx="469884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TimePickerDialog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4671715" y="0"/>
            <a:ext cx="677621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AlarmManager+Notification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B2A2CB-C2E7-9938-9208-6F97107EE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267" y="2156793"/>
            <a:ext cx="8982004" cy="3473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221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98837" y="1248236"/>
            <a:ext cx="10855236" cy="44627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אחרי ש: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בנינו כל מה נדרש עבור 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notification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אחרי שבחרנו "מתי" להפעיל את ה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notification-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צריך להתחיל "לטפל" ב-</a:t>
            </a:r>
            <a:r>
              <a:rPr lang="en-US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AlarmManager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4671715" y="0"/>
            <a:ext cx="677621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AlarmManager+Notification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089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42682" y="1768189"/>
            <a:ext cx="10974144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שלבי עבודה:</a:t>
            </a:r>
            <a:endParaRPr lang="en-US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742950" indent="-742950" algn="r" rtl="1">
              <a:buFont typeface="+mj-lt"/>
              <a:buAutoNum type="arabicPeriod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לבנות </a:t>
            </a:r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BroadcastReceiver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אשר מכיל הפעלת 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notification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742950" indent="-742950" algn="r" rtl="1">
              <a:buFont typeface="+mj-lt"/>
              <a:buAutoNum type="arabicPeriod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לצור 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Intent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אשר מופנה ל-</a:t>
            </a:r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BroadcasrReceiver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שבנינו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לצור </a:t>
            </a:r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PendingIntent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אשר יפעל "אחר כך" (ובתוכו 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Intent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לצור </a:t>
            </a:r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AlarmManager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אשר קשור לשירותי </a:t>
            </a:r>
            <a:r>
              <a:rPr lang="he-IL" sz="32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מערכת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(</a:t>
            </a:r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SystemService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לקבוע פרמטרים דרושים ל-</a:t>
            </a:r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AlarmManager</a:t>
            </a:r>
            <a:endParaRPr lang="en-US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4671715" y="0"/>
            <a:ext cx="677621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AlarmManager+Notification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156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42682" y="1016317"/>
            <a:ext cx="10974144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הנה קוד ל-</a:t>
            </a:r>
            <a:r>
              <a:rPr lang="en-US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AlarmManager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אשר מפעיל הודעה </a:t>
            </a:r>
            <a:r>
              <a:rPr lang="he-IL" sz="40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בזמן מסוים</a:t>
            </a:r>
            <a:endParaRPr lang="en-US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4671715" y="0"/>
            <a:ext cx="677621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AlarmManager+Notification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EB95A6-B0B8-B3A9-6A75-56F4DB719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680" y="2648187"/>
            <a:ext cx="10024720" cy="3816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8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842682" y="1016317"/>
            <a:ext cx="10974144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הנה קוד ל-</a:t>
            </a:r>
            <a:r>
              <a:rPr lang="en-US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AlarmManager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אשר מפעיל הודע </a:t>
            </a:r>
            <a:r>
              <a:rPr lang="he-IL" sz="40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אחרי פרק זמן מסוים</a:t>
            </a:r>
            <a:endParaRPr lang="en-US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3135F9-E319-9EB9-DB84-09AB81A96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CE3D96-58AB-A1AF-E7D2-E0E1C2024EC1}"/>
              </a:ext>
            </a:extLst>
          </p:cNvPr>
          <p:cNvSpPr/>
          <p:nvPr/>
        </p:nvSpPr>
        <p:spPr>
          <a:xfrm>
            <a:off x="4671715" y="0"/>
            <a:ext cx="677621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AlarmManager+Notification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A8AE1B-457A-2365-212E-1ADBB03C6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301" y="2648187"/>
            <a:ext cx="9613197" cy="3673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9660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5558</TotalTime>
  <Words>364</Words>
  <Application>Microsoft Office PowerPoint</Application>
  <PresentationFormat>Widescreen</PresentationFormat>
  <Paragraphs>88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Assistant</vt:lpstr>
      <vt:lpstr>Segoe UI Semibold</vt:lpstr>
      <vt:lpstr>Shmulik CLM</vt:lpstr>
      <vt:lpstr>Tahoma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478</cp:revision>
  <dcterms:created xsi:type="dcterms:W3CDTF">2019-01-05T16:01:25Z</dcterms:created>
  <dcterms:modified xsi:type="dcterms:W3CDTF">2024-01-06T19:44:18Z</dcterms:modified>
</cp:coreProperties>
</file>