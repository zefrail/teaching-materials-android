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312" r:id="rId2"/>
    <p:sldId id="313" r:id="rId3"/>
    <p:sldId id="314" r:id="rId4"/>
    <p:sldId id="316" r:id="rId5"/>
    <p:sldId id="315" r:id="rId6"/>
    <p:sldId id="318" r:id="rId7"/>
    <p:sldId id="317" r:id="rId8"/>
    <p:sldId id="319" r:id="rId9"/>
    <p:sldId id="320" r:id="rId10"/>
    <p:sldId id="321" r:id="rId11"/>
    <p:sldId id="322" r:id="rId12"/>
    <p:sldId id="323" r:id="rId13"/>
    <p:sldId id="324" r:id="rId14"/>
    <p:sldId id="325" r:id="rId15"/>
    <p:sldId id="326" r:id="rId16"/>
    <p:sldId id="327" r:id="rId17"/>
    <p:sldId id="329" r:id="rId18"/>
    <p:sldId id="330" r:id="rId19"/>
    <p:sldId id="332" r:id="rId20"/>
    <p:sldId id="334" r:id="rId21"/>
    <p:sldId id="335" r:id="rId22"/>
    <p:sldId id="336" r:id="rId23"/>
    <p:sldId id="331" r:id="rId24"/>
    <p:sldId id="333" r:id="rId25"/>
    <p:sldId id="338" r:id="rId26"/>
    <p:sldId id="337" r:id="rId27"/>
    <p:sldId id="339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ב'/אדר/תשפ"ג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ב'/אדר/תשפ"ג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ב'/אדר/תשפ"ג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ב'/אדר/תשפ"ג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docs.microsoft.com/en-us/previous-versions/windows/desktop/ms762271(v=vs.85)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developer.android.com/reference/org/xmlpull/v1/XmlPullParser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hyperlink" Target="https://www.vogella.com/tutorials/AndroidXML/article.html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tutorialspoint.com/how-to-use-xmlpullparser-to-parse-xml-in-android" TargetMode="External"/><Relationship Id="rId5" Type="http://schemas.openxmlformats.org/officeDocument/2006/relationships/image" Target="../media/image11.png"/><Relationship Id="rId4" Type="http://schemas.openxmlformats.org/officeDocument/2006/relationships/hyperlink" Target="https://www.javatpoint.com/android-XMLPullParser-tutorial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geeksforgeeks.org/json-data-types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www.tutorialspoint.com/android/android_json_parser.htm" TargetMode="Externa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gist.githubusercontent.com/tdreyno/4278655/raw/7b0762c09b519f40397e4c3e100b097d861f5588/airports.json" TargetMode="Externa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raw.githubusercontent.com/lutangar/cities.json/master/cities.json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android.com/reference/org/json/JSONObject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5264780" y="1243039"/>
            <a:ext cx="1830950" cy="424731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המרה</a:t>
            </a:r>
          </a:p>
          <a:p>
            <a:pPr algn="ctr" rtl="1"/>
            <a:endParaRPr lang="he-IL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XML</a:t>
            </a:r>
          </a:p>
          <a:p>
            <a:pPr algn="ctr" rtl="1"/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  <a:p>
            <a:pPr algn="ctr" rtl="1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JSON</a:t>
            </a:r>
            <a:endParaRPr lang="he-IL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32487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5103235" y="-96797"/>
            <a:ext cx="423086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הערות כלליות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718457" y="955656"/>
            <a:ext cx="10855236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עצמים ושימוש בעצמים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=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עניין המרכזי בתכנות,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כולל תחום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Android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9" name="מלבן 8"/>
          <p:cNvSpPr/>
          <p:nvPr/>
        </p:nvSpPr>
        <p:spPr>
          <a:xfrm>
            <a:off x="1066800" y="4553257"/>
            <a:ext cx="10855236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סוגים שונים של קבצים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מתאימים כל אחד למשימות שונות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בעבודה עם קבצים</a:t>
            </a:r>
          </a:p>
        </p:txBody>
      </p:sp>
    </p:spTree>
    <p:extLst>
      <p:ext uri="{BB962C8B-B14F-4D97-AF65-F5344CB8AC3E}">
        <p14:creationId xmlns:p14="http://schemas.microsoft.com/office/powerpoint/2010/main" val="923834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6962503" y="-59611"/>
            <a:ext cx="2515290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8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java</a:t>
            </a:r>
            <a:endParaRPr lang="he-IL" sz="40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901337" y="1856993"/>
            <a:ext cx="10855236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סוג מתאים ביותר 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להגדרת העצמים, ליצירת העצמים, 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לביצוע פעולות פשוטות ומורכבות.</a:t>
            </a:r>
          </a:p>
        </p:txBody>
      </p:sp>
      <p:sp>
        <p:nvSpPr>
          <p:cNvPr id="10" name="מלבן 9"/>
          <p:cNvSpPr/>
          <p:nvPr/>
        </p:nvSpPr>
        <p:spPr>
          <a:xfrm>
            <a:off x="901337" y="5066258"/>
            <a:ext cx="10855236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אבל אך ורק באופן זמני,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אחרי יציאה מקובץ נתונים נמחקים</a:t>
            </a:r>
          </a:p>
        </p:txBody>
      </p:sp>
    </p:spTree>
    <p:extLst>
      <p:ext uri="{BB962C8B-B14F-4D97-AF65-F5344CB8AC3E}">
        <p14:creationId xmlns:p14="http://schemas.microsoft.com/office/powerpoint/2010/main" val="14619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6962503" y="-59611"/>
            <a:ext cx="2515290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8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db</a:t>
            </a:r>
            <a:endParaRPr lang="he-IL" sz="40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692331" y="1031915"/>
            <a:ext cx="10855236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סוג מתאים ביותר 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לשמירת הנתונים באופן קבוע.</a:t>
            </a:r>
          </a:p>
          <a:p>
            <a:pPr algn="ctr" rtl="1"/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db+java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=עבודה מועילה מאוד</a:t>
            </a:r>
          </a:p>
        </p:txBody>
      </p:sp>
      <p:sp>
        <p:nvSpPr>
          <p:cNvPr id="10" name="מלבן 9"/>
          <p:cNvSpPr/>
          <p:nvPr/>
        </p:nvSpPr>
        <p:spPr>
          <a:xfrm>
            <a:off x="1058091" y="4295550"/>
            <a:ext cx="10855236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שימוש בעצמים מורכבים – מורכב מידי.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כמעט בלתי אפשרי באינטרנט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(לפחות מסובך מאוד)</a:t>
            </a:r>
          </a:p>
        </p:txBody>
      </p:sp>
    </p:spTree>
    <p:extLst>
      <p:ext uri="{BB962C8B-B14F-4D97-AF65-F5344CB8AC3E}">
        <p14:creationId xmlns:p14="http://schemas.microsoft.com/office/powerpoint/2010/main" val="3114191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6962503" y="-59611"/>
            <a:ext cx="2515290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8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txt</a:t>
            </a:r>
            <a:endParaRPr lang="he-IL" sz="40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692331" y="1031915"/>
            <a:ext cx="10855236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פשוט וחסכוני (נפח קטן),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גישה פשוטה וקלה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לשמירה ושליפה</a:t>
            </a:r>
          </a:p>
        </p:txBody>
      </p:sp>
      <p:sp>
        <p:nvSpPr>
          <p:cNvPr id="10" name="מלבן 9"/>
          <p:cNvSpPr/>
          <p:nvPr/>
        </p:nvSpPr>
        <p:spPr>
          <a:xfrm>
            <a:off x="1058091" y="4295550"/>
            <a:ext cx="1085523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לא רואים את המבנה של העצם</a:t>
            </a:r>
          </a:p>
        </p:txBody>
      </p:sp>
    </p:spTree>
    <p:extLst>
      <p:ext uri="{BB962C8B-B14F-4D97-AF65-F5344CB8AC3E}">
        <p14:creationId xmlns:p14="http://schemas.microsoft.com/office/powerpoint/2010/main" val="503295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5042263" y="-59611"/>
            <a:ext cx="4435530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8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Xml</a:t>
            </a:r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 וגם </a:t>
            </a:r>
            <a:r>
              <a:rPr lang="en-US" sz="48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json</a:t>
            </a:r>
            <a:endParaRPr lang="he-IL" sz="40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692331" y="1031915"/>
            <a:ext cx="10855236" cy="34778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פשוט וחסכוני (נפח קטן),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גישה פשוטה וקלה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לשמירה ושליפה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"שקוף" מאוד מבחינה ויזואלית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(נוח להבנה)</a:t>
            </a:r>
          </a:p>
        </p:txBody>
      </p:sp>
      <p:sp>
        <p:nvSpPr>
          <p:cNvPr id="10" name="מלבן 9"/>
          <p:cNvSpPr/>
          <p:nvPr/>
        </p:nvSpPr>
        <p:spPr>
          <a:xfrm>
            <a:off x="1097280" y="5156984"/>
            <a:ext cx="1085523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דורש פעולות מיוחדות לשימוש</a:t>
            </a:r>
          </a:p>
        </p:txBody>
      </p:sp>
    </p:spTree>
    <p:extLst>
      <p:ext uri="{BB962C8B-B14F-4D97-AF65-F5344CB8AC3E}">
        <p14:creationId xmlns:p14="http://schemas.microsoft.com/office/powerpoint/2010/main" val="1998230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5042263" y="-59611"/>
            <a:ext cx="4435530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8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xml</a:t>
            </a:r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 וגם </a:t>
            </a:r>
            <a:r>
              <a:rPr lang="en-US" sz="48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json</a:t>
            </a:r>
            <a:endParaRPr lang="he-IL" sz="40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522514" y="1763435"/>
            <a:ext cx="10855236" cy="48320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בפועל הם קבצי טקסט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וניתן לעבוד אתם פשוט כמו עם קבצי טקסט.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תוכן של הקובץ מורכב מ: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742950" indent="-742950" algn="ctr" rtl="1">
              <a:buAutoNum type="arabicPeriod"/>
            </a:pP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תגים ("תכונות")</a:t>
            </a:r>
          </a:p>
          <a:p>
            <a:pPr marL="742950" indent="-742950" algn="ctr" rtl="1">
              <a:buAutoNum type="arabicPeriod"/>
            </a:pP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תוכן ("ערכים") </a:t>
            </a:r>
          </a:p>
        </p:txBody>
      </p:sp>
    </p:spTree>
    <p:extLst>
      <p:ext uri="{BB962C8B-B14F-4D97-AF65-F5344CB8AC3E}">
        <p14:creationId xmlns:p14="http://schemas.microsoft.com/office/powerpoint/2010/main" val="1609239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6818811" y="-59611"/>
            <a:ext cx="265898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8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xml</a:t>
            </a:r>
            <a:endParaRPr lang="he-IL" sz="40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371491" y="580845"/>
            <a:ext cx="1085523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פשוט יותר ("שקוף") – הנה 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  <a:hlinkClick r:id="rId2"/>
              </a:rPr>
              <a:t>דוגמה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1502" y="1409897"/>
            <a:ext cx="4876800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374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6818811" y="-59611"/>
            <a:ext cx="265898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8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xml</a:t>
            </a:r>
            <a:endParaRPr lang="he-IL" sz="40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97171" y="645268"/>
            <a:ext cx="1085523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קל להבין איך זה "לתרגם" לעצם</a:t>
            </a:r>
          </a:p>
        </p:txBody>
      </p:sp>
      <p:pic>
        <p:nvPicPr>
          <p:cNvPr id="3" name="תמונה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663" y="2681289"/>
            <a:ext cx="8180706" cy="287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275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6818811" y="-59611"/>
            <a:ext cx="265898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8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xml</a:t>
            </a:r>
            <a:endParaRPr lang="he-IL" sz="40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802566" y="1351585"/>
            <a:ext cx="10855236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בשפת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קיימת מחלקה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לעבודה ("עיבוד") עם קבצי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xml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המהווים בסיס נתונים</a:t>
            </a:r>
          </a:p>
        </p:txBody>
      </p:sp>
      <p:pic>
        <p:nvPicPr>
          <p:cNvPr id="2" name="תמונה 1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998" y="3919367"/>
            <a:ext cx="3854951" cy="245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111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6818811" y="-59611"/>
            <a:ext cx="265898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8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xml</a:t>
            </a:r>
            <a:endParaRPr lang="he-IL" sz="40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802566" y="1351585"/>
            <a:ext cx="10855236" cy="48320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מחלקה 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XmlPullParser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"יודעת":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להבדיל בין תג לבין תוכן,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להבדיל בין תג פותח לבין תג סוגר,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לקרוא שם התג,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לקרוא תוכן,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לעבור לתג הבא ולתוכן הבא...</a:t>
            </a:r>
          </a:p>
        </p:txBody>
      </p:sp>
    </p:spTree>
    <p:extLst>
      <p:ext uri="{BB962C8B-B14F-4D97-AF65-F5344CB8AC3E}">
        <p14:creationId xmlns:p14="http://schemas.microsoft.com/office/powerpoint/2010/main" val="2573719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6818811" y="-59611"/>
            <a:ext cx="265898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8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xml</a:t>
            </a:r>
            <a:endParaRPr lang="he-IL" sz="40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802566" y="1351585"/>
            <a:ext cx="10855236" cy="41549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כמובן שמתכנת חייב לדעת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מהו המבנה של הקובץ,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מה הם התגים.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דוגמה: אפליקציה לקבלת מידע על שערי מט"ח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מאתר של בנק ישראל</a:t>
            </a:r>
          </a:p>
        </p:txBody>
      </p:sp>
    </p:spTree>
    <p:extLst>
      <p:ext uri="{BB962C8B-B14F-4D97-AF65-F5344CB8AC3E}">
        <p14:creationId xmlns:p14="http://schemas.microsoft.com/office/powerpoint/2010/main" val="1242740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6818811" y="-59611"/>
            <a:ext cx="265898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8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xml</a:t>
            </a:r>
            <a:endParaRPr lang="he-IL" sz="40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760" y="2093916"/>
            <a:ext cx="9202657" cy="495631"/>
          </a:xfrm>
          <a:prstGeom prst="rect">
            <a:avLst/>
          </a:prstGeom>
        </p:spPr>
      </p:pic>
      <p:pic>
        <p:nvPicPr>
          <p:cNvPr id="3" name="תמונה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223" y="4681402"/>
            <a:ext cx="8352194" cy="512854"/>
          </a:xfrm>
          <a:prstGeom prst="rect">
            <a:avLst/>
          </a:prstGeom>
        </p:spPr>
      </p:pic>
      <p:sp>
        <p:nvSpPr>
          <p:cNvPr id="6" name="הסבר מלבני מעוגל 5"/>
          <p:cNvSpPr/>
          <p:nvPr/>
        </p:nvSpPr>
        <p:spPr>
          <a:xfrm>
            <a:off x="2782390" y="2862915"/>
            <a:ext cx="4689566" cy="1291074"/>
          </a:xfrm>
          <a:prstGeom prst="wedgeRoundRectCallout">
            <a:avLst>
              <a:gd name="adj1" fmla="val -24956"/>
              <a:gd name="adj2" fmla="val 9742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3200" dirty="0"/>
              <a:t>מקבלים משמעות של האיבר, עליו "עומד" מצביע</a:t>
            </a:r>
          </a:p>
        </p:txBody>
      </p:sp>
      <p:sp>
        <p:nvSpPr>
          <p:cNvPr id="9" name="הסבר מלבני מעוגל 8"/>
          <p:cNvSpPr/>
          <p:nvPr/>
        </p:nvSpPr>
        <p:spPr>
          <a:xfrm>
            <a:off x="3749040" y="771386"/>
            <a:ext cx="2934790" cy="581350"/>
          </a:xfrm>
          <a:prstGeom prst="wedgeRoundRectCallout">
            <a:avLst>
              <a:gd name="adj1" fmla="val -74925"/>
              <a:gd name="adj2" fmla="val 192818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3200" dirty="0"/>
              <a:t>יוצרים מצביע</a:t>
            </a:r>
          </a:p>
        </p:txBody>
      </p:sp>
      <p:sp>
        <p:nvSpPr>
          <p:cNvPr id="10" name="הסבר מלבני מעוגל 9"/>
          <p:cNvSpPr/>
          <p:nvPr/>
        </p:nvSpPr>
        <p:spPr>
          <a:xfrm>
            <a:off x="5597168" y="5503666"/>
            <a:ext cx="4689566" cy="1291074"/>
          </a:xfrm>
          <a:prstGeom prst="wedgeRoundRectCallout">
            <a:avLst>
              <a:gd name="adj1" fmla="val 20448"/>
              <a:gd name="adj2" fmla="val -80653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3200" dirty="0"/>
              <a:t>ערך המציין "סוף קובץ </a:t>
            </a:r>
            <a:r>
              <a:rPr lang="en-US" sz="3200" dirty="0"/>
              <a:t>xml</a:t>
            </a:r>
            <a:r>
              <a:rPr lang="he-IL" sz="3200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2168729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תמונה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673" y="4492534"/>
            <a:ext cx="7189668" cy="562792"/>
          </a:xfrm>
          <a:prstGeom prst="rect">
            <a:avLst/>
          </a:prstGeom>
        </p:spPr>
      </p:pic>
      <p:sp>
        <p:nvSpPr>
          <p:cNvPr id="5" name="מלבן 4"/>
          <p:cNvSpPr/>
          <p:nvPr/>
        </p:nvSpPr>
        <p:spPr>
          <a:xfrm>
            <a:off x="6818811" y="-59611"/>
            <a:ext cx="265898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8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xml</a:t>
            </a:r>
            <a:endParaRPr lang="he-IL" sz="40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sp>
        <p:nvSpPr>
          <p:cNvPr id="9" name="הסבר מלבני מעוגל 8"/>
          <p:cNvSpPr/>
          <p:nvPr/>
        </p:nvSpPr>
        <p:spPr>
          <a:xfrm>
            <a:off x="4271554" y="1554480"/>
            <a:ext cx="5062547" cy="1483365"/>
          </a:xfrm>
          <a:prstGeom prst="wedgeRoundRectCallout">
            <a:avLst>
              <a:gd name="adj1" fmla="val 5064"/>
              <a:gd name="adj2" fmla="val 15495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3200" dirty="0"/>
              <a:t>בודקים האם איבר (עליו "עומד" מצביע הוא תג פותח</a:t>
            </a:r>
          </a:p>
        </p:txBody>
      </p:sp>
    </p:spTree>
    <p:extLst>
      <p:ext uri="{BB962C8B-B14F-4D97-AF65-F5344CB8AC3E}">
        <p14:creationId xmlns:p14="http://schemas.microsoft.com/office/powerpoint/2010/main" val="24128485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376" y="3215913"/>
            <a:ext cx="5671674" cy="2155236"/>
          </a:xfrm>
          <a:prstGeom prst="rect">
            <a:avLst/>
          </a:prstGeom>
        </p:spPr>
      </p:pic>
      <p:sp>
        <p:nvSpPr>
          <p:cNvPr id="5" name="מלבן 4"/>
          <p:cNvSpPr/>
          <p:nvPr/>
        </p:nvSpPr>
        <p:spPr>
          <a:xfrm>
            <a:off x="6818811" y="-59611"/>
            <a:ext cx="265898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8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xml</a:t>
            </a:r>
            <a:endParaRPr lang="he-IL" sz="40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sp>
        <p:nvSpPr>
          <p:cNvPr id="9" name="הסבר מלבני מעוגל 8"/>
          <p:cNvSpPr/>
          <p:nvPr/>
        </p:nvSpPr>
        <p:spPr>
          <a:xfrm>
            <a:off x="1008070" y="1156897"/>
            <a:ext cx="2949975" cy="972350"/>
          </a:xfrm>
          <a:prstGeom prst="wedgeRoundRectCallout">
            <a:avLst>
              <a:gd name="adj1" fmla="val 73822"/>
              <a:gd name="adj2" fmla="val 17880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3200" dirty="0"/>
              <a:t>מקבלים שם התג</a:t>
            </a:r>
          </a:p>
        </p:txBody>
      </p:sp>
      <p:sp>
        <p:nvSpPr>
          <p:cNvPr id="10" name="הסבר מלבני מעוגל 9"/>
          <p:cNvSpPr/>
          <p:nvPr/>
        </p:nvSpPr>
        <p:spPr>
          <a:xfrm>
            <a:off x="8347167" y="1643072"/>
            <a:ext cx="3657600" cy="2251840"/>
          </a:xfrm>
          <a:prstGeom prst="wedgeRoundRectCallout">
            <a:avLst>
              <a:gd name="adj1" fmla="val -122600"/>
              <a:gd name="adj2" fmla="val 64709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3200" dirty="0"/>
              <a:t>מזיזים מצביע לאיבר הבא (אחרי תג פותח – לטקסט (תוכן))</a:t>
            </a:r>
          </a:p>
        </p:txBody>
      </p:sp>
      <p:sp>
        <p:nvSpPr>
          <p:cNvPr id="11" name="הסבר מלבני מעוגל 10"/>
          <p:cNvSpPr/>
          <p:nvPr/>
        </p:nvSpPr>
        <p:spPr>
          <a:xfrm>
            <a:off x="7867050" y="5037792"/>
            <a:ext cx="3148148" cy="1372535"/>
          </a:xfrm>
          <a:prstGeom prst="wedgeRoundRectCallout">
            <a:avLst>
              <a:gd name="adj1" fmla="val -104042"/>
              <a:gd name="adj2" fmla="val -62223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3200" dirty="0"/>
              <a:t>קולטים (קוראים) טקסט (תוכן)</a:t>
            </a:r>
          </a:p>
        </p:txBody>
      </p:sp>
    </p:spTree>
    <p:extLst>
      <p:ext uri="{BB962C8B-B14F-4D97-AF65-F5344CB8AC3E}">
        <p14:creationId xmlns:p14="http://schemas.microsoft.com/office/powerpoint/2010/main" val="148301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864" y="2121026"/>
            <a:ext cx="5534025" cy="2438400"/>
          </a:xfrm>
          <a:prstGeom prst="rect">
            <a:avLst/>
          </a:prstGeom>
        </p:spPr>
      </p:pic>
      <p:sp>
        <p:nvSpPr>
          <p:cNvPr id="5" name="מלבן 4"/>
          <p:cNvSpPr/>
          <p:nvPr/>
        </p:nvSpPr>
        <p:spPr>
          <a:xfrm>
            <a:off x="6818811" y="-59611"/>
            <a:ext cx="265898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8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xml</a:t>
            </a:r>
            <a:endParaRPr lang="he-IL" sz="40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sp>
        <p:nvSpPr>
          <p:cNvPr id="12" name="מלבן 11"/>
          <p:cNvSpPr/>
          <p:nvPr/>
        </p:nvSpPr>
        <p:spPr>
          <a:xfrm>
            <a:off x="802566" y="1351585"/>
            <a:ext cx="1085523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באינטרנט קיימים הקבה מדריכים ודוגמאות...</a:t>
            </a:r>
          </a:p>
        </p:txBody>
      </p:sp>
      <p:pic>
        <p:nvPicPr>
          <p:cNvPr id="3" name="תמונה 2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407" y="2375808"/>
            <a:ext cx="1647825" cy="2628900"/>
          </a:xfrm>
          <a:prstGeom prst="rect">
            <a:avLst/>
          </a:prstGeom>
        </p:spPr>
      </p:pic>
      <p:pic>
        <p:nvPicPr>
          <p:cNvPr id="7" name="תמונה 6">
            <a:hlinkClick r:id="rId6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4705" y="5004708"/>
            <a:ext cx="8008620" cy="1619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6544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6818811" y="-59611"/>
            <a:ext cx="265898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8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JSON</a:t>
            </a:r>
            <a:endParaRPr lang="he-IL" sz="40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sp>
        <p:nvSpPr>
          <p:cNvPr id="12" name="מלבן 11"/>
          <p:cNvSpPr/>
          <p:nvPr/>
        </p:nvSpPr>
        <p:spPr>
          <a:xfrm>
            <a:off x="802566" y="1351585"/>
            <a:ext cx="10855236" cy="41549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בגדול מדובר ב"מקביל" ל-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xml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...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מידע והסברים על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JSON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די פשוט למצוא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במקומות רבים באינטרנט,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החל מ- </a:t>
            </a:r>
            <a:r>
              <a:rPr lang="en-US" sz="4400" dirty="0">
                <a:solidFill>
                  <a:srgbClr val="002060"/>
                </a:solidFill>
              </a:rPr>
              <a:t>https://www.json.org/json-en.html</a:t>
            </a:r>
            <a:endParaRPr lang="he-IL" sz="4400" dirty="0">
              <a:solidFill>
                <a:srgbClr val="002060"/>
              </a:solidFill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וגם ב-</a:t>
            </a:r>
            <a:r>
              <a:rPr lang="en-US" sz="4400" dirty="0">
                <a:solidFill>
                  <a:srgbClr val="002060"/>
                </a:solidFill>
              </a:rPr>
              <a:t>https://he.wikipedia.org/wiki/JSON</a:t>
            </a:r>
          </a:p>
        </p:txBody>
      </p:sp>
    </p:spTree>
    <p:extLst>
      <p:ext uri="{BB962C8B-B14F-4D97-AF65-F5344CB8AC3E}">
        <p14:creationId xmlns:p14="http://schemas.microsoft.com/office/powerpoint/2010/main" val="5699581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6818811" y="-59611"/>
            <a:ext cx="265898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8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JSON</a:t>
            </a:r>
            <a:endParaRPr lang="he-IL" sz="40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pic>
        <p:nvPicPr>
          <p:cNvPr id="2" name="תמונה 1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860" y="4911691"/>
            <a:ext cx="6172573" cy="1577951"/>
          </a:xfrm>
          <a:prstGeom prst="rect">
            <a:avLst/>
          </a:prstGeom>
        </p:spPr>
      </p:pic>
      <p:sp>
        <p:nvSpPr>
          <p:cNvPr id="7" name="הסבר מלבני מעוגל 6"/>
          <p:cNvSpPr/>
          <p:nvPr/>
        </p:nvSpPr>
        <p:spPr>
          <a:xfrm>
            <a:off x="1008070" y="1156897"/>
            <a:ext cx="5275164" cy="2056566"/>
          </a:xfrm>
          <a:prstGeom prst="wedgeRoundRectCallout">
            <a:avLst>
              <a:gd name="adj1" fmla="val 60450"/>
              <a:gd name="adj2" fmla="val 136248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3200" b="1" dirty="0"/>
              <a:t>הסבר ברור ופשוט על סוגי נתונים ב-</a:t>
            </a:r>
            <a:r>
              <a:rPr lang="en-US" sz="3200" b="1" dirty="0"/>
              <a:t>JSON</a:t>
            </a:r>
            <a:endParaRPr lang="he-IL" sz="3200" b="1" dirty="0"/>
          </a:p>
          <a:p>
            <a:pPr algn="ctr" rtl="1"/>
            <a:r>
              <a:rPr lang="he-IL" sz="3200" b="1" dirty="0"/>
              <a:t>קיים, </a:t>
            </a:r>
            <a:r>
              <a:rPr lang="he-IL" sz="3200" b="1" dirty="0" err="1"/>
              <a:t>למשלף</a:t>
            </a:r>
            <a:r>
              <a:rPr lang="he-IL" sz="3200" b="1" dirty="0"/>
              <a:t> באתר הזה</a:t>
            </a:r>
          </a:p>
        </p:txBody>
      </p:sp>
      <p:pic>
        <p:nvPicPr>
          <p:cNvPr id="3" name="תמונה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0300" y="1932468"/>
            <a:ext cx="3704271" cy="245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7591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6818811" y="-59611"/>
            <a:ext cx="265898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8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JSON</a:t>
            </a:r>
            <a:endParaRPr lang="he-IL" sz="40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802566" y="1351585"/>
            <a:ext cx="10855236" cy="52014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לעבודה עם קבצי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JSON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בשפת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אין צורך(!) במחלקה מיוחדת.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4400" u="sng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כמובן, שיש ב-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מחלקות לשימוש ב-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JSON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:</a:t>
            </a:r>
          </a:p>
          <a:p>
            <a:pPr algn="ctr"/>
            <a:r>
              <a:rPr lang="en-US" dirty="0"/>
              <a:t> </a:t>
            </a:r>
            <a:r>
              <a:rPr lang="en-US" sz="2400" dirty="0" err="1">
                <a:solidFill>
                  <a:srgbClr val="002060"/>
                </a:solidFill>
                <a:cs typeface="+mj-cs"/>
              </a:rPr>
              <a:t>JSONArray</a:t>
            </a:r>
            <a:r>
              <a:rPr lang="en-US" sz="2400" dirty="0">
                <a:solidFill>
                  <a:srgbClr val="002060"/>
                </a:solidFill>
                <a:cs typeface="+mj-cs"/>
              </a:rPr>
              <a:t>, </a:t>
            </a:r>
            <a:r>
              <a:rPr lang="en-US" sz="2400" dirty="0" err="1">
                <a:solidFill>
                  <a:srgbClr val="002060"/>
                </a:solidFill>
                <a:cs typeface="+mj-cs"/>
              </a:rPr>
              <a:t>JSONObject</a:t>
            </a:r>
            <a:r>
              <a:rPr lang="en-US" sz="2400" dirty="0">
                <a:solidFill>
                  <a:srgbClr val="002060"/>
                </a:solidFill>
                <a:cs typeface="+mj-cs"/>
              </a:rPr>
              <a:t>, </a:t>
            </a:r>
            <a:r>
              <a:rPr lang="en-US" sz="2400" dirty="0" err="1">
                <a:solidFill>
                  <a:srgbClr val="002060"/>
                </a:solidFill>
                <a:cs typeface="+mj-cs"/>
              </a:rPr>
              <a:t>JSONStringer</a:t>
            </a:r>
            <a:r>
              <a:rPr lang="en-US" sz="2400" dirty="0">
                <a:solidFill>
                  <a:srgbClr val="002060"/>
                </a:solidFill>
                <a:cs typeface="+mj-cs"/>
              </a:rPr>
              <a:t>, </a:t>
            </a:r>
            <a:r>
              <a:rPr lang="en-US" sz="2400" dirty="0" err="1">
                <a:solidFill>
                  <a:srgbClr val="002060"/>
                </a:solidFill>
                <a:cs typeface="+mj-cs"/>
              </a:rPr>
              <a:t>JSONTokenizer</a:t>
            </a:r>
            <a:r>
              <a:rPr lang="en-US" sz="2400" dirty="0">
                <a:solidFill>
                  <a:srgbClr val="002060"/>
                </a:solidFill>
                <a:cs typeface="+mj-cs"/>
              </a:rPr>
              <a:t>, </a:t>
            </a:r>
            <a:r>
              <a:rPr lang="en-US" sz="2400" dirty="0" err="1">
                <a:solidFill>
                  <a:srgbClr val="002060"/>
                </a:solidFill>
                <a:cs typeface="+mj-cs"/>
              </a:rPr>
              <a:t>JSONException</a:t>
            </a:r>
            <a:r>
              <a:rPr lang="en-US" dirty="0"/>
              <a:t>.</a:t>
            </a:r>
            <a:endParaRPr lang="he-IL" dirty="0"/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במובן מסוים זה הופך שימוש ב-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JSON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עדיף יותר...</a:t>
            </a:r>
          </a:p>
        </p:txBody>
      </p:sp>
    </p:spTree>
    <p:extLst>
      <p:ext uri="{BB962C8B-B14F-4D97-AF65-F5344CB8AC3E}">
        <p14:creationId xmlns:p14="http://schemas.microsoft.com/office/powerpoint/2010/main" val="16050255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6818811" y="-59611"/>
            <a:ext cx="265898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8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JSON</a:t>
            </a:r>
            <a:endParaRPr lang="he-IL" sz="40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sp>
        <p:nvSpPr>
          <p:cNvPr id="9" name="מלבן 8"/>
          <p:cNvSpPr/>
          <p:nvPr/>
        </p:nvSpPr>
        <p:spPr>
          <a:xfrm>
            <a:off x="711126" y="1482571"/>
            <a:ext cx="10855236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כל הנתונים ב-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JSON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בנויים לפי סגנון</a:t>
            </a:r>
          </a:p>
          <a:p>
            <a:pPr algn="ctr" rtl="1"/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Key:Value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3" name="תמונה 2"/>
          <p:cNvPicPr>
            <a:picLocks noChangeAspect="1"/>
          </p:cNvPicPr>
          <p:nvPr/>
        </p:nvPicPr>
        <p:blipFill rotWithShape="1">
          <a:blip r:embed="rId2"/>
          <a:srcRect r="3168" b="11027"/>
          <a:stretch/>
        </p:blipFill>
        <p:spPr>
          <a:xfrm>
            <a:off x="1907992" y="3222035"/>
            <a:ext cx="3356339" cy="527005"/>
          </a:xfrm>
          <a:prstGeom prst="rect">
            <a:avLst/>
          </a:prstGeom>
        </p:spPr>
      </p:pic>
      <p:sp>
        <p:nvSpPr>
          <p:cNvPr id="10" name="הסבר מלבני מעוגל 9"/>
          <p:cNvSpPr/>
          <p:nvPr/>
        </p:nvSpPr>
        <p:spPr>
          <a:xfrm>
            <a:off x="7994680" y="3001795"/>
            <a:ext cx="3631474" cy="727837"/>
          </a:xfrm>
          <a:prstGeom prst="wedgeRoundRectCallout">
            <a:avLst>
              <a:gd name="adj1" fmla="val -119928"/>
              <a:gd name="adj2" fmla="val 2144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3200" dirty="0"/>
              <a:t>ערך מסוג "מחרוזת"</a:t>
            </a:r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3053" y="4188550"/>
            <a:ext cx="1673743" cy="683895"/>
          </a:xfrm>
          <a:prstGeom prst="rect">
            <a:avLst/>
          </a:prstGeom>
        </p:spPr>
      </p:pic>
      <p:sp>
        <p:nvSpPr>
          <p:cNvPr id="13" name="הסבר מלבני מעוגל 12"/>
          <p:cNvSpPr/>
          <p:nvPr/>
        </p:nvSpPr>
        <p:spPr>
          <a:xfrm>
            <a:off x="6505515" y="4033761"/>
            <a:ext cx="3631474" cy="727837"/>
          </a:xfrm>
          <a:prstGeom prst="wedgeRoundRectCallout">
            <a:avLst>
              <a:gd name="adj1" fmla="val -119928"/>
              <a:gd name="adj2" fmla="val 2144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3200" dirty="0"/>
              <a:t>ערך מסוג "מספר"</a:t>
            </a:r>
          </a:p>
        </p:txBody>
      </p:sp>
      <p:pic>
        <p:nvPicPr>
          <p:cNvPr id="14" name="תמונה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7540" y="5081452"/>
            <a:ext cx="3553096" cy="1776548"/>
          </a:xfrm>
          <a:prstGeom prst="rect">
            <a:avLst/>
          </a:prstGeom>
        </p:spPr>
      </p:pic>
      <p:sp>
        <p:nvSpPr>
          <p:cNvPr id="15" name="הסבר מלבני מעוגל 14"/>
          <p:cNvSpPr/>
          <p:nvPr/>
        </p:nvSpPr>
        <p:spPr>
          <a:xfrm>
            <a:off x="7731246" y="5321530"/>
            <a:ext cx="3493093" cy="1188719"/>
          </a:xfrm>
          <a:prstGeom prst="wedgeRoundRectCallout">
            <a:avLst>
              <a:gd name="adj1" fmla="val -119928"/>
              <a:gd name="adj2" fmla="val 2144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3200" dirty="0"/>
              <a:t>ערך מסוג "עצם"</a:t>
            </a:r>
          </a:p>
          <a:p>
            <a:pPr algn="ctr" rtl="1"/>
            <a:r>
              <a:rPr lang="he-IL" sz="3200" dirty="0"/>
              <a:t>עם 2 תכונות</a:t>
            </a:r>
          </a:p>
        </p:txBody>
      </p:sp>
    </p:spTree>
    <p:extLst>
      <p:ext uri="{BB962C8B-B14F-4D97-AF65-F5344CB8AC3E}">
        <p14:creationId xmlns:p14="http://schemas.microsoft.com/office/powerpoint/2010/main" val="1746297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64" y="2794907"/>
            <a:ext cx="4671880" cy="3566704"/>
          </a:xfrm>
          <a:prstGeom prst="rect">
            <a:avLst/>
          </a:prstGeom>
        </p:spPr>
      </p:pic>
      <p:sp>
        <p:nvSpPr>
          <p:cNvPr id="5" name="מלבן 4"/>
          <p:cNvSpPr/>
          <p:nvPr/>
        </p:nvSpPr>
        <p:spPr>
          <a:xfrm>
            <a:off x="6818811" y="-59611"/>
            <a:ext cx="265898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8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JSON</a:t>
            </a:r>
            <a:endParaRPr lang="he-IL" sz="40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sp>
        <p:nvSpPr>
          <p:cNvPr id="9" name="מלבן 8"/>
          <p:cNvSpPr/>
          <p:nvPr/>
        </p:nvSpPr>
        <p:spPr>
          <a:xfrm>
            <a:off x="-242462" y="999809"/>
            <a:ext cx="10855236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כל הנתונים ב-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JSON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בנויים לפי סגנון</a:t>
            </a:r>
          </a:p>
          <a:p>
            <a:pPr algn="ctr" rtl="1"/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Key:Value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10" name="הסבר מלבני מעוגל 9"/>
          <p:cNvSpPr/>
          <p:nvPr/>
        </p:nvSpPr>
        <p:spPr>
          <a:xfrm>
            <a:off x="7550331" y="3001795"/>
            <a:ext cx="4075823" cy="2902616"/>
          </a:xfrm>
          <a:prstGeom prst="wedgeRoundRectCallout">
            <a:avLst>
              <a:gd name="adj1" fmla="val -119928"/>
              <a:gd name="adj2" fmla="val 2144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3200" dirty="0"/>
              <a:t>ערך מסוג "עצם"</a:t>
            </a:r>
          </a:p>
          <a:p>
            <a:pPr algn="ctr" rtl="1"/>
            <a:r>
              <a:rPr lang="he-IL" sz="3200" dirty="0"/>
              <a:t>שאחת מתכונות שלו היא גם עצם שמורכב מתכונות שונות</a:t>
            </a:r>
          </a:p>
        </p:txBody>
      </p:sp>
    </p:spTree>
    <p:extLst>
      <p:ext uri="{BB962C8B-B14F-4D97-AF65-F5344CB8AC3E}">
        <p14:creationId xmlns:p14="http://schemas.microsoft.com/office/powerpoint/2010/main" val="16231193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46" y="135798"/>
            <a:ext cx="4540159" cy="6635617"/>
          </a:xfrm>
          <a:prstGeom prst="rect">
            <a:avLst/>
          </a:prstGeom>
        </p:spPr>
      </p:pic>
      <p:sp>
        <p:nvSpPr>
          <p:cNvPr id="5" name="מלבן 4"/>
          <p:cNvSpPr/>
          <p:nvPr/>
        </p:nvSpPr>
        <p:spPr>
          <a:xfrm>
            <a:off x="6818811" y="-59611"/>
            <a:ext cx="265898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8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JSON</a:t>
            </a:r>
            <a:endParaRPr lang="he-IL" sz="40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sp>
        <p:nvSpPr>
          <p:cNvPr id="10" name="הסבר מלבני מעוגל 9"/>
          <p:cNvSpPr/>
          <p:nvPr/>
        </p:nvSpPr>
        <p:spPr>
          <a:xfrm>
            <a:off x="6139543" y="2204961"/>
            <a:ext cx="5878497" cy="1322011"/>
          </a:xfrm>
          <a:prstGeom prst="wedgeRoundRectCallout">
            <a:avLst>
              <a:gd name="adj1" fmla="val -76596"/>
              <a:gd name="adj2" fmla="val 80730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3200" dirty="0"/>
              <a:t>צריך לדעת לעצור את המורכבות...</a:t>
            </a:r>
          </a:p>
        </p:txBody>
      </p:sp>
    </p:spTree>
    <p:extLst>
      <p:ext uri="{BB962C8B-B14F-4D97-AF65-F5344CB8AC3E}">
        <p14:creationId xmlns:p14="http://schemas.microsoft.com/office/powerpoint/2010/main" val="35693676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6818811" y="-59611"/>
            <a:ext cx="265898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8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JSON</a:t>
            </a:r>
            <a:endParaRPr lang="he-IL" sz="40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802566" y="2553368"/>
            <a:ext cx="10855236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כמובן שמתכנת חייב לדעת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מהו המבנה של הקובץ,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איך הוא בנוי מבחנת סוגי נתונים שלו.</a:t>
            </a:r>
          </a:p>
        </p:txBody>
      </p:sp>
    </p:spTree>
    <p:extLst>
      <p:ext uri="{BB962C8B-B14F-4D97-AF65-F5344CB8AC3E}">
        <p14:creationId xmlns:p14="http://schemas.microsoft.com/office/powerpoint/2010/main" val="41691875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6818811" y="-59611"/>
            <a:ext cx="265898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8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JSON</a:t>
            </a:r>
            <a:endParaRPr lang="he-IL" sz="40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711126" y="1482571"/>
            <a:ext cx="10855236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מדריך מאוד מפורט ושקוף (יש עוד הרבה כמוהו...),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כולל דוגמת קוד:</a:t>
            </a:r>
          </a:p>
        </p:txBody>
      </p:sp>
      <p:pic>
        <p:nvPicPr>
          <p:cNvPr id="2" name="תמונה 1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277" y="3074468"/>
            <a:ext cx="3889165" cy="360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4011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6818811" y="-59611"/>
            <a:ext cx="265898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8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JSON</a:t>
            </a:r>
            <a:endParaRPr lang="he-IL" sz="40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sp>
        <p:nvSpPr>
          <p:cNvPr id="9" name="מלבן 8"/>
          <p:cNvSpPr/>
          <p:nvPr/>
        </p:nvSpPr>
        <p:spPr>
          <a:xfrm>
            <a:off x="0" y="286709"/>
            <a:ext cx="7301753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כאן 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  <a:hlinkClick r:id="rId2"/>
              </a:rPr>
              <a:t>דוגמה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לקובץ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JSON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עם מידע על נמלי התעופה:</a:t>
            </a:r>
          </a:p>
        </p:txBody>
      </p:sp>
      <p:pic>
        <p:nvPicPr>
          <p:cNvPr id="3" name="תמונה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177" y="1482571"/>
            <a:ext cx="4158687" cy="5198359"/>
          </a:xfrm>
          <a:prstGeom prst="rect">
            <a:avLst/>
          </a:prstGeom>
        </p:spPr>
      </p:pic>
      <p:sp>
        <p:nvSpPr>
          <p:cNvPr id="10" name="הסבר מלבני מעוגל 9"/>
          <p:cNvSpPr/>
          <p:nvPr/>
        </p:nvSpPr>
        <p:spPr>
          <a:xfrm>
            <a:off x="263178" y="2759739"/>
            <a:ext cx="4174351" cy="1045779"/>
          </a:xfrm>
          <a:prstGeom prst="wedgeRoundRectCallout">
            <a:avLst>
              <a:gd name="adj1" fmla="val 103669"/>
              <a:gd name="adj2" fmla="val 7765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3200" dirty="0"/>
              <a:t>קובץ בנוי במערך עצמים</a:t>
            </a:r>
          </a:p>
        </p:txBody>
      </p:sp>
    </p:spTree>
    <p:extLst>
      <p:ext uri="{BB962C8B-B14F-4D97-AF65-F5344CB8AC3E}">
        <p14:creationId xmlns:p14="http://schemas.microsoft.com/office/powerpoint/2010/main" val="9878593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28639"/>
            <a:ext cx="4724067" cy="5015042"/>
          </a:xfrm>
          <a:prstGeom prst="rect">
            <a:avLst/>
          </a:prstGeom>
        </p:spPr>
      </p:pic>
      <p:sp>
        <p:nvSpPr>
          <p:cNvPr id="5" name="מלבן 4"/>
          <p:cNvSpPr/>
          <p:nvPr/>
        </p:nvSpPr>
        <p:spPr>
          <a:xfrm>
            <a:off x="6818811" y="-59611"/>
            <a:ext cx="265898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8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JSON</a:t>
            </a:r>
            <a:endParaRPr lang="he-IL" sz="40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sp>
        <p:nvSpPr>
          <p:cNvPr id="9" name="מלבן 8"/>
          <p:cNvSpPr/>
          <p:nvPr/>
        </p:nvSpPr>
        <p:spPr>
          <a:xfrm>
            <a:off x="-489168" y="355887"/>
            <a:ext cx="6694026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כאן 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  <a:hlinkClick r:id="rId3"/>
              </a:rPr>
              <a:t>דוגמה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לקובץ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JSON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עם מידע על ערים</a:t>
            </a:r>
          </a:p>
        </p:txBody>
      </p:sp>
      <p:sp>
        <p:nvSpPr>
          <p:cNvPr id="10" name="הסבר מלבני מעוגל 9"/>
          <p:cNvSpPr/>
          <p:nvPr/>
        </p:nvSpPr>
        <p:spPr>
          <a:xfrm>
            <a:off x="263178" y="2759739"/>
            <a:ext cx="4174351" cy="1045779"/>
          </a:xfrm>
          <a:prstGeom prst="wedgeRoundRectCallout">
            <a:avLst>
              <a:gd name="adj1" fmla="val 103669"/>
              <a:gd name="adj2" fmla="val 7765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3200" dirty="0"/>
              <a:t>קובץ בנוי במערך עצמים</a:t>
            </a:r>
          </a:p>
        </p:txBody>
      </p:sp>
    </p:spTree>
    <p:extLst>
      <p:ext uri="{BB962C8B-B14F-4D97-AF65-F5344CB8AC3E}">
        <p14:creationId xmlns:p14="http://schemas.microsoft.com/office/powerpoint/2010/main" val="373847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6818811" y="-59611"/>
            <a:ext cx="265898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8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JSON</a:t>
            </a:r>
            <a:endParaRPr lang="he-IL" sz="40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sp>
        <p:nvSpPr>
          <p:cNvPr id="9" name="מלבן 8"/>
          <p:cNvSpPr/>
          <p:nvPr/>
        </p:nvSpPr>
        <p:spPr>
          <a:xfrm>
            <a:off x="1384663" y="2132435"/>
            <a:ext cx="8781161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כאן, באתר של מפתחי מערכת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Android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, ניתן לראות 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  <a:hlinkClick r:id="rId2"/>
              </a:rPr>
              <a:t>תיאור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פעולות על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JSON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6652507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3857</TotalTime>
  <Words>559</Words>
  <Application>Microsoft Office PowerPoint</Application>
  <PresentationFormat>Widescreen</PresentationFormat>
  <Paragraphs>131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Assistant</vt:lpstr>
      <vt:lpstr>Consolas</vt:lpstr>
      <vt:lpstr>Gisha</vt:lpstr>
      <vt:lpstr>Shmulik CLM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387</cp:revision>
  <dcterms:created xsi:type="dcterms:W3CDTF">2019-01-05T16:01:25Z</dcterms:created>
  <dcterms:modified xsi:type="dcterms:W3CDTF">2023-02-23T09:22:51Z</dcterms:modified>
</cp:coreProperties>
</file>